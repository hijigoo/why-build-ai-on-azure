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안녕하세요. 오늘은 'Why Build AI on Azure' — 왜 엔터프라이즈 AI를 Azure 위에서 만들어야 하는가를 말씀드리겠습니다. 저는 여러분의 기술 파트너로서, 마케팅 메시지가 아니라 '무엇이 실제로 다른가'를 근거 중심으로 보여드리는 데 초점을 두겠습니다. 오늘 40분 남짓, 데이터·온톨로지·에이전트·거버넌스가 어떻게 하나의 스택으로 이어지는지, 그리고 그것이 왜 신뢰할 수 있는 선택인지 함께 보시죠.
다음 장에서 오늘의 전체 흐름을 먼저 안내드리겠습니다.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오늘은 네 개의 파트로 이야기합니다. 파트 1은 '왜 지금, 왜 Azure인가' — 에이전트 시대로의 전환과 신뢰의 근거입니다. 파트 2는 그 전환을 실제 성과로 잇는 AX 전략, 파트 3은 그 근거가 되는 Enterprise AI Platform을 서비스와 아키텍처로 구체적으로 보여드립니다. 마지막 파트 4는 '그래서 무엇부터 하면 되는가' — 역할별 시나리오와 도입 로드맵입니다. 중간에 편하게 질문 주셔도 됩니다.
그럼 파트 1부터 시작하겠습니다.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20초]
먼저 파트 1, '왜 지금, 왜 Azure인가'입니다. AI가 어떤 단계까지 왔는지, 그리고 그 변화를 안전하게 담아낼 기반이 왜 중요한지부터 짚겠습니다.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1.5분]
AI는 크게 세 세대를 거쳐 왔습니다. 1세대는 예측 AI — 수요·이탈·리스크를 데이터로 예측했습니다. 2세대는 생성 AI — 문서·코드·이미지 같은 콘텐츠를 만들어냈죠. 그리고 지금 우리가 서 있는 3세대가 에이전트 AI입니다. 답을 주는 걸 넘어, 스스로 계획하고 실제 업무를 대신 실행합니다.
여기서 중요한 변화가 있습니다. AI가 '대신 실행'하는 순간, 데이터에 접근하고 시스템을 호출하고 결정을 내립니다. 그래서 데이터·모델·거버넌스가 한 스택에서 이어져 있느냐가 안전한 운영의 전제가 됩니다. 즉 '무엇을 쓰느냐'만큼 '어디서 구축·운영하느냐'가 핵심 질문이 되는 겁니다. 이 관점을 오늘 계속 가지고 가겠습니다.
그럼 에이전트가 구체적으로 무엇을 바꾸는지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왼쪽 표를 보시면 변화가 분명합니다. 사람이 직접 처리하던 업무를 에이전트가 대신 실행하고, 사람이 도구를 조작하던 걸 에이전트가 API로 직접 호출합니다. 확장은 인력 증원이 아니라 에이전트 확장으로, 업무시간에 묶여 있던 처리 속도가 24시간 상시 실행으로 바뀝니다.
그런데 'AI가 좋은 건 알겠는데 왜 하필 지금이냐'고 물으실 수 있습니다. 오른쪽 네 가지 압력 때문입니다. 첫째 프론티어 모델이 복잡한 업무를 맡길 수준으로 성숙했고, 둘째 경쟁사의 도입 격차가 곧 시장 격차로 벌어지고 있습니다. 셋째 데이터 준비를 미룰수록 부채처럼 비용이 쌓이고, 넷째 이미 현장에는 통제 밖의 Shadow AI 사용이 시작됐습니다.
그리고 핵심은 — 이미 M365·GitHub·Fabric을 쓰고 계시다면, '지금' 시작하기 가장 가까운 곳이 바로 그 위에 얹히는 Azure라는 점입니다.
그럼 실제 도입을 막는 벽들을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1.5분]
현장에서 AI 도입을 막는 벽은 대개 다섯 가지입니다. 첫째 데이터의 벽 — 데이터가 흩어져 사일로에 갇혀 AI가 쓸 준비가 안 돼 있습니다. 둘째 신뢰의 벽 — 환각·보안·규제 때문에 '믿고 맡길 수 있나'가 걸립니다. 셋째 통합의 벽 — 기존 시스템·업무와 어떻게 연결하느냐죠. 넷째 인재·역량의 벽 — 만들 사람도, 운영할 체계도 부족합니다. 다섯째 확장의 벽 — PoC까지는 성공해도 전사 확장이 안 됩니다.
오늘 제가 드리고 싶은 질문은 이겁니다. 이 다섯 개의 벽을 '따로따로'가 아니라 '하나의 스택에서' 넘을 수 있는가. 다음 장부터 Azure가 각 벽에 어떻게 답하는지 하나씩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Azure를 신뢰할 수 있는 근거를 네 가지로 정리했습니다. 첫째 AI 리더십 — 프론티어 모델인 OpenAI부터 오픈 모델까지, Microsoft Foundry 모델 카탈로그에서 안전하게 골라 운영합니다. 둘째 Responsible AI — 안전·책임이 나중에 붙는 게 아니라 설계부터 내장돼 있고, Content Safety·Entra·Purview·Defender로 뒷받침됩니다. 셋째 End-to-End 완결 스택 — 데이터부터 에이전트, 운영까지 하나의 스택에서 이어집니다. 넷째 개발자 생태계 — 이미 많은 조직이 쓰는 GitHub 위에서 앱과 에이전트를 바로 구축·운영합니다.
그리고 이 네 가지가 특히 강해지는 지점이 있습니다. 이미 M365·Entra·GitHub·Fabric을 쓰고 계신 조직에겐, 이것들이 '새로 만드는 것'이 아니라 '쓰던 것' 위에 안전하게 얹힌다는 점입니다.
다만 이런 얘기는 다소 추상적으로 들릴 수 있죠. 그래서 다음 장에서 '구체적으로 무엇이 다른가'를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'신뢰할 수 있다'를 구체적인 네 가지로 풀면 이렇습니다. 첫째, 데이터는 여러분의 것입니다. 고객의 입력·출력을 파운데이션 모델 학습에 사용하지 않는 것을 원칙으로 하고, 한국 리전을 우선 설계하며 테넌트 격리를 적용합니다. 다만 데이터 상주·약관은 서비스·모델별로 확인이 필요하다는 점은 정확히 말씀드립니다. 둘째, 모델 선택의 자유 — Foundry 모델 카탈로그에서 프론티어·오픈소스·산업별 모델을 운영 가능한 방식으로 바꿔 씁니다. 셋째, 이미 가진 스택 위에서 — M365·GitHub·Fabric은 연동 가치로 얹히고, 이 기준을 실제로 책임지는 엔진은 Azure입니다. 원본을 옮기지 않고 '연결'부터 시작합니다. 넷째, AI를 감싸는 보안·거버넌스 — Entra·Purview·Defender, 그리고 에이전트 통제를 위한 Agent 365가 전 계층을 관통합니다. Agent 365는 2026년 5월 GA 예정입니다.
결국 핵심은 '어디서 구축·운영하느냐'입니다. 이제 신뢰의 토대인 Responsible AI를 조금 더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1.5분]
Microsoft의 Responsible AI는 슬로건이 아니라 다섯 개의 설계 원칙으로 제품에 구현돼 있습니다. 공정성은 모델 평가·편향 탐지 도구로, 신뢰성·안전은 Content Safety와 평가 파이프라인으로 확인합니다. 개인정보·보안은 앞서 말씀드린 데이터 학습 미사용과 리전 격리로 지키고, 투명성은 추적·관측으로, 책임성은 Entra·Purview·Defender 연동으로 거버넌스와 통제를 겁니다.
다시 한 번 정확히 말씀드리면, 고객 데이터로 파운데이션 모델을 학습하지 않으며, 서비스·모델·리전별 조건을 확인한 전제에서 테넌트·리전 격리 원칙을 적용합니다.
이 원칙들이 실제 의사결정 기준으로 어떻게 이어지는지, 다음 장의 여섯 가지 판단 기준에서 정리하겠습니다.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AI 플랫폼을 고르실 때 이 여섯 가지를 체크리스트로 쓰시길 권합니다. 첫째 데이터 주권 — 데이터가 어디에 머무는가. Azure는 리전·테넌트 격리와 학습 미사용으로 답합니다. 둘째 보안 경계 — 조직 보안·ID 안에서 도는가. Entra·Purview·Defender죠. 셋째 모델 선택·운영 — 최신 모델을 바꿔 쓸 수 있나. Foundry 모델 카탈로그입니다. 넷째 거버넌스 — 누가 무엇을 쓰는지 통제되나. Agent 365와 Purview 감사입니다. 다섯째 통합 가치 — 이미 쓰는 시스템과 연결되나. M365·GitHub·Fabric 연동이고요. 여섯째 비용 예측성 — 확장할 때 비용이 통제되나. 관리형 서비스로 작게 시작해 확장합니다.
어느 플랫폼을 검토하시든 이 여섯 기준으로 비교해 보시면 판단이 훨씬 명확해집니다. 다음은 이 모든 것을 관통하는 Azure의 관점을 짧게 정리하겠습니다.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1.5분]
저희가 고객과 일하는 관점은 세 가지 원칙으로 요약됩니다. 첫째 성과 우선 — 목표는 벤더 교체가 아니라 비즈니스 성과입니다. 둘째 기존 투자 보호 — 원본은 그대로 두고 AI가 쓰도록 '연결'합니다. 셋째 작게 시작해 확장 — 한 업무에서 검증한 뒤 패턴을 넓힙니다.
오른쪽은 초기 미팅에서 자주 받는 네 가지 질문에 대한 짧은 답입니다. 기존 투자는 옮기지 않고 연결부터, 보안·규제는 리전·테넌트 격리와 학습 미사용, 비용은 작게 시작해 성과로 확장, 어디부터는 ROI 높은 한 업무부터입니다.
여기까지가 '왜 Azure인가'였습니다. 이제 파트 2에서, 이 신뢰를 어떻게 실제 성과로 잇는지 — AX 전략을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20초]
파트 2, AX 전략과 비즈니스 가치입니다. 기술 자체가 아니라 '일하는 방식'을 어떻게 바꾸느냐의 이야기입니다.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AI Transformation, AX는 세 개의 축으로 움직입니다. 첫째 업무를 재설계하는 것 — 기존 프로세스에 AI를 얹는 데서 그치지 않고, 에이전트를 중심으로 업무 자체를 다시 설계합니다. 둘째 직원을 강화하는 것 — 모든 직원이 Copilot으로 단순 작업에서 벗어나 더 높은 가치의 일에 집중합니다. 셋째 에이전트를 확장하는 것 — 검증된 에이전트를 전사로 넓히고 안전하게 운영합니다.
중요한 건 이 세 축이 순서가 아니라는 점입니다. 동시에 맞물려 돌아가면서 업무·사람·에이전트가 함께 진화합니다.
그런데 '에이전트를 운영한다'는 게 막연하게 느껴질 수 있는데요, 저는 이걸 아주 직관적인 비유로 설명드리길 좋아합니다. 다음 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1.8분]
에이전트를 '새로 합류한 디지털 직원'이라고 생각해 보십시오. 그러면 필요한 것이 분명해집니다. 직원에게 업무 지식이 필요하듯 에이전트에겐 데이터·온톨로지 이해가 필요하고, 이건 Fabric·OneLake와 세 개의 IQ가 제공합니다. 일할 도구는 Foundry Tools와 커넥터로, 판단·실행을 위한 모델은 Foundry 모델 카탈로그로 얻습니다. 소속과 권한은 Entra Agent ID로 부여하고, 성과·안전 관리는 Purview·Defender와 평가로 합니다. 채용·교육·근무·인사관리가 그대로 대응되는 거죠.
다만 반드시 강조드릴 점은 — 최종 책임과 권한은 사람에게 있고, 에이전트는 그 통제·감사 체계 안에서 움직인다는 것입니다. 그리고 그 모든 걸 Azure가 한 기반에서 제공합니다.
그럼 이 이야기의 '근거'가 되는 실제 플랫폼을, 파트 3에서 구체적으로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20초]
파트 3입니다. 지금까지 말씀드린 신뢰와 전략이 '실제로 이런 서비스와 아키텍처로 구현된다'는 근거를 보여드리는 파트입니다. 조금 기술적이지만 핵심만 짚겠습니다.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1.5분]
Enterprise AI Platform을 완성하는 핵심 서비스는 여섯 개입니다. 데이터 기반의 Microsoft Fabric·OneLake, 의미를 이해하는 지능 레이어인 세 개의 IQ와 Azure AI Search, 에이전트를 만들고 운영하는 Microsoft Foundry, 현업이 코드 없이 에이전트를 만드는 Copilot Studio, 일하는 현장에 통합되는 Microsoft 365·Agent 365, 그리고 개발 생태계인 GitHub Copilot입니다.
여기서 정확히 말씀드릴 점 하나 — 세 개의 IQ, 즉 Fabric IQ·Work IQ·Foundry IQ는 아직 Preview 단계입니다. 발표 시점 기준 GA 여부와 한국 리전 지원은 꼭 재확인하시길 권합니다. 나머지는 대부분 GA입니다.
이제 각 서비스를 데이터부터 순서대로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1.5분]
모든 것의 시작은 데이터입니다. Microsoft Fabric의 OneLake는 흩어진 데이터를 하나의 '논리적' 레이크로 통합합니다. 핵심은 복사·이동이 아니라 있는 자리에서 연결하는 Shortcut 방식이라는 점입니다. 원본은 그대로 두고 논리적으로 하나로 묶으니 기존 투자가 보호됩니다. 100개가 넘는 커넥터로 다양한 소스를 자동 수집·정제하고, Delta·Parquet 같은 개방형 포맷을 써서 특정 벤더에 잠기지 않습니다.
한마디로 '데이터를 옮기지 않고도 AI가 쓸 수 있게' 만드는 게 이 계층의 역할이고, 이게 시작점입니다. 이제 이 데이터에 '의미'를 입히는 지능 레이어를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데이터가 모였다고 AI가 바로 잘 쓰는 건 아닙니다. 데이터가 '무엇을 뜻하는지' 의미를 알아야 하죠. 그 역할을 세 개의 IQ가 나눠 맡습니다. Fabric IQ는 테이블·컬럼이 무엇을 뜻하는지 데이터의 의미를, Work IQ는 M365 속 업무·협업의 맥락을, Foundry IQ는 에이전트가 참조할 지식을 관리합니다. 이 셋이 합쳐지면 '데이터 + 업무 + 지식'을 모두 아는, 비즈니스를 이해하는 지능이 됩니다.
다시 한 번, 이 세 IQ는 Preview 단계라는 점 기억해 주십시오. 그리고 이 지능을 아래에서 떠받치는 게 Azure AI Search입니다. 이건 GA이고, 검색·검색증강(RAG) 엔진으로 에이전트가 정확한 근거를 찾도록 해서 환각을 줄입니다.
의미를 알게 됐으니, 이제 이걸 실제 에이전트로 만드는 '공장'을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1.5분]
Microsoft Foundry는 AI 앱과 에이전트를 만들고 운영하는 통합 플랫폼입니다. 중요한 건 '실험'이 아니라 '운영'을 전제로 설계됐다는 점입니다. 네 가지가 한 곳에 있습니다. 모델 카탈로그로 OpenAI 프론티어부터 오픈 모델까지 골라 쓰고, Agent Service로 에이전트를 만들고 배포하며, 평가와 Observability로 품질·안전을 지속 측정하고, Content Safety로 안전 가드레일을 내장합니다.
모델 선택부터 개발, 평가, 안전까지 한 곳에서 — 그래서 저는 이걸 에이전트를 '운영'하는 공장이라고 부릅니다. GA 서비스입니다.
이제 만든 에이전트를 어디서 만들고, 어디서 일하게 하고, 어떻게 개발 생산성을 높이는지 세 서비스를 묶어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1.8분]
세 서비스가 각각 '만들고, 일하고, 개발하는' 역할을 맡습니다. 넷째 Copilot Studio는 현업·IT를 위한 에이전트 빌더입니다. 코드 없이 업무 에이전트를 만들고 M365·Teams로 바로 게시하며 Foundry와 상호운용됩니다. 다섯째 Microsoft 365·Agent 365는 일하는 현장의 에이전트입니다. Teams·Outlook 같은 업무 흐름 안에서 에이전트를 쓰고, Agent 365로 전사의 에이전트를 관리·운영하며 Entra·Purview로 통제합니다. Agent 365는 2026년 5월 GA 예정입니다. 여섯째 GitHub Copilot은 에이전트를 만드는 개발 생산성입니다. 세계 최대 개발 생태계 위에서 코딩 에이전트로 개발을 가속하고 Foundry와 함께 앱·에이전트를 구축합니다.
여기까지가 개별 서비스였고, 이제 이 서비스들이 어떻게 하나의 아키텍처로 쌓이는지 전체 그림을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이 그림 한 장이 오늘 발표의 뼈대입니다. 아래에서 위로 읽으시면 됩니다. 맨 아래 Data 계층에서 100개 넘는 커넥터와 Shortcut으로 데이터 원천을 연결하고, OneLake에서 단일 데이터 레이크로 통합합니다. 그 위 Ontology·Intelligence 계층에서 세 개의 IQ와 AI Search가 의미를 부여하고, Agent Factory에서 Copilot Studio와 Foundry로 에이전트를 만듭니다. 그렇게 만든 에이전트가 Agents 계층에서 동작하고, 맨 위 Experience 계층에서 M365·Teams를 통해 사용자와 만납니다. 즉 데이터가 위로 올라가며 '지능 → 에이전트 → 경험'으로 실현되는 구조죠.
그리고 오른쪽을 보시면 Governance &amp; Security가 이 여섯 계층 전체를 세로로 관통합니다 — Entra·Purview·Defender·Monitor로요. 보안이 한 층이 아니라 전 계층에 걸쳐 있다는 게 핵심입니다.
같은 흐름을 '데이터의 여정'으로 한 번 더 정리해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1.2분]
방금 아키텍처를 데이터 입장에서 여섯 단계로 풀면 이렇습니다. 수집 — 흩어진 원천을 연결하고, 통합 — OneLake로 하나의 레이크를 만들고, 의미 부여 — 온톨로지와 세 IQ로 의미화하고, 에이전트화 — Foundry·Copilot Studio로 제작하고, 실행 — 업무 현장에서 자동화하고, 마지막으로 통제 — Governance로 상시 관측합니다.
데이터가 원천에서 성과까지 어떻게 흘러가는지를 한 줄로 보여드리는 장입니다. 다음은 각 계층을 '비즈니스 가치'와 '실현 서비스'로 나란히 정리한 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이 표는 각 계층을 두 가지 관점으로 봅니다 — 왼쪽은 '무엇을 위한 것인가'라는 비즈니스 가치, 오른쪽은 '무엇으로 실현하는가'라는 Azure 서비스입니다. 예를 들어 Experience는 일하는 곳에서 바로 쓰는 경험이고 M365·Teams로 실현되며, Agents는 업무를 대신 실행하는 디지털 직원이고 Foundry Agent Service로 구현됩니다. 가치부터 보고 서비스로 내려오는 순서로 읽으시면 됩니다.
이제 이 플랫폼 위에서 '개발' 자체가 어떻게 빨라지는지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1.3분]
에이전트를 만드는 개발 과정도 에이전트가 돕습니다. 계획 단계에서 이슈·요구사항을 정리하고, 개발 단계에서 Copilot이 코드 초안을 만들고, 리뷰 단계에서 자동 리뷰·보안 점검을 하고, 배포 단계에서 CI/CD로 안전하게 릴리스합니다. 중요한 건 아래 카드입니다 — GitHub Copilot에 Secret Protection과 Code Security가 함께 들어갑니다. 즉 개발 속도를 높이면서도 코드 보안·시크릿 보호를 파이프라인에 내장하는 거죠. 속도와 안전을 맞바꾸지 않는다는 점이 핵심입니다.
그리고 이 모든 걸 관통하는 거버넌스를 다음 장에서 정리하겠습니다.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1.5분]
거버넌스는 특정 계층이 아니라 전 계층을 가로지릅니다. Responsible AI를 '원칙'이 아니라 실제 '동작'으로 만드는 네 개의 축입니다. Entra Agent ID는 에이전트에게도 신원과 권한을 부여하고 통제합니다. Purview는 민감정보 분류와 데이터 정책, 감사를 담당하고, Defender는 AI 워크로드의 위협을 탐지·대응하며, Azure Monitor는 성능·품질·안전을 지속 관측합니다.
특히 강조드리고 싶은 건 — 이 네 가지는 모두 GA라는 점입니다. 미래의 약속이 아니라, 지금 바로 표준 거버넌스로 시작하실 수 있습니다.
다음 장에서 지금까지의 서비스를 성숙도까지 포함해 한 표로 총정리하겠습니다.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이 표는 계층별 핵심 서비스와 성숙도를 한눈에 정리한 참조용 슬라이드입니다. 보시다시피 경험·에이전트 제작·검색·데이터·개발·거버넌스 대부분이 GA이고, Agent 365는 2026년 5월 GA 예정입니다. 유일하게 Preview인 것이 세 개의 IQ입니다. 그래서 다시 한 번 — Fabric IQ·Work IQ·Foundry IQ는 발표 시점에 GA 여부와 한국 리전을 재확인하시길 권합니다. 나머지는 지금 GA로 시작 가능합니다.
여기까지가 '근거'였고, 이제 마지막 파트 4 — 그래서 무엇부터 하느냐로 넘어가겠습니다.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20초]
마지막 파트 4입니다. 지금까지의 이야기를 '누가 무엇을 얻고, 어디서부터 시작하는가'로 정리하겠습니다.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1.5분]
이 플랫폼이 역할별로 무엇을 주는지 보겠습니다. 경영진께는 KPI·리스크를 한눈에 보는 성과 가시성을, 현업 담당자께는 Copilot Studio로 직접 만드는 반복업무 자동화를 드립니다. 개발자는 GitHub Copilot·Foundry로 개발 생산성을 얻고, IT·보안 조직은 Entra·Purview로 '통제 가능한 확산'을 얻습니다.
여기서 중요한 균형이 있습니다 — 현업의 자율성과 IT의 통제가 충돌하지 않고, 한 플랫폼 안에서 양립한다는 점입니다.
그럼 실제 어떤 업무부터 시작할 수 있는지 시나리오로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1.3분]
바로 시작할 수 있는 대표 업무 여섯 개입니다. 보고서·리서치 자동 작성, 내부 지식 Q&amp;A 어시스턴트, 업무 프로세스 자동화, 전사 에이전트 관리·운영, 데이터 분석·인사이트, 그리고 개발 가속입니다. 표시된 것처럼 3번·5번은 Preview인 Work IQ·Fabric IQ가 관련되지만, 첫 번째 시나리오인 보고서·리서치 자동 작성은 이미 GA 서비스만으로 구현이 가능합니다. 그래서 저희는 보통 여기서 시작해 패턴을 확장하시길 권합니다.
그럼 그 시작을 어떻게 단계적으로 밟는지, 로드맵을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1.8분]
도입은 네 단계로, 작게 시작해 안전하게 확장합니다. 1단계 Envision, 0~2주 — ROI가 높은 한 업무를 정하고 데이터·보안 요건을 정리합니다. 2단계 Pilot, 2~6주 — GA 서비스만으로 대표 시나리오 하나를 실제로 구현·검증합니다. 3단계 Scale, 6주 이후 — 검증된 패턴을 인접 업무로 넓힙니다. 4단계 Govern은 상시로, Entra·Purview·Defender로 통제·관측을 정착시킵니다.
아래 Quick Win 박스가 실무적으로 중요합니다 — 워크숍에 딱 세 가지만 준비해 오시면 됩니다. 데이터 소스 2개, 보안 요구사항, 그리고 ROI 후보 업무 1개. 이것만 있으면 바로 파일럿 설계를 시작할 수 있습니다.
이제 오늘 내용을 일곱 가지로 압축하겠습니다.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1.3분]
오늘 말씀드린 걸 일곱 가지로 요약하겠습니다. 하나, AI는 대화를 넘어 '실행하는' 에이전트 시대로 전환했습니다. 둘, 도입을 막는 다섯 개의 벽은 따로가 아니라 하나의 완결 스택으로 넘습니다. 셋, 왜 Azure인가는 데이터 주권·보안 경계·모델 운영·거버넌스·비용을 한 기반에서 통제하기 때문입니다. 넷, 여섯 개 서비스가 데이터에서 에이전트, 경험까지 완성합니다. 다섯, 거버넌스는 전 계층을 관통하는 GA 기반입니다. 여섯, GA 서비스만으로 대표 시나리오를 지금 시작할 수 있습니다. 일곱, 작게 시작해 검증된 패턴을 안전하게 확장합니다.
한 문장으로 — Azure는 신뢰할 수 있는 Enterprise AI Platform입니다. 마지막으로, 그래서 다음 단계를 제안드리겠습니다.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1.5분]
오늘의 결론을 한 문장으로 남기면 — Azure는 데이터·에이전트·거버넌스를 하나의 스택으로 잇는, 신뢰할 수 있는 Enterprise AI Platform입니다. 그리고 발표로 끝내지 않고, 구체적인 다음 단계를 제안드립니다. 90분짜리 워크숍입니다. 발표가 아니라 함께 답을 찾는 기술 워킹 세션이고요, 세 가지를 함께 정합니다 — 첫째 후보 업무 한 개, 둘째 데이터·보안 요건, 셋째 파일럿 스코프와 KPI입니다. 참석은 업무 오너·데이터 담당·보안/컴플라이언스·IT 네 분이면 충분하고, 산출물은 파일럿 설계서 한 장입니다.
오늘 나눈 이야기를 여러분의 실제 업무 위에 올려 보는 자리로 이어가면 좋겠습니다.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547"/>
          </a:solidFill>
          <a:ln/>
        </p:spPr>
      </p:sp>
      <p:sp>
        <p:nvSpPr>
          <p:cNvPr id="3" name="Shape 1"/>
          <p:cNvSpPr/>
          <p:nvPr/>
        </p:nvSpPr>
        <p:spPr>
          <a:xfrm>
            <a:off x="777240" y="5074920"/>
            <a:ext cx="3840480" cy="41148"/>
          </a:xfrm>
          <a:prstGeom prst="rect">
            <a:avLst/>
          </a:prstGeom>
          <a:solidFill>
            <a:srgbClr val="4F8FB6"/>
          </a:solidFill>
          <a:ln/>
        </p:spPr>
      </p:sp>
      <p:sp>
        <p:nvSpPr>
          <p:cNvPr id="4" name="Shape 2"/>
          <p:cNvSpPr/>
          <p:nvPr/>
        </p:nvSpPr>
        <p:spPr>
          <a:xfrm>
            <a:off x="777240" y="685800"/>
            <a:ext cx="914400" cy="914400"/>
          </a:xfrm>
          <a:prstGeom prst="ellipse">
            <a:avLst/>
          </a:prstGeom>
          <a:solidFill>
            <a:srgbClr val="2F5B93"/>
          </a:solidFill>
          <a:ln/>
        </p:spPr>
      </p:sp>
      <p:pic>
        <p:nvPicPr>
          <p:cNvPr id="5" name="Image 0" descr="preencoded.png">    </p:cNvPr>
          <p:cNvPicPr>
            <a:picLocks noChangeAspect="1"/>
          </p:cNvPicPr>
          <p:nvPr/>
        </p:nvPicPr>
        <p:blipFill>
          <a:blip r:embed="rId1"/>
          <a:stretch>
            <a:fillRect/>
          </a:stretch>
        </p:blipFill>
        <p:spPr>
          <a:xfrm>
            <a:off x="1014984" y="923544"/>
            <a:ext cx="438912" cy="438912"/>
          </a:xfrm>
          <a:prstGeom prst="rect">
            <a:avLst/>
          </a:prstGeom>
        </p:spPr>
      </p:pic>
      <p:sp>
        <p:nvSpPr>
          <p:cNvPr id="6" name="Text 3"/>
          <p:cNvSpPr/>
          <p:nvPr/>
        </p:nvSpPr>
        <p:spPr>
          <a:xfrm>
            <a:off x="1783080" y="896112"/>
            <a:ext cx="8229600" cy="457200"/>
          </a:xfrm>
          <a:prstGeom prst="rect">
            <a:avLst/>
          </a:prstGeom>
          <a:noFill/>
          <a:ln/>
        </p:spPr>
        <p:txBody>
          <a:bodyPr wrap="square" rtlCol="0" anchor="ctr"/>
          <a:lstStyle/>
          <a:p>
            <a:pPr indent="0" marL="0">
              <a:buNone/>
            </a:pPr>
            <a:r>
              <a:rPr lang="en-US" sz="1300" b="1" spc="200" kern="0" dirty="0">
                <a:solidFill>
                  <a:srgbClr val="C7D8EC"/>
                </a:solidFill>
                <a:latin typeface="Apple SD Gothic Neo" pitchFamily="34" charset="0"/>
                <a:ea typeface="Apple SD Gothic Neo" pitchFamily="34" charset="-122"/>
                <a:cs typeface="Apple SD Gothic Neo" pitchFamily="34" charset="-120"/>
              </a:rPr>
              <a:t>MICROSOFT AZURE · ENTERPRISE AI</a:t>
            </a:r>
            <a:endParaRPr lang="en-US" sz="1300" dirty="0"/>
          </a:p>
        </p:txBody>
      </p:sp>
      <p:sp>
        <p:nvSpPr>
          <p:cNvPr id="7" name="Text 4"/>
          <p:cNvSpPr/>
          <p:nvPr/>
        </p:nvSpPr>
        <p:spPr>
          <a:xfrm>
            <a:off x="731520" y="2286000"/>
            <a:ext cx="10789920" cy="1371600"/>
          </a:xfrm>
          <a:prstGeom prst="rect">
            <a:avLst/>
          </a:prstGeom>
          <a:noFill/>
          <a:ln/>
        </p:spPr>
        <p:txBody>
          <a:bodyPr wrap="square" rtlCol="0" anchor="ctr"/>
          <a:lstStyle/>
          <a:p>
            <a:pPr indent="0" marL="0">
              <a:buNone/>
            </a:pPr>
            <a:r>
              <a:rPr lang="en-US" sz="5400" b="1" dirty="0">
                <a:solidFill>
                  <a:srgbClr val="FFFFFF"/>
                </a:solidFill>
                <a:latin typeface="Apple SD Gothic Neo" pitchFamily="34" charset="0"/>
                <a:ea typeface="Apple SD Gothic Neo" pitchFamily="34" charset="-122"/>
                <a:cs typeface="Apple SD Gothic Neo" pitchFamily="34" charset="-120"/>
              </a:rPr>
              <a:t>Why Build AI on Azure?</a:t>
            </a:r>
            <a:endParaRPr lang="en-US" sz="5400" dirty="0"/>
          </a:p>
        </p:txBody>
      </p:sp>
      <p:sp>
        <p:nvSpPr>
          <p:cNvPr id="8" name="Text 5"/>
          <p:cNvSpPr/>
          <p:nvPr/>
        </p:nvSpPr>
        <p:spPr>
          <a:xfrm>
            <a:off x="777240" y="3611880"/>
            <a:ext cx="10607040" cy="548640"/>
          </a:xfrm>
          <a:prstGeom prst="rect">
            <a:avLst/>
          </a:prstGeom>
          <a:noFill/>
          <a:ln/>
        </p:spPr>
        <p:txBody>
          <a:bodyPr wrap="square" rtlCol="0" anchor="ctr"/>
          <a:lstStyle/>
          <a:p>
            <a:pPr indent="0" marL="0">
              <a:buNone/>
            </a:pPr>
            <a:r>
              <a:rPr lang="en-US" sz="2000" dirty="0">
                <a:solidFill>
                  <a:srgbClr val="DBE7F6"/>
                </a:solidFill>
                <a:latin typeface="Apple SD Gothic Neo" pitchFamily="34" charset="0"/>
                <a:ea typeface="Apple SD Gothic Neo" pitchFamily="34" charset="-122"/>
                <a:cs typeface="Apple SD Gothic Neo" pitchFamily="34" charset="-120"/>
              </a:rPr>
              <a:t>Azure 위에서 만드는 신뢰할 수 있는 Enterprise AI Platform</a:t>
            </a:r>
            <a:endParaRPr lang="en-US" sz="2000" dirty="0"/>
          </a:p>
        </p:txBody>
      </p:sp>
      <p:sp>
        <p:nvSpPr>
          <p:cNvPr id="9" name="Text 6"/>
          <p:cNvSpPr/>
          <p:nvPr/>
        </p:nvSpPr>
        <p:spPr>
          <a:xfrm>
            <a:off x="777240" y="4160520"/>
            <a:ext cx="10607040" cy="457200"/>
          </a:xfrm>
          <a:prstGeom prst="rect">
            <a:avLst/>
          </a:prstGeom>
          <a:noFill/>
          <a:ln/>
        </p:spPr>
        <p:txBody>
          <a:bodyPr wrap="square" rtlCol="0" anchor="ctr"/>
          <a:lstStyle/>
          <a:p>
            <a:pPr indent="0" marL="0">
              <a:buNone/>
            </a:pPr>
            <a:r>
              <a:rPr lang="en-US" sz="1500" dirty="0">
                <a:solidFill>
                  <a:srgbClr val="C7D8EC"/>
                </a:solidFill>
                <a:latin typeface="Apple SD Gothic Neo" pitchFamily="34" charset="0"/>
                <a:ea typeface="Apple SD Gothic Neo" pitchFamily="34" charset="-122"/>
                <a:cs typeface="Apple SD Gothic Neo" pitchFamily="34" charset="-120"/>
              </a:rPr>
              <a:t>데이터 · 온톨로지 · 에이전트 · 거버넌스를 하나의 스택으로</a:t>
            </a:r>
            <a:endParaRPr lang="en-US" sz="1500" dirty="0"/>
          </a:p>
        </p:txBody>
      </p:sp>
      <p:sp>
        <p:nvSpPr>
          <p:cNvPr id="10" name="Text 7"/>
          <p:cNvSpPr/>
          <p:nvPr/>
        </p:nvSpPr>
        <p:spPr>
          <a:xfrm>
            <a:off x="777240" y="5349240"/>
            <a:ext cx="10607040" cy="457200"/>
          </a:xfrm>
          <a:prstGeom prst="rect">
            <a:avLst/>
          </a:prstGeom>
          <a:noFill/>
          <a:ln/>
        </p:spPr>
        <p:txBody>
          <a:bodyPr wrap="square" rtlCol="0" anchor="ctr"/>
          <a:lstStyle/>
          <a:p>
            <a:pPr indent="0" marL="0">
              <a:buNone/>
            </a:pPr>
            <a:r>
              <a:rPr lang="en-US" sz="1300" dirty="0">
                <a:solidFill>
                  <a:srgbClr val="DBE7F6"/>
                </a:solidFill>
                <a:latin typeface="Apple SD Gothic Neo" pitchFamily="34" charset="0"/>
                <a:ea typeface="Apple SD Gothic Neo" pitchFamily="34" charset="-122"/>
                <a:cs typeface="Apple SD Gothic Neo" pitchFamily="34" charset="-120"/>
              </a:rPr>
              <a:t>약 40분 발표 · 6개 완결 서비스 · 6계층 아키텍처</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AGENDA · 오늘의 흐름</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네 개의 파트로 나눠 이야기합니다</a:t>
            </a:r>
            <a:endParaRPr lang="en-US" sz="3000" dirty="0"/>
          </a:p>
        </p:txBody>
      </p:sp>
      <p:sp>
        <p:nvSpPr>
          <p:cNvPr id="8" name="Shape 6"/>
          <p:cNvSpPr/>
          <p:nvPr/>
        </p:nvSpPr>
        <p:spPr>
          <a:xfrm>
            <a:off x="548640" y="1783080"/>
            <a:ext cx="11109960" cy="1024128"/>
          </a:xfrm>
          <a:prstGeom prst="roundRect">
            <a:avLst>
              <a:gd name="adj" fmla="val 8036"/>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9" name="Shape 7"/>
          <p:cNvSpPr/>
          <p:nvPr/>
        </p:nvSpPr>
        <p:spPr>
          <a:xfrm>
            <a:off x="777240" y="2066544"/>
            <a:ext cx="457200" cy="457200"/>
          </a:xfrm>
          <a:prstGeom prst="roundRect">
            <a:avLst>
              <a:gd name="adj" fmla="val 20000"/>
            </a:avLst>
          </a:prstGeom>
          <a:solidFill>
            <a:srgbClr val="1A3D6D"/>
          </a:solidFill>
          <a:ln/>
        </p:spPr>
      </p:sp>
      <p:sp>
        <p:nvSpPr>
          <p:cNvPr id="10" name="Text 8"/>
          <p:cNvSpPr/>
          <p:nvPr/>
        </p:nvSpPr>
        <p:spPr>
          <a:xfrm>
            <a:off x="777240" y="2066544"/>
            <a:ext cx="457200" cy="457200"/>
          </a:xfrm>
          <a:prstGeom prst="rect">
            <a:avLst/>
          </a:prstGeom>
          <a:noFill/>
          <a:ln/>
        </p:spPr>
        <p:txBody>
          <a:bodyPr wrap="square"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1</a:t>
            </a:r>
            <a:endParaRPr lang="en-US" sz="1800" dirty="0"/>
          </a:p>
        </p:txBody>
      </p:sp>
      <p:sp>
        <p:nvSpPr>
          <p:cNvPr id="11" name="Shape 9"/>
          <p:cNvSpPr/>
          <p:nvPr/>
        </p:nvSpPr>
        <p:spPr>
          <a:xfrm>
            <a:off x="10927080" y="2075688"/>
            <a:ext cx="438912" cy="438912"/>
          </a:xfrm>
          <a:prstGeom prst="ellipse">
            <a:avLst/>
          </a:prstGeom>
          <a:solidFill>
            <a:srgbClr val="1A3D6D"/>
          </a:solidFill>
          <a:ln/>
        </p:spPr>
      </p:sp>
      <p:pic>
        <p:nvPicPr>
          <p:cNvPr id="12" name="Image 0" descr="preencoded.png">    </p:cNvPr>
          <p:cNvPicPr>
            <a:picLocks noChangeAspect="1"/>
          </p:cNvPicPr>
          <p:nvPr/>
        </p:nvPicPr>
        <p:blipFill>
          <a:blip r:embed="rId1"/>
          <a:stretch>
            <a:fillRect/>
          </a:stretch>
        </p:blipFill>
        <p:spPr>
          <a:xfrm>
            <a:off x="11041197" y="2189805"/>
            <a:ext cx="210678" cy="210678"/>
          </a:xfrm>
          <a:prstGeom prst="rect">
            <a:avLst/>
          </a:prstGeom>
        </p:spPr>
      </p:pic>
      <p:sp>
        <p:nvSpPr>
          <p:cNvPr id="13" name="Text 10"/>
          <p:cNvSpPr/>
          <p:nvPr/>
        </p:nvSpPr>
        <p:spPr>
          <a:xfrm>
            <a:off x="1417320" y="1929384"/>
            <a:ext cx="7772400" cy="384048"/>
          </a:xfrm>
          <a:prstGeom prst="rect">
            <a:avLst/>
          </a:prstGeom>
          <a:noFill/>
          <a:ln/>
        </p:spPr>
        <p:txBody>
          <a:bodyPr wrap="square" rtlCol="0" anchor="ctr"/>
          <a:lstStyle/>
          <a:p>
            <a:pPr indent="0" marL="0">
              <a:buNone/>
            </a:pPr>
            <a:r>
              <a:rPr lang="en-US" sz="1700" b="1" dirty="0">
                <a:solidFill>
                  <a:srgbClr val="0F2547"/>
                </a:solidFill>
                <a:latin typeface="Apple SD Gothic Neo" pitchFamily="34" charset="0"/>
                <a:ea typeface="Apple SD Gothic Neo" pitchFamily="34" charset="-122"/>
                <a:cs typeface="Apple SD Gothic Neo" pitchFamily="34" charset="-120"/>
              </a:rPr>
              <a:t>왜 지금, 왜 Azure인가</a:t>
            </a:r>
            <a:endParaRPr lang="en-US" sz="1700" dirty="0"/>
          </a:p>
        </p:txBody>
      </p:sp>
      <p:sp>
        <p:nvSpPr>
          <p:cNvPr id="14" name="Text 11"/>
          <p:cNvSpPr/>
          <p:nvPr/>
        </p:nvSpPr>
        <p:spPr>
          <a:xfrm>
            <a:off x="1435608" y="2313432"/>
            <a:ext cx="8412480" cy="402336"/>
          </a:xfrm>
          <a:prstGeom prst="rect">
            <a:avLst/>
          </a:prstGeom>
          <a:noFill/>
          <a:ln/>
        </p:spPr>
        <p:txBody>
          <a:bodyPr wrap="square" rtlCol="0" anchor="ctr"/>
          <a:lstStyle/>
          <a:p>
            <a:pPr indent="0" marL="0">
              <a:buNone/>
            </a:pPr>
            <a:r>
              <a:rPr lang="en-US" sz="1150" dirty="0">
                <a:solidFill>
                  <a:srgbClr val="5F708A"/>
                </a:solidFill>
                <a:latin typeface="Apple SD Gothic Neo" pitchFamily="34" charset="0"/>
                <a:ea typeface="Apple SD Gothic Neo" pitchFamily="34" charset="-122"/>
                <a:cs typeface="Apple SD Gothic Neo" pitchFamily="34" charset="-120"/>
              </a:rPr>
              <a:t>에이전트 시대의 전환 · 고객 과제 · 4대 신뢰 근거 · 6가지 판단 기준</a:t>
            </a:r>
            <a:endParaRPr lang="en-US" sz="1150" dirty="0"/>
          </a:p>
        </p:txBody>
      </p:sp>
      <p:sp>
        <p:nvSpPr>
          <p:cNvPr id="15" name="Text 12"/>
          <p:cNvSpPr/>
          <p:nvPr/>
        </p:nvSpPr>
        <p:spPr>
          <a:xfrm>
            <a:off x="9509760" y="1929384"/>
            <a:ext cx="1234440" cy="365760"/>
          </a:xfrm>
          <a:prstGeom prst="rect">
            <a:avLst/>
          </a:prstGeom>
          <a:noFill/>
          <a:ln/>
        </p:spPr>
        <p:txBody>
          <a:bodyPr wrap="square" rtlCol="0" anchor="ctr"/>
          <a:lstStyle/>
          <a:p>
            <a:pPr algn="r" indent="0" marL="0">
              <a:buNone/>
            </a:pPr>
            <a:r>
              <a:rPr lang="en-US" sz="1200" b="1" dirty="0">
                <a:solidFill>
                  <a:srgbClr val="2F5B93"/>
                </a:solidFill>
                <a:latin typeface="Apple SD Gothic Neo" pitchFamily="34" charset="0"/>
                <a:ea typeface="Apple SD Gothic Neo" pitchFamily="34" charset="-122"/>
                <a:cs typeface="Apple SD Gothic Neo" pitchFamily="34" charset="-120"/>
              </a:rPr>
              <a:t>~14분</a:t>
            </a:r>
            <a:endParaRPr lang="en-US" sz="1200" dirty="0"/>
          </a:p>
        </p:txBody>
      </p:sp>
      <p:sp>
        <p:nvSpPr>
          <p:cNvPr id="16" name="Shape 13"/>
          <p:cNvSpPr/>
          <p:nvPr/>
        </p:nvSpPr>
        <p:spPr>
          <a:xfrm>
            <a:off x="548640" y="2935224"/>
            <a:ext cx="11109960" cy="1024128"/>
          </a:xfrm>
          <a:prstGeom prst="roundRect">
            <a:avLst>
              <a:gd name="adj" fmla="val 8036"/>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7" name="Shape 14"/>
          <p:cNvSpPr/>
          <p:nvPr/>
        </p:nvSpPr>
        <p:spPr>
          <a:xfrm>
            <a:off x="777240" y="3218688"/>
            <a:ext cx="457200" cy="457200"/>
          </a:xfrm>
          <a:prstGeom prst="roundRect">
            <a:avLst>
              <a:gd name="adj" fmla="val 20000"/>
            </a:avLst>
          </a:prstGeom>
          <a:solidFill>
            <a:srgbClr val="1A3D6D"/>
          </a:solidFill>
          <a:ln/>
        </p:spPr>
      </p:sp>
      <p:sp>
        <p:nvSpPr>
          <p:cNvPr id="18" name="Text 15"/>
          <p:cNvSpPr/>
          <p:nvPr/>
        </p:nvSpPr>
        <p:spPr>
          <a:xfrm>
            <a:off x="777240" y="3218688"/>
            <a:ext cx="457200" cy="457200"/>
          </a:xfrm>
          <a:prstGeom prst="rect">
            <a:avLst/>
          </a:prstGeom>
          <a:noFill/>
          <a:ln/>
        </p:spPr>
        <p:txBody>
          <a:bodyPr wrap="square"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2</a:t>
            </a:r>
            <a:endParaRPr lang="en-US" sz="1800" dirty="0"/>
          </a:p>
        </p:txBody>
      </p:sp>
      <p:sp>
        <p:nvSpPr>
          <p:cNvPr id="19" name="Shape 16"/>
          <p:cNvSpPr/>
          <p:nvPr/>
        </p:nvSpPr>
        <p:spPr>
          <a:xfrm>
            <a:off x="10927080" y="3227832"/>
            <a:ext cx="438912" cy="438912"/>
          </a:xfrm>
          <a:prstGeom prst="ellipse">
            <a:avLst/>
          </a:prstGeom>
          <a:solidFill>
            <a:srgbClr val="1A3D6D"/>
          </a:solidFill>
          <a:ln/>
        </p:spPr>
      </p:sp>
      <p:pic>
        <p:nvPicPr>
          <p:cNvPr id="20" name="Image 1" descr="preencoded.png">    </p:cNvPr>
          <p:cNvPicPr>
            <a:picLocks noChangeAspect="1"/>
          </p:cNvPicPr>
          <p:nvPr/>
        </p:nvPicPr>
        <p:blipFill>
          <a:blip r:embed="rId2"/>
          <a:stretch>
            <a:fillRect/>
          </a:stretch>
        </p:blipFill>
        <p:spPr>
          <a:xfrm>
            <a:off x="11041197" y="3341949"/>
            <a:ext cx="210678" cy="210678"/>
          </a:xfrm>
          <a:prstGeom prst="rect">
            <a:avLst/>
          </a:prstGeom>
        </p:spPr>
      </p:pic>
      <p:sp>
        <p:nvSpPr>
          <p:cNvPr id="21" name="Text 17"/>
          <p:cNvSpPr/>
          <p:nvPr/>
        </p:nvSpPr>
        <p:spPr>
          <a:xfrm>
            <a:off x="1417320" y="3081528"/>
            <a:ext cx="7772400" cy="384048"/>
          </a:xfrm>
          <a:prstGeom prst="rect">
            <a:avLst/>
          </a:prstGeom>
          <a:noFill/>
          <a:ln/>
        </p:spPr>
        <p:txBody>
          <a:bodyPr wrap="square" rtlCol="0" anchor="ctr"/>
          <a:lstStyle/>
          <a:p>
            <a:pPr indent="0" marL="0">
              <a:buNone/>
            </a:pPr>
            <a:r>
              <a:rPr lang="en-US" sz="1700" b="1" dirty="0">
                <a:solidFill>
                  <a:srgbClr val="0F2547"/>
                </a:solidFill>
                <a:latin typeface="Apple SD Gothic Neo" pitchFamily="34" charset="0"/>
                <a:ea typeface="Apple SD Gothic Neo" pitchFamily="34" charset="-122"/>
                <a:cs typeface="Apple SD Gothic Neo" pitchFamily="34" charset="-120"/>
              </a:rPr>
              <a:t>AX 전략과 비즈니스 가치</a:t>
            </a:r>
            <a:endParaRPr lang="en-US" sz="1700" dirty="0"/>
          </a:p>
        </p:txBody>
      </p:sp>
      <p:sp>
        <p:nvSpPr>
          <p:cNvPr id="22" name="Text 18"/>
          <p:cNvSpPr/>
          <p:nvPr/>
        </p:nvSpPr>
        <p:spPr>
          <a:xfrm>
            <a:off x="1435608" y="3465576"/>
            <a:ext cx="8412480" cy="402336"/>
          </a:xfrm>
          <a:prstGeom prst="rect">
            <a:avLst/>
          </a:prstGeom>
          <a:noFill/>
          <a:ln/>
        </p:spPr>
        <p:txBody>
          <a:bodyPr wrap="square" rtlCol="0" anchor="ctr"/>
          <a:lstStyle/>
          <a:p>
            <a:pPr indent="0" marL="0">
              <a:buNone/>
            </a:pPr>
            <a:r>
              <a:rPr lang="en-US" sz="1150" dirty="0">
                <a:solidFill>
                  <a:srgbClr val="5F708A"/>
                </a:solidFill>
                <a:latin typeface="Apple SD Gothic Neo" pitchFamily="34" charset="0"/>
                <a:ea typeface="Apple SD Gothic Neo" pitchFamily="34" charset="-122"/>
                <a:cs typeface="Apple SD Gothic Neo" pitchFamily="34" charset="-120"/>
              </a:rPr>
              <a:t>AX 3대 전략 · 에이전트 = 디지털 직원</a:t>
            </a:r>
            <a:endParaRPr lang="en-US" sz="1150" dirty="0"/>
          </a:p>
        </p:txBody>
      </p:sp>
      <p:sp>
        <p:nvSpPr>
          <p:cNvPr id="23" name="Text 19"/>
          <p:cNvSpPr/>
          <p:nvPr/>
        </p:nvSpPr>
        <p:spPr>
          <a:xfrm>
            <a:off x="9509760" y="3081528"/>
            <a:ext cx="1234440" cy="365760"/>
          </a:xfrm>
          <a:prstGeom prst="rect">
            <a:avLst/>
          </a:prstGeom>
          <a:noFill/>
          <a:ln/>
        </p:spPr>
        <p:txBody>
          <a:bodyPr wrap="square" rtlCol="0" anchor="ctr"/>
          <a:lstStyle/>
          <a:p>
            <a:pPr algn="r" indent="0" marL="0">
              <a:buNone/>
            </a:pPr>
            <a:r>
              <a:rPr lang="en-US" sz="1200" b="1" dirty="0">
                <a:solidFill>
                  <a:srgbClr val="2F5B93"/>
                </a:solidFill>
                <a:latin typeface="Apple SD Gothic Neo" pitchFamily="34" charset="0"/>
                <a:ea typeface="Apple SD Gothic Neo" pitchFamily="34" charset="-122"/>
                <a:cs typeface="Apple SD Gothic Neo" pitchFamily="34" charset="-120"/>
              </a:rPr>
              <a:t>~4분</a:t>
            </a:r>
            <a:endParaRPr lang="en-US" sz="1200" dirty="0"/>
          </a:p>
        </p:txBody>
      </p:sp>
      <p:sp>
        <p:nvSpPr>
          <p:cNvPr id="24" name="Shape 20"/>
          <p:cNvSpPr/>
          <p:nvPr/>
        </p:nvSpPr>
        <p:spPr>
          <a:xfrm>
            <a:off x="548640" y="4087368"/>
            <a:ext cx="11109960" cy="1024128"/>
          </a:xfrm>
          <a:prstGeom prst="roundRect">
            <a:avLst>
              <a:gd name="adj" fmla="val 8036"/>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5" name="Shape 21"/>
          <p:cNvSpPr/>
          <p:nvPr/>
        </p:nvSpPr>
        <p:spPr>
          <a:xfrm>
            <a:off x="777240" y="4370832"/>
            <a:ext cx="457200" cy="457200"/>
          </a:xfrm>
          <a:prstGeom prst="roundRect">
            <a:avLst>
              <a:gd name="adj" fmla="val 20000"/>
            </a:avLst>
          </a:prstGeom>
          <a:solidFill>
            <a:srgbClr val="1A3D6D"/>
          </a:solidFill>
          <a:ln/>
        </p:spPr>
      </p:sp>
      <p:sp>
        <p:nvSpPr>
          <p:cNvPr id="26" name="Text 22"/>
          <p:cNvSpPr/>
          <p:nvPr/>
        </p:nvSpPr>
        <p:spPr>
          <a:xfrm>
            <a:off x="777240" y="4370832"/>
            <a:ext cx="457200" cy="457200"/>
          </a:xfrm>
          <a:prstGeom prst="rect">
            <a:avLst/>
          </a:prstGeom>
          <a:noFill/>
          <a:ln/>
        </p:spPr>
        <p:txBody>
          <a:bodyPr wrap="square"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3</a:t>
            </a:r>
            <a:endParaRPr lang="en-US" sz="1800" dirty="0"/>
          </a:p>
        </p:txBody>
      </p:sp>
      <p:sp>
        <p:nvSpPr>
          <p:cNvPr id="27" name="Shape 23"/>
          <p:cNvSpPr/>
          <p:nvPr/>
        </p:nvSpPr>
        <p:spPr>
          <a:xfrm>
            <a:off x="10927080" y="4379976"/>
            <a:ext cx="438912" cy="438912"/>
          </a:xfrm>
          <a:prstGeom prst="ellipse">
            <a:avLst/>
          </a:prstGeom>
          <a:solidFill>
            <a:srgbClr val="1A3D6D"/>
          </a:solidFill>
          <a:ln/>
        </p:spPr>
      </p:sp>
      <p:pic>
        <p:nvPicPr>
          <p:cNvPr id="28" name="Image 2" descr="preencoded.png">    </p:cNvPr>
          <p:cNvPicPr>
            <a:picLocks noChangeAspect="1"/>
          </p:cNvPicPr>
          <p:nvPr/>
        </p:nvPicPr>
        <p:blipFill>
          <a:blip r:embed="rId3"/>
          <a:stretch>
            <a:fillRect/>
          </a:stretch>
        </p:blipFill>
        <p:spPr>
          <a:xfrm>
            <a:off x="11041197" y="4494093"/>
            <a:ext cx="210678" cy="210678"/>
          </a:xfrm>
          <a:prstGeom prst="rect">
            <a:avLst/>
          </a:prstGeom>
        </p:spPr>
      </p:pic>
      <p:sp>
        <p:nvSpPr>
          <p:cNvPr id="29" name="Text 24"/>
          <p:cNvSpPr/>
          <p:nvPr/>
        </p:nvSpPr>
        <p:spPr>
          <a:xfrm>
            <a:off x="1417320" y="4233672"/>
            <a:ext cx="7772400" cy="384048"/>
          </a:xfrm>
          <a:prstGeom prst="rect">
            <a:avLst/>
          </a:prstGeom>
          <a:noFill/>
          <a:ln/>
        </p:spPr>
        <p:txBody>
          <a:bodyPr wrap="square" rtlCol="0" anchor="ctr"/>
          <a:lstStyle/>
          <a:p>
            <a:pPr indent="0" marL="0">
              <a:buNone/>
            </a:pPr>
            <a:r>
              <a:rPr lang="en-US" sz="1700" b="1" dirty="0">
                <a:solidFill>
                  <a:srgbClr val="0F2547"/>
                </a:solidFill>
                <a:latin typeface="Apple SD Gothic Neo" pitchFamily="34" charset="0"/>
                <a:ea typeface="Apple SD Gothic Neo" pitchFamily="34" charset="-122"/>
                <a:cs typeface="Apple SD Gothic Neo" pitchFamily="34" charset="-120"/>
              </a:rPr>
              <a:t>Enterprise AI Platform (근거)</a:t>
            </a:r>
            <a:endParaRPr lang="en-US" sz="1700" dirty="0"/>
          </a:p>
        </p:txBody>
      </p:sp>
      <p:sp>
        <p:nvSpPr>
          <p:cNvPr id="30" name="Text 25"/>
          <p:cNvSpPr/>
          <p:nvPr/>
        </p:nvSpPr>
        <p:spPr>
          <a:xfrm>
            <a:off x="1435608" y="4617720"/>
            <a:ext cx="8412480" cy="402336"/>
          </a:xfrm>
          <a:prstGeom prst="rect">
            <a:avLst/>
          </a:prstGeom>
          <a:noFill/>
          <a:ln/>
        </p:spPr>
        <p:txBody>
          <a:bodyPr wrap="square" rtlCol="0" anchor="ctr"/>
          <a:lstStyle/>
          <a:p>
            <a:pPr indent="0" marL="0">
              <a:buNone/>
            </a:pPr>
            <a:r>
              <a:rPr lang="en-US" sz="1150" dirty="0">
                <a:solidFill>
                  <a:srgbClr val="5F708A"/>
                </a:solidFill>
                <a:latin typeface="Apple SD Gothic Neo" pitchFamily="34" charset="0"/>
                <a:ea typeface="Apple SD Gothic Neo" pitchFamily="34" charset="-122"/>
                <a:cs typeface="Apple SD Gothic Neo" pitchFamily="34" charset="-120"/>
              </a:rPr>
              <a:t>6개 완결 서비스 · 6계층 아키텍처 · Agentic DevOps · Governance</a:t>
            </a:r>
            <a:endParaRPr lang="en-US" sz="1150" dirty="0"/>
          </a:p>
        </p:txBody>
      </p:sp>
      <p:sp>
        <p:nvSpPr>
          <p:cNvPr id="31" name="Text 26"/>
          <p:cNvSpPr/>
          <p:nvPr/>
        </p:nvSpPr>
        <p:spPr>
          <a:xfrm>
            <a:off x="9509760" y="4233672"/>
            <a:ext cx="1234440" cy="365760"/>
          </a:xfrm>
          <a:prstGeom prst="rect">
            <a:avLst/>
          </a:prstGeom>
          <a:noFill/>
          <a:ln/>
        </p:spPr>
        <p:txBody>
          <a:bodyPr wrap="square" rtlCol="0" anchor="ctr"/>
          <a:lstStyle/>
          <a:p>
            <a:pPr algn="r" indent="0" marL="0">
              <a:buNone/>
            </a:pPr>
            <a:r>
              <a:rPr lang="en-US" sz="1200" b="1" dirty="0">
                <a:solidFill>
                  <a:srgbClr val="2F5B93"/>
                </a:solidFill>
                <a:latin typeface="Apple SD Gothic Neo" pitchFamily="34" charset="0"/>
                <a:ea typeface="Apple SD Gothic Neo" pitchFamily="34" charset="-122"/>
                <a:cs typeface="Apple SD Gothic Neo" pitchFamily="34" charset="-120"/>
              </a:rPr>
              <a:t>~15분</a:t>
            </a:r>
            <a:endParaRPr lang="en-US" sz="1200" dirty="0"/>
          </a:p>
        </p:txBody>
      </p:sp>
      <p:sp>
        <p:nvSpPr>
          <p:cNvPr id="32" name="Shape 27"/>
          <p:cNvSpPr/>
          <p:nvPr/>
        </p:nvSpPr>
        <p:spPr>
          <a:xfrm>
            <a:off x="548640" y="5239512"/>
            <a:ext cx="11109960" cy="1024128"/>
          </a:xfrm>
          <a:prstGeom prst="roundRect">
            <a:avLst>
              <a:gd name="adj" fmla="val 8036"/>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33" name="Shape 28"/>
          <p:cNvSpPr/>
          <p:nvPr/>
        </p:nvSpPr>
        <p:spPr>
          <a:xfrm>
            <a:off x="777240" y="5522976"/>
            <a:ext cx="457200" cy="457200"/>
          </a:xfrm>
          <a:prstGeom prst="roundRect">
            <a:avLst>
              <a:gd name="adj" fmla="val 20000"/>
            </a:avLst>
          </a:prstGeom>
          <a:solidFill>
            <a:srgbClr val="1A3D6D"/>
          </a:solidFill>
          <a:ln/>
        </p:spPr>
      </p:sp>
      <p:sp>
        <p:nvSpPr>
          <p:cNvPr id="34" name="Text 29"/>
          <p:cNvSpPr/>
          <p:nvPr/>
        </p:nvSpPr>
        <p:spPr>
          <a:xfrm>
            <a:off x="777240" y="5522976"/>
            <a:ext cx="457200" cy="457200"/>
          </a:xfrm>
          <a:prstGeom prst="rect">
            <a:avLst/>
          </a:prstGeom>
          <a:noFill/>
          <a:ln/>
        </p:spPr>
        <p:txBody>
          <a:bodyPr wrap="square"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4</a:t>
            </a:r>
            <a:endParaRPr lang="en-US" sz="1800" dirty="0"/>
          </a:p>
        </p:txBody>
      </p:sp>
      <p:sp>
        <p:nvSpPr>
          <p:cNvPr id="35" name="Shape 30"/>
          <p:cNvSpPr/>
          <p:nvPr/>
        </p:nvSpPr>
        <p:spPr>
          <a:xfrm>
            <a:off x="10927080" y="5532120"/>
            <a:ext cx="438912" cy="438912"/>
          </a:xfrm>
          <a:prstGeom prst="ellipse">
            <a:avLst/>
          </a:prstGeom>
          <a:solidFill>
            <a:srgbClr val="1A3D6D"/>
          </a:solidFill>
          <a:ln/>
        </p:spPr>
      </p:sp>
      <p:pic>
        <p:nvPicPr>
          <p:cNvPr id="36" name="Image 3" descr="preencoded.png">    </p:cNvPr>
          <p:cNvPicPr>
            <a:picLocks noChangeAspect="1"/>
          </p:cNvPicPr>
          <p:nvPr/>
        </p:nvPicPr>
        <p:blipFill>
          <a:blip r:embed="rId4"/>
          <a:stretch>
            <a:fillRect/>
          </a:stretch>
        </p:blipFill>
        <p:spPr>
          <a:xfrm>
            <a:off x="11041197" y="5646237"/>
            <a:ext cx="210678" cy="210678"/>
          </a:xfrm>
          <a:prstGeom prst="rect">
            <a:avLst/>
          </a:prstGeom>
        </p:spPr>
      </p:pic>
      <p:sp>
        <p:nvSpPr>
          <p:cNvPr id="37" name="Text 31"/>
          <p:cNvSpPr/>
          <p:nvPr/>
        </p:nvSpPr>
        <p:spPr>
          <a:xfrm>
            <a:off x="1417320" y="5385816"/>
            <a:ext cx="7772400" cy="384048"/>
          </a:xfrm>
          <a:prstGeom prst="rect">
            <a:avLst/>
          </a:prstGeom>
          <a:noFill/>
          <a:ln/>
        </p:spPr>
        <p:txBody>
          <a:bodyPr wrap="square" rtlCol="0" anchor="ctr"/>
          <a:lstStyle/>
          <a:p>
            <a:pPr indent="0" marL="0">
              <a:buNone/>
            </a:pPr>
            <a:r>
              <a:rPr lang="en-US" sz="1700" b="1" dirty="0">
                <a:solidFill>
                  <a:srgbClr val="0F2547"/>
                </a:solidFill>
                <a:latin typeface="Apple SD Gothic Neo" pitchFamily="34" charset="0"/>
                <a:ea typeface="Apple SD Gothic Neo" pitchFamily="34" charset="-122"/>
                <a:cs typeface="Apple SD Gothic Neo" pitchFamily="34" charset="-120"/>
              </a:rPr>
              <a:t>실현 — 다음 단계</a:t>
            </a:r>
            <a:endParaRPr lang="en-US" sz="1700" dirty="0"/>
          </a:p>
        </p:txBody>
      </p:sp>
      <p:sp>
        <p:nvSpPr>
          <p:cNvPr id="38" name="Text 32"/>
          <p:cNvSpPr/>
          <p:nvPr/>
        </p:nvSpPr>
        <p:spPr>
          <a:xfrm>
            <a:off x="1435608" y="5769864"/>
            <a:ext cx="8412480" cy="402336"/>
          </a:xfrm>
          <a:prstGeom prst="rect">
            <a:avLst/>
          </a:prstGeom>
          <a:noFill/>
          <a:ln/>
        </p:spPr>
        <p:txBody>
          <a:bodyPr wrap="square" rtlCol="0" anchor="ctr"/>
          <a:lstStyle/>
          <a:p>
            <a:pPr indent="0" marL="0">
              <a:buNone/>
            </a:pPr>
            <a:r>
              <a:rPr lang="en-US" sz="1150" dirty="0">
                <a:solidFill>
                  <a:srgbClr val="5F708A"/>
                </a:solidFill>
                <a:latin typeface="Apple SD Gothic Neo" pitchFamily="34" charset="0"/>
                <a:ea typeface="Apple SD Gothic Neo" pitchFamily="34" charset="-122"/>
                <a:cs typeface="Apple SD Gothic Neo" pitchFamily="34" charset="-120"/>
              </a:rPr>
              <a:t>역할별 시나리오 · 도입 로드맵 · 핵심 요약</a:t>
            </a:r>
            <a:endParaRPr lang="en-US" sz="1150" dirty="0"/>
          </a:p>
        </p:txBody>
      </p:sp>
      <p:sp>
        <p:nvSpPr>
          <p:cNvPr id="39" name="Text 33"/>
          <p:cNvSpPr/>
          <p:nvPr/>
        </p:nvSpPr>
        <p:spPr>
          <a:xfrm>
            <a:off x="9509760" y="5385816"/>
            <a:ext cx="1234440" cy="365760"/>
          </a:xfrm>
          <a:prstGeom prst="rect">
            <a:avLst/>
          </a:prstGeom>
          <a:noFill/>
          <a:ln/>
        </p:spPr>
        <p:txBody>
          <a:bodyPr wrap="square" rtlCol="0" anchor="ctr"/>
          <a:lstStyle/>
          <a:p>
            <a:pPr algn="r" indent="0" marL="0">
              <a:buNone/>
            </a:pPr>
            <a:r>
              <a:rPr lang="en-US" sz="1200" b="1" dirty="0">
                <a:solidFill>
                  <a:srgbClr val="2F5B93"/>
                </a:solidFill>
                <a:latin typeface="Apple SD Gothic Neo" pitchFamily="34" charset="0"/>
                <a:ea typeface="Apple SD Gothic Neo" pitchFamily="34" charset="-122"/>
                <a:cs typeface="Apple SD Gothic Neo" pitchFamily="34" charset="-120"/>
              </a:rPr>
              <a:t>~7분</a:t>
            </a:r>
            <a:endParaRPr lang="en-US" sz="1200" dirty="0"/>
          </a:p>
        </p:txBody>
      </p:sp>
      <p:sp>
        <p:nvSpPr>
          <p:cNvPr id="40" name="Text 34"/>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41" name="Text 35"/>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547"/>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A3D6D"/>
          </a:solidFill>
          <a:ln/>
        </p:spPr>
      </p:sp>
      <p:sp>
        <p:nvSpPr>
          <p:cNvPr id="3" name="Shape 1"/>
          <p:cNvSpPr/>
          <p:nvPr/>
        </p:nvSpPr>
        <p:spPr>
          <a:xfrm>
            <a:off x="4206240" y="0"/>
            <a:ext cx="45720" cy="6858000"/>
          </a:xfrm>
          <a:prstGeom prst="rect">
            <a:avLst/>
          </a:prstGeom>
          <a:solidFill>
            <a:srgbClr val="2F5B93"/>
          </a:solidFill>
          <a:ln/>
        </p:spPr>
      </p:sp>
      <p:sp>
        <p:nvSpPr>
          <p:cNvPr id="4" name="Shape 2"/>
          <p:cNvSpPr/>
          <p:nvPr/>
        </p:nvSpPr>
        <p:spPr>
          <a:xfrm>
            <a:off x="1371600" y="2468880"/>
            <a:ext cx="1463040" cy="1463040"/>
          </a:xfrm>
          <a:prstGeom prst="ellipse">
            <a:avLst/>
          </a:prstGeom>
          <a:solidFill>
            <a:srgbClr val="2F5B93"/>
          </a:solidFill>
          <a:ln/>
        </p:spPr>
      </p:sp>
      <p:pic>
        <p:nvPicPr>
          <p:cNvPr id="5" name="Image 0" descr="preencoded.png">    </p:cNvPr>
          <p:cNvPicPr>
            <a:picLocks noChangeAspect="1"/>
          </p:cNvPicPr>
          <p:nvPr/>
        </p:nvPicPr>
        <p:blipFill>
          <a:blip r:embed="rId1"/>
          <a:stretch>
            <a:fillRect/>
          </a:stretch>
        </p:blipFill>
        <p:spPr>
          <a:xfrm>
            <a:off x="1751990" y="2849270"/>
            <a:ext cx="702259" cy="702259"/>
          </a:xfrm>
          <a:prstGeom prst="rect">
            <a:avLst/>
          </a:prstGeom>
        </p:spPr>
      </p:pic>
      <p:sp>
        <p:nvSpPr>
          <p:cNvPr id="6" name="Text 3"/>
          <p:cNvSpPr/>
          <p:nvPr/>
        </p:nvSpPr>
        <p:spPr>
          <a:xfrm>
            <a:off x="4754880" y="2331720"/>
            <a:ext cx="6766560" cy="457200"/>
          </a:xfrm>
          <a:prstGeom prst="rect">
            <a:avLst/>
          </a:prstGeom>
          <a:noFill/>
          <a:ln/>
        </p:spPr>
        <p:txBody>
          <a:bodyPr wrap="square" rtlCol="0" anchor="ctr"/>
          <a:lstStyle/>
          <a:p>
            <a:pPr indent="0" marL="0">
              <a:buNone/>
            </a:pPr>
            <a:r>
              <a:rPr lang="en-US" sz="1500" b="1" spc="300" kern="0" dirty="0">
                <a:solidFill>
                  <a:srgbClr val="6FA9CC"/>
                </a:solidFill>
                <a:latin typeface="Apple SD Gothic Neo" pitchFamily="34" charset="0"/>
                <a:ea typeface="Apple SD Gothic Neo" pitchFamily="34" charset="-122"/>
                <a:cs typeface="Apple SD Gothic Neo" pitchFamily="34" charset="-120"/>
              </a:rPr>
              <a:t>PART 1</a:t>
            </a:r>
            <a:endParaRPr lang="en-US" sz="1500" dirty="0"/>
          </a:p>
        </p:txBody>
      </p:sp>
      <p:sp>
        <p:nvSpPr>
          <p:cNvPr id="7" name="Text 4"/>
          <p:cNvSpPr/>
          <p:nvPr/>
        </p:nvSpPr>
        <p:spPr>
          <a:xfrm>
            <a:off x="4709160" y="2743200"/>
            <a:ext cx="7040880" cy="1005840"/>
          </a:xfrm>
          <a:prstGeom prst="rect">
            <a:avLst/>
          </a:prstGeom>
          <a:noFill/>
          <a:ln/>
        </p:spPr>
        <p:txBody>
          <a:bodyPr wrap="square" rtlCol="0" anchor="ctr"/>
          <a:lstStyle/>
          <a:p>
            <a:pPr indent="0" marL="0">
              <a:buNone/>
            </a:pPr>
            <a:r>
              <a:rPr lang="en-US" sz="3400" b="1" dirty="0">
                <a:solidFill>
                  <a:srgbClr val="FFFFFF"/>
                </a:solidFill>
                <a:latin typeface="Apple SD Gothic Neo" pitchFamily="34" charset="0"/>
                <a:ea typeface="Apple SD Gothic Neo" pitchFamily="34" charset="-122"/>
                <a:cs typeface="Apple SD Gothic Neo" pitchFamily="34" charset="-120"/>
              </a:rPr>
              <a:t>왜 지금, 왜 Azure인가</a:t>
            </a:r>
            <a:endParaRPr lang="en-US" sz="3400" dirty="0"/>
          </a:p>
        </p:txBody>
      </p:sp>
      <p:sp>
        <p:nvSpPr>
          <p:cNvPr id="8" name="Text 5"/>
          <p:cNvSpPr/>
          <p:nvPr/>
        </p:nvSpPr>
        <p:spPr>
          <a:xfrm>
            <a:off x="4754880" y="3794760"/>
            <a:ext cx="6858000" cy="914400"/>
          </a:xfrm>
          <a:prstGeom prst="rect">
            <a:avLst/>
          </a:prstGeom>
          <a:noFill/>
          <a:ln/>
        </p:spPr>
        <p:txBody>
          <a:bodyPr wrap="square" rtlCol="0" anchor="ctr"/>
          <a:lstStyle/>
          <a:p>
            <a:pPr indent="0" marL="0">
              <a:lnSpc>
                <a:spcPct val="125000"/>
              </a:lnSpc>
              <a:buNone/>
            </a:pPr>
            <a:r>
              <a:rPr lang="en-US" sz="1400" dirty="0">
                <a:solidFill>
                  <a:srgbClr val="C7D8EC"/>
                </a:solidFill>
                <a:latin typeface="Apple SD Gothic Neo" pitchFamily="34" charset="0"/>
                <a:ea typeface="Apple SD Gothic Neo" pitchFamily="34" charset="-122"/>
                <a:cs typeface="Apple SD Gothic Neo" pitchFamily="34" charset="-120"/>
              </a:rPr>
              <a:t>에이전트 시대의 전환과 신뢰의 근거</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4F8FB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1. 왜 지금 AI인가</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AI는 3세대를 거쳐 '실행'의 단계로 왔습니다</a:t>
            </a:r>
            <a:endParaRPr lang="en-US" sz="3000" dirty="0"/>
          </a:p>
        </p:txBody>
      </p:sp>
      <p:sp>
        <p:nvSpPr>
          <p:cNvPr id="8" name="Shape 6"/>
          <p:cNvSpPr/>
          <p:nvPr/>
        </p:nvSpPr>
        <p:spPr>
          <a:xfrm>
            <a:off x="685800" y="1920240"/>
            <a:ext cx="3291840" cy="2834640"/>
          </a:xfrm>
          <a:prstGeom prst="roundRect">
            <a:avLst>
              <a:gd name="adj" fmla="val 290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9" name="Shape 7"/>
          <p:cNvSpPr/>
          <p:nvPr/>
        </p:nvSpPr>
        <p:spPr>
          <a:xfrm>
            <a:off x="1874520" y="2240280"/>
            <a:ext cx="914400" cy="914400"/>
          </a:xfrm>
          <a:prstGeom prst="ellipse">
            <a:avLst/>
          </a:prstGeom>
          <a:solidFill>
            <a:srgbClr val="DBE7F6"/>
          </a:solidFill>
          <a:ln/>
        </p:spPr>
      </p:sp>
      <p:pic>
        <p:nvPicPr>
          <p:cNvPr id="10" name="Image 0" descr="preencoded.png">    </p:cNvPr>
          <p:cNvPicPr>
            <a:picLocks noChangeAspect="1"/>
          </p:cNvPicPr>
          <p:nvPr/>
        </p:nvPicPr>
        <p:blipFill>
          <a:blip r:embed="rId1"/>
          <a:stretch>
            <a:fillRect/>
          </a:stretch>
        </p:blipFill>
        <p:spPr>
          <a:xfrm>
            <a:off x="2112264" y="2478024"/>
            <a:ext cx="438912" cy="438912"/>
          </a:xfrm>
          <a:prstGeom prst="rect">
            <a:avLst/>
          </a:prstGeom>
        </p:spPr>
      </p:pic>
      <p:sp>
        <p:nvSpPr>
          <p:cNvPr id="11" name="Text 8"/>
          <p:cNvSpPr/>
          <p:nvPr/>
        </p:nvSpPr>
        <p:spPr>
          <a:xfrm>
            <a:off x="685800" y="3246120"/>
            <a:ext cx="3291840" cy="320040"/>
          </a:xfrm>
          <a:prstGeom prst="rect">
            <a:avLst/>
          </a:prstGeom>
          <a:noFill/>
          <a:ln/>
        </p:spPr>
        <p:txBody>
          <a:bodyPr wrap="square" rtlCol="0" anchor="ctr"/>
          <a:lstStyle/>
          <a:p>
            <a:pPr algn="ctr" indent="0" marL="0">
              <a:buNone/>
            </a:pPr>
            <a:r>
              <a:rPr lang="en-US" sz="1200" b="1" dirty="0">
                <a:solidFill>
                  <a:srgbClr val="2F5B93"/>
                </a:solidFill>
                <a:latin typeface="Apple SD Gothic Neo" pitchFamily="34" charset="0"/>
                <a:ea typeface="Apple SD Gothic Neo" pitchFamily="34" charset="-122"/>
                <a:cs typeface="Apple SD Gothic Neo" pitchFamily="34" charset="-120"/>
              </a:rPr>
              <a:t>1세대</a:t>
            </a:r>
            <a:endParaRPr lang="en-US" sz="1200" dirty="0"/>
          </a:p>
        </p:txBody>
      </p:sp>
      <p:sp>
        <p:nvSpPr>
          <p:cNvPr id="12" name="Text 9"/>
          <p:cNvSpPr/>
          <p:nvPr/>
        </p:nvSpPr>
        <p:spPr>
          <a:xfrm>
            <a:off x="685800" y="3566160"/>
            <a:ext cx="3291840" cy="457200"/>
          </a:xfrm>
          <a:prstGeom prst="rect">
            <a:avLst/>
          </a:prstGeom>
          <a:noFill/>
          <a:ln/>
        </p:spPr>
        <p:txBody>
          <a:bodyPr wrap="square" rtlCol="0" anchor="ctr"/>
          <a:lstStyle/>
          <a:p>
            <a:pPr algn="ctr" indent="0" marL="0">
              <a:buNone/>
            </a:pPr>
            <a:r>
              <a:rPr lang="en-US" sz="2100" b="1" dirty="0">
                <a:solidFill>
                  <a:srgbClr val="0F2547"/>
                </a:solidFill>
                <a:latin typeface="Apple SD Gothic Neo" pitchFamily="34" charset="0"/>
                <a:ea typeface="Apple SD Gothic Neo" pitchFamily="34" charset="-122"/>
                <a:cs typeface="Apple SD Gothic Neo" pitchFamily="34" charset="-120"/>
              </a:rPr>
              <a:t>예측 AI</a:t>
            </a:r>
            <a:endParaRPr lang="en-US" sz="2100" dirty="0"/>
          </a:p>
        </p:txBody>
      </p:sp>
      <p:sp>
        <p:nvSpPr>
          <p:cNvPr id="13" name="Text 10"/>
          <p:cNvSpPr/>
          <p:nvPr/>
        </p:nvSpPr>
        <p:spPr>
          <a:xfrm>
            <a:off x="685800" y="4069080"/>
            <a:ext cx="3291840" cy="640080"/>
          </a:xfrm>
          <a:prstGeom prst="rect">
            <a:avLst/>
          </a:prstGeom>
          <a:noFill/>
          <a:ln/>
        </p:spPr>
        <p:txBody>
          <a:bodyPr wrap="square" rtlCol="0" anchor="ctr"/>
          <a:lstStyle/>
          <a:p>
            <a:pPr algn="ctr" indent="0" marL="0">
              <a:lnSpc>
                <a:spcPct val="110000"/>
              </a:lnSpc>
              <a:buNone/>
            </a:pPr>
            <a:r>
              <a:rPr lang="en-US" sz="1200" dirty="0">
                <a:solidFill>
                  <a:srgbClr val="5F708A"/>
                </a:solidFill>
                <a:latin typeface="Apple SD Gothic Neo" pitchFamily="34" charset="0"/>
                <a:ea typeface="Apple SD Gothic Neo" pitchFamily="34" charset="-122"/>
                <a:cs typeface="Apple SD Gothic Neo" pitchFamily="34" charset="-120"/>
              </a:rPr>
              <a:t>데이터로 미래를 예측</a:t>
            </a:r>
            <a:endParaRPr lang="en-US" sz="1200" dirty="0"/>
          </a:p>
          <a:p>
            <a:pPr algn="ctr" indent="0" marL="0">
              <a:lnSpc>
                <a:spcPct val="110000"/>
              </a:lnSpc>
              <a:buNone/>
            </a:pPr>
            <a:r>
              <a:rPr lang="en-US" sz="1200" dirty="0">
                <a:solidFill>
                  <a:srgbClr val="5F708A"/>
                </a:solidFill>
                <a:latin typeface="Apple SD Gothic Neo" pitchFamily="34" charset="0"/>
                <a:ea typeface="Apple SD Gothic Neo" pitchFamily="34" charset="-122"/>
                <a:cs typeface="Apple SD Gothic Neo" pitchFamily="34" charset="-120"/>
              </a:rPr>
              <a:t>(수요·이탈·리스크)</a:t>
            </a:r>
            <a:endParaRPr lang="en-US" sz="1200" dirty="0"/>
          </a:p>
        </p:txBody>
      </p:sp>
      <p:sp>
        <p:nvSpPr>
          <p:cNvPr id="14" name="Shape 11"/>
          <p:cNvSpPr/>
          <p:nvPr/>
        </p:nvSpPr>
        <p:spPr>
          <a:xfrm>
            <a:off x="3995928" y="3246120"/>
            <a:ext cx="292608" cy="0"/>
          </a:xfrm>
          <a:prstGeom prst="line">
            <a:avLst/>
          </a:prstGeom>
          <a:noFill/>
          <a:ln w="31750">
            <a:solidFill>
              <a:srgbClr val="2F5B93"/>
            </a:solidFill>
            <a:prstDash val="solid"/>
            <a:tailEnd type="triangle"/>
          </a:ln>
        </p:spPr>
      </p:sp>
      <p:sp>
        <p:nvSpPr>
          <p:cNvPr id="15" name="Shape 12"/>
          <p:cNvSpPr/>
          <p:nvPr/>
        </p:nvSpPr>
        <p:spPr>
          <a:xfrm>
            <a:off x="4343400" y="1920240"/>
            <a:ext cx="3291840" cy="2834640"/>
          </a:xfrm>
          <a:prstGeom prst="roundRect">
            <a:avLst>
              <a:gd name="adj" fmla="val 290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6" name="Shape 13"/>
          <p:cNvSpPr/>
          <p:nvPr/>
        </p:nvSpPr>
        <p:spPr>
          <a:xfrm>
            <a:off x="5532120" y="2240280"/>
            <a:ext cx="914400" cy="914400"/>
          </a:xfrm>
          <a:prstGeom prst="ellipse">
            <a:avLst/>
          </a:prstGeom>
          <a:solidFill>
            <a:srgbClr val="DBE7F6"/>
          </a:solidFill>
          <a:ln/>
        </p:spPr>
      </p:sp>
      <p:pic>
        <p:nvPicPr>
          <p:cNvPr id="17" name="Image 1" descr="preencoded.png">    </p:cNvPr>
          <p:cNvPicPr>
            <a:picLocks noChangeAspect="1"/>
          </p:cNvPicPr>
          <p:nvPr/>
        </p:nvPicPr>
        <p:blipFill>
          <a:blip r:embed="rId2"/>
          <a:stretch>
            <a:fillRect/>
          </a:stretch>
        </p:blipFill>
        <p:spPr>
          <a:xfrm>
            <a:off x="5769864" y="2478024"/>
            <a:ext cx="438912" cy="438912"/>
          </a:xfrm>
          <a:prstGeom prst="rect">
            <a:avLst/>
          </a:prstGeom>
        </p:spPr>
      </p:pic>
      <p:sp>
        <p:nvSpPr>
          <p:cNvPr id="18" name="Text 14"/>
          <p:cNvSpPr/>
          <p:nvPr/>
        </p:nvSpPr>
        <p:spPr>
          <a:xfrm>
            <a:off x="4343400" y="3246120"/>
            <a:ext cx="3291840" cy="320040"/>
          </a:xfrm>
          <a:prstGeom prst="rect">
            <a:avLst/>
          </a:prstGeom>
          <a:noFill/>
          <a:ln/>
        </p:spPr>
        <p:txBody>
          <a:bodyPr wrap="square" rtlCol="0" anchor="ctr"/>
          <a:lstStyle/>
          <a:p>
            <a:pPr algn="ctr" indent="0" marL="0">
              <a:buNone/>
            </a:pPr>
            <a:r>
              <a:rPr lang="en-US" sz="1200" b="1" dirty="0">
                <a:solidFill>
                  <a:srgbClr val="2F5B93"/>
                </a:solidFill>
                <a:latin typeface="Apple SD Gothic Neo" pitchFamily="34" charset="0"/>
                <a:ea typeface="Apple SD Gothic Neo" pitchFamily="34" charset="-122"/>
                <a:cs typeface="Apple SD Gothic Neo" pitchFamily="34" charset="-120"/>
              </a:rPr>
              <a:t>2세대</a:t>
            </a:r>
            <a:endParaRPr lang="en-US" sz="1200" dirty="0"/>
          </a:p>
        </p:txBody>
      </p:sp>
      <p:sp>
        <p:nvSpPr>
          <p:cNvPr id="19" name="Text 15"/>
          <p:cNvSpPr/>
          <p:nvPr/>
        </p:nvSpPr>
        <p:spPr>
          <a:xfrm>
            <a:off x="4343400" y="3566160"/>
            <a:ext cx="3291840" cy="457200"/>
          </a:xfrm>
          <a:prstGeom prst="rect">
            <a:avLst/>
          </a:prstGeom>
          <a:noFill/>
          <a:ln/>
        </p:spPr>
        <p:txBody>
          <a:bodyPr wrap="square" rtlCol="0" anchor="ctr"/>
          <a:lstStyle/>
          <a:p>
            <a:pPr algn="ctr" indent="0" marL="0">
              <a:buNone/>
            </a:pPr>
            <a:r>
              <a:rPr lang="en-US" sz="2100" b="1" dirty="0">
                <a:solidFill>
                  <a:srgbClr val="0F2547"/>
                </a:solidFill>
                <a:latin typeface="Apple SD Gothic Neo" pitchFamily="34" charset="0"/>
                <a:ea typeface="Apple SD Gothic Neo" pitchFamily="34" charset="-122"/>
                <a:cs typeface="Apple SD Gothic Neo" pitchFamily="34" charset="-120"/>
              </a:rPr>
              <a:t>생성 AI</a:t>
            </a:r>
            <a:endParaRPr lang="en-US" sz="2100" dirty="0"/>
          </a:p>
        </p:txBody>
      </p:sp>
      <p:sp>
        <p:nvSpPr>
          <p:cNvPr id="20" name="Text 16"/>
          <p:cNvSpPr/>
          <p:nvPr/>
        </p:nvSpPr>
        <p:spPr>
          <a:xfrm>
            <a:off x="4343400" y="4069080"/>
            <a:ext cx="3291840" cy="640080"/>
          </a:xfrm>
          <a:prstGeom prst="rect">
            <a:avLst/>
          </a:prstGeom>
          <a:noFill/>
          <a:ln/>
        </p:spPr>
        <p:txBody>
          <a:bodyPr wrap="square" rtlCol="0" anchor="ctr"/>
          <a:lstStyle/>
          <a:p>
            <a:pPr algn="ctr" indent="0" marL="0">
              <a:lnSpc>
                <a:spcPct val="110000"/>
              </a:lnSpc>
              <a:buNone/>
            </a:pPr>
            <a:r>
              <a:rPr lang="en-US" sz="1200" dirty="0">
                <a:solidFill>
                  <a:srgbClr val="5F708A"/>
                </a:solidFill>
                <a:latin typeface="Apple SD Gothic Neo" pitchFamily="34" charset="0"/>
                <a:ea typeface="Apple SD Gothic Neo" pitchFamily="34" charset="-122"/>
                <a:cs typeface="Apple SD Gothic Neo" pitchFamily="34" charset="-120"/>
              </a:rPr>
              <a:t>콘텐츠를 생성</a:t>
            </a:r>
            <a:endParaRPr lang="en-US" sz="1200" dirty="0"/>
          </a:p>
          <a:p>
            <a:pPr algn="ctr" indent="0" marL="0">
              <a:lnSpc>
                <a:spcPct val="110000"/>
              </a:lnSpc>
              <a:buNone/>
            </a:pPr>
            <a:r>
              <a:rPr lang="en-US" sz="1200" dirty="0">
                <a:solidFill>
                  <a:srgbClr val="5F708A"/>
                </a:solidFill>
                <a:latin typeface="Apple SD Gothic Neo" pitchFamily="34" charset="0"/>
                <a:ea typeface="Apple SD Gothic Neo" pitchFamily="34" charset="-122"/>
                <a:cs typeface="Apple SD Gothic Neo" pitchFamily="34" charset="-120"/>
              </a:rPr>
              <a:t>(문서·코드·이미지)</a:t>
            </a:r>
            <a:endParaRPr lang="en-US" sz="1200" dirty="0"/>
          </a:p>
        </p:txBody>
      </p:sp>
      <p:sp>
        <p:nvSpPr>
          <p:cNvPr id="21" name="Shape 17"/>
          <p:cNvSpPr/>
          <p:nvPr/>
        </p:nvSpPr>
        <p:spPr>
          <a:xfrm>
            <a:off x="7653528" y="3246120"/>
            <a:ext cx="292608" cy="0"/>
          </a:xfrm>
          <a:prstGeom prst="line">
            <a:avLst/>
          </a:prstGeom>
          <a:noFill/>
          <a:ln w="31750">
            <a:solidFill>
              <a:srgbClr val="2F5B93"/>
            </a:solidFill>
            <a:prstDash val="solid"/>
            <a:tailEnd type="triangle"/>
          </a:ln>
        </p:spPr>
      </p:sp>
      <p:sp>
        <p:nvSpPr>
          <p:cNvPr id="22" name="Shape 18"/>
          <p:cNvSpPr/>
          <p:nvPr/>
        </p:nvSpPr>
        <p:spPr>
          <a:xfrm>
            <a:off x="8001000" y="1920240"/>
            <a:ext cx="3291840" cy="2834640"/>
          </a:xfrm>
          <a:prstGeom prst="roundRect">
            <a:avLst>
              <a:gd name="adj" fmla="val 2903"/>
            </a:avLst>
          </a:prstGeom>
          <a:solidFill>
            <a:srgbClr val="1A3D6D"/>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3" name="Shape 19"/>
          <p:cNvSpPr/>
          <p:nvPr/>
        </p:nvSpPr>
        <p:spPr>
          <a:xfrm>
            <a:off x="9189720" y="2240280"/>
            <a:ext cx="914400" cy="914400"/>
          </a:xfrm>
          <a:prstGeom prst="ellipse">
            <a:avLst/>
          </a:prstGeom>
          <a:solidFill>
            <a:srgbClr val="2F5B93"/>
          </a:solidFill>
          <a:ln/>
        </p:spPr>
      </p:sp>
      <p:pic>
        <p:nvPicPr>
          <p:cNvPr id="24" name="Image 2" descr="preencoded.png">    </p:cNvPr>
          <p:cNvPicPr>
            <a:picLocks noChangeAspect="1"/>
          </p:cNvPicPr>
          <p:nvPr/>
        </p:nvPicPr>
        <p:blipFill>
          <a:blip r:embed="rId3"/>
          <a:stretch>
            <a:fillRect/>
          </a:stretch>
        </p:blipFill>
        <p:spPr>
          <a:xfrm>
            <a:off x="9427464" y="2478024"/>
            <a:ext cx="438912" cy="438912"/>
          </a:xfrm>
          <a:prstGeom prst="rect">
            <a:avLst/>
          </a:prstGeom>
        </p:spPr>
      </p:pic>
      <p:sp>
        <p:nvSpPr>
          <p:cNvPr id="25" name="Text 20"/>
          <p:cNvSpPr/>
          <p:nvPr/>
        </p:nvSpPr>
        <p:spPr>
          <a:xfrm>
            <a:off x="8001000" y="3246120"/>
            <a:ext cx="3291840" cy="320040"/>
          </a:xfrm>
          <a:prstGeom prst="rect">
            <a:avLst/>
          </a:prstGeom>
          <a:noFill/>
          <a:ln/>
        </p:spPr>
        <p:txBody>
          <a:bodyPr wrap="square" rtlCol="0" anchor="ctr"/>
          <a:lstStyle/>
          <a:p>
            <a:pPr algn="ctr" indent="0" marL="0">
              <a:buNone/>
            </a:pPr>
            <a:r>
              <a:rPr lang="en-US" sz="1200" b="1" dirty="0">
                <a:solidFill>
                  <a:srgbClr val="7AA5D6"/>
                </a:solidFill>
                <a:latin typeface="Apple SD Gothic Neo" pitchFamily="34" charset="0"/>
                <a:ea typeface="Apple SD Gothic Neo" pitchFamily="34" charset="-122"/>
                <a:cs typeface="Apple SD Gothic Neo" pitchFamily="34" charset="-120"/>
              </a:rPr>
              <a:t>3세대</a:t>
            </a:r>
            <a:endParaRPr lang="en-US" sz="1200" dirty="0"/>
          </a:p>
        </p:txBody>
      </p:sp>
      <p:sp>
        <p:nvSpPr>
          <p:cNvPr id="26" name="Text 21"/>
          <p:cNvSpPr/>
          <p:nvPr/>
        </p:nvSpPr>
        <p:spPr>
          <a:xfrm>
            <a:off x="8001000" y="3566160"/>
            <a:ext cx="3291840" cy="457200"/>
          </a:xfrm>
          <a:prstGeom prst="rect">
            <a:avLst/>
          </a:prstGeom>
          <a:noFill/>
          <a:ln/>
        </p:spPr>
        <p:txBody>
          <a:bodyPr wrap="square" rtlCol="0" anchor="ctr"/>
          <a:lstStyle/>
          <a:p>
            <a:pPr algn="ctr" indent="0" marL="0">
              <a:buNone/>
            </a:pPr>
            <a:r>
              <a:rPr lang="en-US" sz="2100" b="1" dirty="0">
                <a:solidFill>
                  <a:srgbClr val="FFFFFF"/>
                </a:solidFill>
                <a:latin typeface="Apple SD Gothic Neo" pitchFamily="34" charset="0"/>
                <a:ea typeface="Apple SD Gothic Neo" pitchFamily="34" charset="-122"/>
                <a:cs typeface="Apple SD Gothic Neo" pitchFamily="34" charset="-120"/>
              </a:rPr>
              <a:t>에이전트 AI</a:t>
            </a:r>
            <a:endParaRPr lang="en-US" sz="2100" dirty="0"/>
          </a:p>
        </p:txBody>
      </p:sp>
      <p:sp>
        <p:nvSpPr>
          <p:cNvPr id="27" name="Text 22"/>
          <p:cNvSpPr/>
          <p:nvPr/>
        </p:nvSpPr>
        <p:spPr>
          <a:xfrm>
            <a:off x="8001000" y="4069080"/>
            <a:ext cx="3291840" cy="640080"/>
          </a:xfrm>
          <a:prstGeom prst="rect">
            <a:avLst/>
          </a:prstGeom>
          <a:noFill/>
          <a:ln/>
        </p:spPr>
        <p:txBody>
          <a:bodyPr wrap="square" rtlCol="0" anchor="ctr"/>
          <a:lstStyle/>
          <a:p>
            <a:pPr algn="ctr" indent="0" marL="0">
              <a:lnSpc>
                <a:spcPct val="110000"/>
              </a:lnSpc>
              <a:buNone/>
            </a:pPr>
            <a:r>
              <a:rPr lang="en-US" sz="1200" dirty="0">
                <a:solidFill>
                  <a:srgbClr val="DBE7F6"/>
                </a:solidFill>
                <a:latin typeface="Apple SD Gothic Neo" pitchFamily="34" charset="0"/>
                <a:ea typeface="Apple SD Gothic Neo" pitchFamily="34" charset="-122"/>
                <a:cs typeface="Apple SD Gothic Neo" pitchFamily="34" charset="-120"/>
              </a:rPr>
              <a:t>스스로 계획하고 실행</a:t>
            </a:r>
            <a:endParaRPr lang="en-US" sz="1200" dirty="0"/>
          </a:p>
          <a:p>
            <a:pPr algn="ctr" indent="0" marL="0">
              <a:lnSpc>
                <a:spcPct val="110000"/>
              </a:lnSpc>
              <a:buNone/>
            </a:pPr>
            <a:r>
              <a:rPr lang="en-US" sz="1200" dirty="0">
                <a:solidFill>
                  <a:srgbClr val="DBE7F6"/>
                </a:solidFill>
                <a:latin typeface="Apple SD Gothic Neo" pitchFamily="34" charset="0"/>
                <a:ea typeface="Apple SD Gothic Neo" pitchFamily="34" charset="-122"/>
                <a:cs typeface="Apple SD Gothic Neo" pitchFamily="34" charset="-120"/>
              </a:rPr>
              <a:t>(업무를 대신 수행)</a:t>
            </a:r>
            <a:endParaRPr lang="en-US" sz="1200" dirty="0"/>
          </a:p>
        </p:txBody>
      </p:sp>
      <p:sp>
        <p:nvSpPr>
          <p:cNvPr id="28" name="Text 23"/>
          <p:cNvSpPr/>
          <p:nvPr/>
        </p:nvSpPr>
        <p:spPr>
          <a:xfrm>
            <a:off x="685800" y="4983480"/>
            <a:ext cx="10789920" cy="685800"/>
          </a:xfrm>
          <a:prstGeom prst="rect">
            <a:avLst/>
          </a:prstGeom>
          <a:noFill/>
          <a:ln/>
        </p:spPr>
        <p:txBody>
          <a:bodyPr wrap="square" rtlCol="0" anchor="ctr"/>
          <a:lstStyle/>
          <a:p>
            <a:pPr algn="ctr" indent="0" marL="0">
              <a:lnSpc>
                <a:spcPct val="115000"/>
              </a:lnSpc>
              <a:buNone/>
            </a:pPr>
            <a:r>
              <a:rPr lang="en-US" sz="1350" b="1" dirty="0">
                <a:solidFill>
                  <a:srgbClr val="1A3D6D"/>
                </a:solidFill>
                <a:latin typeface="Apple SD Gothic Neo" pitchFamily="34" charset="0"/>
                <a:ea typeface="Apple SD Gothic Neo" pitchFamily="34" charset="-122"/>
                <a:cs typeface="Apple SD Gothic Neo" pitchFamily="34" charset="-120"/>
              </a:rPr>
              <a:t>AI가 '대신 실행'하는 시대 — 데이터·모델·거버넌스가 한 스택에서 이어져야 안전하게 운영됩니다. 그래서 '어디서 구축·운영하느냐'가 핵심입니다.</a:t>
            </a:r>
            <a:endParaRPr lang="en-US" sz="1350" dirty="0"/>
          </a:p>
        </p:txBody>
      </p:sp>
      <p:sp>
        <p:nvSpPr>
          <p:cNvPr id="29" name="Text 24"/>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30" name="Text 25"/>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4F8FB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1. 왜 지금 AI인가</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에이전트가 바꾸는 것 — 그리고 왜 '지금'인가</a:t>
            </a:r>
            <a:endParaRPr lang="en-US" sz="3000" dirty="0"/>
          </a:p>
        </p:txBody>
      </p:sp>
      <p:sp>
        <p:nvSpPr>
          <p:cNvPr id="8" name="Shape 6"/>
          <p:cNvSpPr/>
          <p:nvPr/>
        </p:nvSpPr>
        <p:spPr>
          <a:xfrm>
            <a:off x="548640" y="1691640"/>
            <a:ext cx="310896" cy="310896"/>
          </a:xfrm>
          <a:prstGeom prst="ellipse">
            <a:avLst/>
          </a:prstGeom>
          <a:solidFill>
            <a:srgbClr val="DBE7F6"/>
          </a:solidFill>
          <a:ln/>
        </p:spPr>
      </p:sp>
      <p:pic>
        <p:nvPicPr>
          <p:cNvPr id="9" name="Image 0" descr="preencoded.png">    </p:cNvPr>
          <p:cNvPicPr>
            <a:picLocks noChangeAspect="1"/>
          </p:cNvPicPr>
          <p:nvPr/>
        </p:nvPicPr>
        <p:blipFill>
          <a:blip r:embed="rId1"/>
          <a:stretch>
            <a:fillRect/>
          </a:stretch>
        </p:blipFill>
        <p:spPr>
          <a:xfrm>
            <a:off x="621792" y="1764792"/>
            <a:ext cx="164592" cy="164592"/>
          </a:xfrm>
          <a:prstGeom prst="rect">
            <a:avLst/>
          </a:prstGeom>
        </p:spPr>
      </p:pic>
      <p:sp>
        <p:nvSpPr>
          <p:cNvPr id="10" name="Text 7"/>
          <p:cNvSpPr/>
          <p:nvPr/>
        </p:nvSpPr>
        <p:spPr>
          <a:xfrm>
            <a:off x="950976" y="1673352"/>
            <a:ext cx="5120640" cy="365760"/>
          </a:xfrm>
          <a:prstGeom prst="rect">
            <a:avLst/>
          </a:prstGeom>
          <a:noFill/>
          <a:ln/>
        </p:spPr>
        <p:txBody>
          <a:bodyPr wrap="square" rtlCol="0" anchor="ctr"/>
          <a:lstStyle/>
          <a:p>
            <a:pPr indent="0" marL="0">
              <a:buNone/>
            </a:pPr>
            <a:r>
              <a:rPr lang="en-US" sz="1500" b="1" dirty="0">
                <a:solidFill>
                  <a:srgbClr val="1A3D6D"/>
                </a:solidFill>
                <a:latin typeface="Apple SD Gothic Neo" pitchFamily="34" charset="0"/>
                <a:ea typeface="Apple SD Gothic Neo" pitchFamily="34" charset="-122"/>
                <a:cs typeface="Apple SD Gothic Neo" pitchFamily="34" charset="-120"/>
              </a:rPr>
              <a:t>에이전트가 바꾸는 것</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5532120" cy="914400"/>
        </p:xfrm>
        <a:graphic>
          <a:graphicData uri="http://schemas.openxmlformats.org/drawingml/2006/table">
            <a:tbl>
              <a:tblPr/>
              <a:tblGrid>
                <a:gridCol w="1234440"/>
                <a:gridCol w="2148840"/>
                <a:gridCol w="2148840"/>
              </a:tblGrid>
              <a:tr h="475488">
                <a:tc>
                  <a:txBody>
                    <a:bodyP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구분</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c>
                  <a:txBody>
                    <a:bodyP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기존 방식</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c>
                  <a:txBody>
                    <a:bodyP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에이전트 시대</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r>
              <a:tr h="475488">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업무 수행</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사람이 직접 처리</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에이전트가 대신 실행</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475488">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시스템</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사람이 도구를 조작</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에이전트가 도구를 호출</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r h="475488">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확장</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인력 증원</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에이전트 확장</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475488">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속도</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업무시간에 종속</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24/7 상시 실행</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bl>
          </a:graphicData>
        </a:graphic>
      </p:graphicFrame>
      <p:sp>
        <p:nvSpPr>
          <p:cNvPr id="12" name="Shape 8"/>
          <p:cNvSpPr/>
          <p:nvPr/>
        </p:nvSpPr>
        <p:spPr>
          <a:xfrm>
            <a:off x="6400800" y="1691640"/>
            <a:ext cx="310896" cy="310896"/>
          </a:xfrm>
          <a:prstGeom prst="ellipse">
            <a:avLst/>
          </a:prstGeom>
          <a:solidFill>
            <a:srgbClr val="DBE7F6"/>
          </a:solidFill>
          <a:ln/>
        </p:spPr>
      </p:sp>
      <p:pic>
        <p:nvPicPr>
          <p:cNvPr id="13" name="Image 1" descr="preencoded.png">    </p:cNvPr>
          <p:cNvPicPr>
            <a:picLocks noChangeAspect="1"/>
          </p:cNvPicPr>
          <p:nvPr/>
        </p:nvPicPr>
        <p:blipFill>
          <a:blip r:embed="rId2"/>
          <a:stretch>
            <a:fillRect/>
          </a:stretch>
        </p:blipFill>
        <p:spPr>
          <a:xfrm>
            <a:off x="6473952" y="1764792"/>
            <a:ext cx="164592" cy="164592"/>
          </a:xfrm>
          <a:prstGeom prst="rect">
            <a:avLst/>
          </a:prstGeom>
        </p:spPr>
      </p:pic>
      <p:sp>
        <p:nvSpPr>
          <p:cNvPr id="14" name="Text 9"/>
          <p:cNvSpPr/>
          <p:nvPr/>
        </p:nvSpPr>
        <p:spPr>
          <a:xfrm>
            <a:off x="6803136" y="1673352"/>
            <a:ext cx="5120640" cy="365760"/>
          </a:xfrm>
          <a:prstGeom prst="rect">
            <a:avLst/>
          </a:prstGeom>
          <a:noFill/>
          <a:ln/>
        </p:spPr>
        <p:txBody>
          <a:bodyPr wrap="square" rtlCol="0" anchor="ctr"/>
          <a:lstStyle/>
          <a:p>
            <a:pPr indent="0" marL="0">
              <a:buNone/>
            </a:pPr>
            <a:r>
              <a:rPr lang="en-US" sz="1500" b="1" dirty="0">
                <a:solidFill>
                  <a:srgbClr val="1A3D6D"/>
                </a:solidFill>
                <a:latin typeface="Apple SD Gothic Neo" pitchFamily="34" charset="0"/>
                <a:ea typeface="Apple SD Gothic Neo" pitchFamily="34" charset="-122"/>
                <a:cs typeface="Apple SD Gothic Neo" pitchFamily="34" charset="-120"/>
              </a:rPr>
              <a:t>왜 지금인가 — 4가지 압력</a:t>
            </a:r>
            <a:endParaRPr lang="en-US" sz="1500" dirty="0"/>
          </a:p>
        </p:txBody>
      </p:sp>
      <p:sp>
        <p:nvSpPr>
          <p:cNvPr id="15" name="Shape 10"/>
          <p:cNvSpPr/>
          <p:nvPr/>
        </p:nvSpPr>
        <p:spPr>
          <a:xfrm>
            <a:off x="6400800" y="2057400"/>
            <a:ext cx="5257800" cy="713232"/>
          </a:xfrm>
          <a:prstGeom prst="roundRect">
            <a:avLst>
              <a:gd name="adj" fmla="val 11538"/>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6" name="Shape 11"/>
          <p:cNvSpPr/>
          <p:nvPr/>
        </p:nvSpPr>
        <p:spPr>
          <a:xfrm>
            <a:off x="6583680" y="2212848"/>
            <a:ext cx="402336" cy="402336"/>
          </a:xfrm>
          <a:prstGeom prst="roundRect">
            <a:avLst>
              <a:gd name="adj" fmla="val 22727"/>
            </a:avLst>
          </a:prstGeom>
          <a:solidFill>
            <a:srgbClr val="1A3D6D"/>
          </a:solidFill>
          <a:ln/>
        </p:spPr>
      </p:sp>
      <p:sp>
        <p:nvSpPr>
          <p:cNvPr id="17" name="Text 12"/>
          <p:cNvSpPr/>
          <p:nvPr/>
        </p:nvSpPr>
        <p:spPr>
          <a:xfrm>
            <a:off x="6583680" y="2212848"/>
            <a:ext cx="402336" cy="402336"/>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1</a:t>
            </a:r>
            <a:endParaRPr lang="en-US" sz="1500" dirty="0"/>
          </a:p>
        </p:txBody>
      </p:sp>
      <p:sp>
        <p:nvSpPr>
          <p:cNvPr id="18" name="Text 13"/>
          <p:cNvSpPr/>
          <p:nvPr/>
        </p:nvSpPr>
        <p:spPr>
          <a:xfrm>
            <a:off x="7132320" y="2139696"/>
            <a:ext cx="4434840" cy="310896"/>
          </a:xfrm>
          <a:prstGeom prst="rect">
            <a:avLst/>
          </a:prstGeom>
          <a:noFill/>
          <a:ln/>
        </p:spPr>
        <p:txBody>
          <a:bodyPr wrap="square" rtlCol="0" anchor="ctr"/>
          <a:lstStyle/>
          <a:p>
            <a:pPr indent="0" marL="0">
              <a:buNone/>
            </a:pPr>
            <a:r>
              <a:rPr lang="en-US" sz="1300" b="1" dirty="0">
                <a:solidFill>
                  <a:srgbClr val="0F2547"/>
                </a:solidFill>
                <a:latin typeface="Apple SD Gothic Neo" pitchFamily="34" charset="0"/>
                <a:ea typeface="Apple SD Gothic Neo" pitchFamily="34" charset="-122"/>
                <a:cs typeface="Apple SD Gothic Neo" pitchFamily="34" charset="-120"/>
              </a:rPr>
              <a:t>프론티어 모델의 성숙</a:t>
            </a:r>
            <a:endParaRPr lang="en-US" sz="1300" dirty="0"/>
          </a:p>
        </p:txBody>
      </p:sp>
      <p:sp>
        <p:nvSpPr>
          <p:cNvPr id="19" name="Text 14"/>
          <p:cNvSpPr/>
          <p:nvPr/>
        </p:nvSpPr>
        <p:spPr>
          <a:xfrm>
            <a:off x="7132320" y="2441448"/>
            <a:ext cx="4434840" cy="274320"/>
          </a:xfrm>
          <a:prstGeom prst="rect">
            <a:avLst/>
          </a:prstGeom>
          <a:noFill/>
          <a:ln/>
        </p:spPr>
        <p:txBody>
          <a:bodyPr wrap="square" rtlCol="0" anchor="ctr"/>
          <a:lstStyle/>
          <a:p>
            <a:pPr indent="0" marL="0">
              <a:buNone/>
            </a:pPr>
            <a:r>
              <a:rPr lang="en-US" sz="1050" dirty="0">
                <a:solidFill>
                  <a:srgbClr val="5F708A"/>
                </a:solidFill>
                <a:latin typeface="Apple SD Gothic Neo" pitchFamily="34" charset="0"/>
                <a:ea typeface="Apple SD Gothic Neo" pitchFamily="34" charset="-122"/>
                <a:cs typeface="Apple SD Gothic Neo" pitchFamily="34" charset="-120"/>
              </a:rPr>
              <a:t>복잡한 업무를 맡길 수준으로 도약</a:t>
            </a:r>
            <a:endParaRPr lang="en-US" sz="1050" dirty="0"/>
          </a:p>
        </p:txBody>
      </p:sp>
      <p:sp>
        <p:nvSpPr>
          <p:cNvPr id="20" name="Shape 15"/>
          <p:cNvSpPr/>
          <p:nvPr/>
        </p:nvSpPr>
        <p:spPr>
          <a:xfrm>
            <a:off x="6400800" y="2880360"/>
            <a:ext cx="5257800" cy="713232"/>
          </a:xfrm>
          <a:prstGeom prst="roundRect">
            <a:avLst>
              <a:gd name="adj" fmla="val 11538"/>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1" name="Shape 16"/>
          <p:cNvSpPr/>
          <p:nvPr/>
        </p:nvSpPr>
        <p:spPr>
          <a:xfrm>
            <a:off x="6583680" y="3035808"/>
            <a:ext cx="402336" cy="402336"/>
          </a:xfrm>
          <a:prstGeom prst="roundRect">
            <a:avLst>
              <a:gd name="adj" fmla="val 22727"/>
            </a:avLst>
          </a:prstGeom>
          <a:solidFill>
            <a:srgbClr val="1A3D6D"/>
          </a:solidFill>
          <a:ln/>
        </p:spPr>
      </p:sp>
      <p:sp>
        <p:nvSpPr>
          <p:cNvPr id="22" name="Text 17"/>
          <p:cNvSpPr/>
          <p:nvPr/>
        </p:nvSpPr>
        <p:spPr>
          <a:xfrm>
            <a:off x="6583680" y="3035808"/>
            <a:ext cx="402336" cy="402336"/>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2</a:t>
            </a:r>
            <a:endParaRPr lang="en-US" sz="1500" dirty="0"/>
          </a:p>
        </p:txBody>
      </p:sp>
      <p:sp>
        <p:nvSpPr>
          <p:cNvPr id="23" name="Text 18"/>
          <p:cNvSpPr/>
          <p:nvPr/>
        </p:nvSpPr>
        <p:spPr>
          <a:xfrm>
            <a:off x="7132320" y="2962656"/>
            <a:ext cx="4434840" cy="310896"/>
          </a:xfrm>
          <a:prstGeom prst="rect">
            <a:avLst/>
          </a:prstGeom>
          <a:noFill/>
          <a:ln/>
        </p:spPr>
        <p:txBody>
          <a:bodyPr wrap="square" rtlCol="0" anchor="ctr"/>
          <a:lstStyle/>
          <a:p>
            <a:pPr indent="0" marL="0">
              <a:buNone/>
            </a:pPr>
            <a:r>
              <a:rPr lang="en-US" sz="1300" b="1" dirty="0">
                <a:solidFill>
                  <a:srgbClr val="0F2547"/>
                </a:solidFill>
                <a:latin typeface="Apple SD Gothic Neo" pitchFamily="34" charset="0"/>
                <a:ea typeface="Apple SD Gothic Neo" pitchFamily="34" charset="-122"/>
                <a:cs typeface="Apple SD Gothic Neo" pitchFamily="34" charset="-120"/>
              </a:rPr>
              <a:t>경쟁사의 선점</a:t>
            </a:r>
            <a:endParaRPr lang="en-US" sz="1300" dirty="0"/>
          </a:p>
        </p:txBody>
      </p:sp>
      <p:sp>
        <p:nvSpPr>
          <p:cNvPr id="24" name="Text 19"/>
          <p:cNvSpPr/>
          <p:nvPr/>
        </p:nvSpPr>
        <p:spPr>
          <a:xfrm>
            <a:off x="7132320" y="3264408"/>
            <a:ext cx="4434840" cy="274320"/>
          </a:xfrm>
          <a:prstGeom prst="rect">
            <a:avLst/>
          </a:prstGeom>
          <a:noFill/>
          <a:ln/>
        </p:spPr>
        <p:txBody>
          <a:bodyPr wrap="square" rtlCol="0" anchor="ctr"/>
          <a:lstStyle/>
          <a:p>
            <a:pPr indent="0" marL="0">
              <a:buNone/>
            </a:pPr>
            <a:r>
              <a:rPr lang="en-US" sz="1050" dirty="0">
                <a:solidFill>
                  <a:srgbClr val="5F708A"/>
                </a:solidFill>
                <a:latin typeface="Apple SD Gothic Neo" pitchFamily="34" charset="0"/>
                <a:ea typeface="Apple SD Gothic Neo" pitchFamily="34" charset="-122"/>
                <a:cs typeface="Apple SD Gothic Neo" pitchFamily="34" charset="-120"/>
              </a:rPr>
              <a:t>AI 도입 격차가 시장 격차로</a:t>
            </a:r>
            <a:endParaRPr lang="en-US" sz="1050" dirty="0"/>
          </a:p>
        </p:txBody>
      </p:sp>
      <p:sp>
        <p:nvSpPr>
          <p:cNvPr id="25" name="Shape 20"/>
          <p:cNvSpPr/>
          <p:nvPr/>
        </p:nvSpPr>
        <p:spPr>
          <a:xfrm>
            <a:off x="6400800" y="3703320"/>
            <a:ext cx="5257800" cy="713232"/>
          </a:xfrm>
          <a:prstGeom prst="roundRect">
            <a:avLst>
              <a:gd name="adj" fmla="val 11538"/>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6" name="Shape 21"/>
          <p:cNvSpPr/>
          <p:nvPr/>
        </p:nvSpPr>
        <p:spPr>
          <a:xfrm>
            <a:off x="6583680" y="3858768"/>
            <a:ext cx="402336" cy="402336"/>
          </a:xfrm>
          <a:prstGeom prst="roundRect">
            <a:avLst>
              <a:gd name="adj" fmla="val 22727"/>
            </a:avLst>
          </a:prstGeom>
          <a:solidFill>
            <a:srgbClr val="1A3D6D"/>
          </a:solidFill>
          <a:ln/>
        </p:spPr>
      </p:sp>
      <p:sp>
        <p:nvSpPr>
          <p:cNvPr id="27" name="Text 22"/>
          <p:cNvSpPr/>
          <p:nvPr/>
        </p:nvSpPr>
        <p:spPr>
          <a:xfrm>
            <a:off x="6583680" y="3858768"/>
            <a:ext cx="402336" cy="402336"/>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3</a:t>
            </a:r>
            <a:endParaRPr lang="en-US" sz="1500" dirty="0"/>
          </a:p>
        </p:txBody>
      </p:sp>
      <p:sp>
        <p:nvSpPr>
          <p:cNvPr id="28" name="Text 23"/>
          <p:cNvSpPr/>
          <p:nvPr/>
        </p:nvSpPr>
        <p:spPr>
          <a:xfrm>
            <a:off x="7132320" y="3785616"/>
            <a:ext cx="4434840" cy="310896"/>
          </a:xfrm>
          <a:prstGeom prst="rect">
            <a:avLst/>
          </a:prstGeom>
          <a:noFill/>
          <a:ln/>
        </p:spPr>
        <p:txBody>
          <a:bodyPr wrap="square" rtlCol="0" anchor="ctr"/>
          <a:lstStyle/>
          <a:p>
            <a:pPr indent="0" marL="0">
              <a:buNone/>
            </a:pPr>
            <a:r>
              <a:rPr lang="en-US" sz="1300" b="1" dirty="0">
                <a:solidFill>
                  <a:srgbClr val="0F2547"/>
                </a:solidFill>
                <a:latin typeface="Apple SD Gothic Neo" pitchFamily="34" charset="0"/>
                <a:ea typeface="Apple SD Gothic Neo" pitchFamily="34" charset="-122"/>
                <a:cs typeface="Apple SD Gothic Neo" pitchFamily="34" charset="-120"/>
              </a:rPr>
              <a:t>데이터 준비 비용</a:t>
            </a:r>
            <a:endParaRPr lang="en-US" sz="1300" dirty="0"/>
          </a:p>
        </p:txBody>
      </p:sp>
      <p:sp>
        <p:nvSpPr>
          <p:cNvPr id="29" name="Text 24"/>
          <p:cNvSpPr/>
          <p:nvPr/>
        </p:nvSpPr>
        <p:spPr>
          <a:xfrm>
            <a:off x="7132320" y="4087368"/>
            <a:ext cx="4434840" cy="274320"/>
          </a:xfrm>
          <a:prstGeom prst="rect">
            <a:avLst/>
          </a:prstGeom>
          <a:noFill/>
          <a:ln/>
        </p:spPr>
        <p:txBody>
          <a:bodyPr wrap="square" rtlCol="0" anchor="ctr"/>
          <a:lstStyle/>
          <a:p>
            <a:pPr indent="0" marL="0">
              <a:buNone/>
            </a:pPr>
            <a:r>
              <a:rPr lang="en-US" sz="1050" dirty="0">
                <a:solidFill>
                  <a:srgbClr val="5F708A"/>
                </a:solidFill>
                <a:latin typeface="Apple SD Gothic Neo" pitchFamily="34" charset="0"/>
                <a:ea typeface="Apple SD Gothic Neo" pitchFamily="34" charset="-122"/>
                <a:cs typeface="Apple SD Gothic Neo" pitchFamily="34" charset="-120"/>
              </a:rPr>
              <a:t>미루면 부채가 계속 쌓임</a:t>
            </a:r>
            <a:endParaRPr lang="en-US" sz="1050" dirty="0"/>
          </a:p>
        </p:txBody>
      </p:sp>
      <p:sp>
        <p:nvSpPr>
          <p:cNvPr id="30" name="Shape 25"/>
          <p:cNvSpPr/>
          <p:nvPr/>
        </p:nvSpPr>
        <p:spPr>
          <a:xfrm>
            <a:off x="6400800" y="4526280"/>
            <a:ext cx="5257800" cy="713232"/>
          </a:xfrm>
          <a:prstGeom prst="roundRect">
            <a:avLst>
              <a:gd name="adj" fmla="val 11538"/>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31" name="Shape 26"/>
          <p:cNvSpPr/>
          <p:nvPr/>
        </p:nvSpPr>
        <p:spPr>
          <a:xfrm>
            <a:off x="6583680" y="4681728"/>
            <a:ext cx="402336" cy="402336"/>
          </a:xfrm>
          <a:prstGeom prst="roundRect">
            <a:avLst>
              <a:gd name="adj" fmla="val 22727"/>
            </a:avLst>
          </a:prstGeom>
          <a:solidFill>
            <a:srgbClr val="1A3D6D"/>
          </a:solidFill>
          <a:ln/>
        </p:spPr>
      </p:sp>
      <p:sp>
        <p:nvSpPr>
          <p:cNvPr id="32" name="Text 27"/>
          <p:cNvSpPr/>
          <p:nvPr/>
        </p:nvSpPr>
        <p:spPr>
          <a:xfrm>
            <a:off x="6583680" y="4681728"/>
            <a:ext cx="402336" cy="402336"/>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4</a:t>
            </a:r>
            <a:endParaRPr lang="en-US" sz="1500" dirty="0"/>
          </a:p>
        </p:txBody>
      </p:sp>
      <p:sp>
        <p:nvSpPr>
          <p:cNvPr id="33" name="Text 28"/>
          <p:cNvSpPr/>
          <p:nvPr/>
        </p:nvSpPr>
        <p:spPr>
          <a:xfrm>
            <a:off x="7132320" y="4608576"/>
            <a:ext cx="4434840" cy="310896"/>
          </a:xfrm>
          <a:prstGeom prst="rect">
            <a:avLst/>
          </a:prstGeom>
          <a:noFill/>
          <a:ln/>
        </p:spPr>
        <p:txBody>
          <a:bodyPr wrap="square" rtlCol="0" anchor="ctr"/>
          <a:lstStyle/>
          <a:p>
            <a:pPr indent="0" marL="0">
              <a:buNone/>
            </a:pPr>
            <a:r>
              <a:rPr lang="en-US" sz="1300" b="1" dirty="0">
                <a:solidFill>
                  <a:srgbClr val="0F2547"/>
                </a:solidFill>
                <a:latin typeface="Apple SD Gothic Neo" pitchFamily="34" charset="0"/>
                <a:ea typeface="Apple SD Gothic Neo" pitchFamily="34" charset="-122"/>
                <a:cs typeface="Apple SD Gothic Neo" pitchFamily="34" charset="-120"/>
              </a:rPr>
              <a:t>Shadow AI 확산</a:t>
            </a:r>
            <a:endParaRPr lang="en-US" sz="1300" dirty="0"/>
          </a:p>
        </p:txBody>
      </p:sp>
      <p:sp>
        <p:nvSpPr>
          <p:cNvPr id="34" name="Text 29"/>
          <p:cNvSpPr/>
          <p:nvPr/>
        </p:nvSpPr>
        <p:spPr>
          <a:xfrm>
            <a:off x="7132320" y="4910328"/>
            <a:ext cx="4434840" cy="274320"/>
          </a:xfrm>
          <a:prstGeom prst="rect">
            <a:avLst/>
          </a:prstGeom>
          <a:noFill/>
          <a:ln/>
        </p:spPr>
        <p:txBody>
          <a:bodyPr wrap="square" rtlCol="0" anchor="ctr"/>
          <a:lstStyle/>
          <a:p>
            <a:pPr indent="0" marL="0">
              <a:buNone/>
            </a:pPr>
            <a:r>
              <a:rPr lang="en-US" sz="1050" dirty="0">
                <a:solidFill>
                  <a:srgbClr val="5F708A"/>
                </a:solidFill>
                <a:latin typeface="Apple SD Gothic Neo" pitchFamily="34" charset="0"/>
                <a:ea typeface="Apple SD Gothic Neo" pitchFamily="34" charset="-122"/>
                <a:cs typeface="Apple SD Gothic Neo" pitchFamily="34" charset="-120"/>
              </a:rPr>
              <a:t>통제 밖 AI 사용이 이미 시작</a:t>
            </a:r>
            <a:endParaRPr lang="en-US" sz="1050" dirty="0"/>
          </a:p>
        </p:txBody>
      </p:sp>
      <p:sp>
        <p:nvSpPr>
          <p:cNvPr id="35" name="Text 30"/>
          <p:cNvSpPr/>
          <p:nvPr/>
        </p:nvSpPr>
        <p:spPr>
          <a:xfrm>
            <a:off x="548640" y="5989320"/>
            <a:ext cx="11109960" cy="365760"/>
          </a:xfrm>
          <a:prstGeom prst="rect">
            <a:avLst/>
          </a:prstGeom>
          <a:noFill/>
          <a:ln/>
        </p:spPr>
        <p:txBody>
          <a:bodyPr wrap="square" rtlCol="0" anchor="ctr"/>
          <a:lstStyle/>
          <a:p>
            <a:pPr algn="ctr" indent="0" marL="0">
              <a:buNone/>
            </a:pPr>
            <a:r>
              <a:rPr lang="en-US" sz="1250" b="1" dirty="0">
                <a:solidFill>
                  <a:srgbClr val="1A3D6D"/>
                </a:solidFill>
                <a:latin typeface="Apple SD Gothic Neo" pitchFamily="34" charset="0"/>
                <a:ea typeface="Apple SD Gothic Neo" pitchFamily="34" charset="-122"/>
                <a:cs typeface="Apple SD Gothic Neo" pitchFamily="34" charset="-120"/>
              </a:rPr>
              <a:t>이미 M365·GitHub·Fabric을 쓰고 있다면, '지금' 시작하기 가장 가까운 곳은 그 위에 얹히는 Azure입니다.</a:t>
            </a:r>
            <a:endParaRPr lang="en-US" sz="1250" dirty="0"/>
          </a:p>
        </p:txBody>
      </p:sp>
      <p:sp>
        <p:nvSpPr>
          <p:cNvPr id="36" name="Text 31"/>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37" name="Text 32"/>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4F8FB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2. 고객이 겪는 과제</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AI 도입을 막는 5개의 벽</a:t>
            </a:r>
            <a:endParaRPr lang="en-US" sz="3000" dirty="0"/>
          </a:p>
        </p:txBody>
      </p:sp>
      <p:sp>
        <p:nvSpPr>
          <p:cNvPr id="8" name="Shape 6"/>
          <p:cNvSpPr/>
          <p:nvPr/>
        </p:nvSpPr>
        <p:spPr>
          <a:xfrm>
            <a:off x="822960" y="1737360"/>
            <a:ext cx="10561320" cy="731520"/>
          </a:xfrm>
          <a:prstGeom prst="rect">
            <a:avLst/>
          </a:prstGeom>
          <a:solidFill>
            <a:srgbClr val="2F5B93"/>
          </a:solidFill>
          <a:ln/>
          <a:effectLst>
            <a:outerShdw sx="100000" sy="100000" kx="0" ky="0" algn="bl" rotWithShape="0" blurRad="50800" dist="12700" dir="5400000">
              <a:srgbClr val="1A2A44">
                <a:alpha val="10000"/>
              </a:srgbClr>
            </a:outerShdw>
          </a:effectLst>
        </p:spPr>
      </p:sp>
      <p:pic>
        <p:nvPicPr>
          <p:cNvPr id="9" name="Image 0" descr="preencoded.png">    </p:cNvPr>
          <p:cNvPicPr>
            <a:picLocks noChangeAspect="1"/>
          </p:cNvPicPr>
          <p:nvPr/>
        </p:nvPicPr>
        <p:blipFill>
          <a:blip r:embed="rId1"/>
          <a:stretch>
            <a:fillRect/>
          </a:stretch>
        </p:blipFill>
        <p:spPr>
          <a:xfrm>
            <a:off x="1115568" y="1911096"/>
            <a:ext cx="384048" cy="384048"/>
          </a:xfrm>
          <a:prstGeom prst="rect">
            <a:avLst/>
          </a:prstGeom>
        </p:spPr>
      </p:pic>
      <p:sp>
        <p:nvSpPr>
          <p:cNvPr id="10" name="Text 7"/>
          <p:cNvSpPr/>
          <p:nvPr/>
        </p:nvSpPr>
        <p:spPr>
          <a:xfrm>
            <a:off x="1783080" y="1737360"/>
            <a:ext cx="3017520" cy="731520"/>
          </a:xfrm>
          <a:prstGeom prst="rect">
            <a:avLst/>
          </a:prstGeom>
          <a:noFill/>
          <a:ln/>
        </p:spPr>
        <p:txBody>
          <a:bodyPr wrap="square" rtlCol="0" anchor="ctr"/>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데이터의 벽</a:t>
            </a:r>
            <a:endParaRPr lang="en-US" sz="1500" dirty="0"/>
          </a:p>
        </p:txBody>
      </p:sp>
      <p:sp>
        <p:nvSpPr>
          <p:cNvPr id="11" name="Shape 8"/>
          <p:cNvSpPr/>
          <p:nvPr/>
        </p:nvSpPr>
        <p:spPr>
          <a:xfrm>
            <a:off x="4800600" y="1901952"/>
            <a:ext cx="18288" cy="402336"/>
          </a:xfrm>
          <a:prstGeom prst="rect">
            <a:avLst/>
          </a:prstGeom>
          <a:solidFill>
            <a:srgbClr val="7AA5D6"/>
          </a:solidFill>
          <a:ln/>
        </p:spPr>
      </p:sp>
      <p:sp>
        <p:nvSpPr>
          <p:cNvPr id="12" name="Text 9"/>
          <p:cNvSpPr/>
          <p:nvPr/>
        </p:nvSpPr>
        <p:spPr>
          <a:xfrm>
            <a:off x="5029200" y="1737360"/>
            <a:ext cx="6080760" cy="731520"/>
          </a:xfrm>
          <a:prstGeom prst="rect">
            <a:avLst/>
          </a:prstGeom>
          <a:noFill/>
          <a:ln/>
        </p:spPr>
        <p:txBody>
          <a:bodyPr wrap="square" rtlCol="0" anchor="ctr"/>
          <a:lstStyle/>
          <a:p>
            <a:pPr indent="0" marL="0">
              <a:buNone/>
            </a:pPr>
            <a:r>
              <a:rPr lang="en-US" sz="1200" dirty="0">
                <a:solidFill>
                  <a:srgbClr val="DBE7F6"/>
                </a:solidFill>
                <a:latin typeface="Apple SD Gothic Neo" pitchFamily="34" charset="0"/>
                <a:ea typeface="Apple SD Gothic Neo" pitchFamily="34" charset="-122"/>
                <a:cs typeface="Apple SD Gothic Neo" pitchFamily="34" charset="-120"/>
              </a:rPr>
              <a:t>흩어진 데이터·사일로 — AI가 쓸 준비가 안 됨</a:t>
            </a:r>
            <a:endParaRPr lang="en-US" sz="1200" dirty="0"/>
          </a:p>
        </p:txBody>
      </p:sp>
      <p:sp>
        <p:nvSpPr>
          <p:cNvPr id="13" name="Shape 10"/>
          <p:cNvSpPr/>
          <p:nvPr/>
        </p:nvSpPr>
        <p:spPr>
          <a:xfrm>
            <a:off x="822960" y="2551176"/>
            <a:ext cx="10561320" cy="731520"/>
          </a:xfrm>
          <a:prstGeom prst="rect">
            <a:avLst/>
          </a:prstGeom>
          <a:solidFill>
            <a:srgbClr val="1A3D6D"/>
          </a:solidFill>
          <a:ln/>
          <a:effectLst>
            <a:outerShdw sx="100000" sy="100000" kx="0" ky="0" algn="bl" rotWithShape="0" blurRad="50800" dist="12700" dir="5400000">
              <a:srgbClr val="1A2A44">
                <a:alpha val="10000"/>
              </a:srgbClr>
            </a:outerShdw>
          </a:effectLst>
        </p:spPr>
      </p:sp>
      <p:pic>
        <p:nvPicPr>
          <p:cNvPr id="14" name="Image 1" descr="preencoded.png">    </p:cNvPr>
          <p:cNvPicPr>
            <a:picLocks noChangeAspect="1"/>
          </p:cNvPicPr>
          <p:nvPr/>
        </p:nvPicPr>
        <p:blipFill>
          <a:blip r:embed="rId2"/>
          <a:stretch>
            <a:fillRect/>
          </a:stretch>
        </p:blipFill>
        <p:spPr>
          <a:xfrm>
            <a:off x="1115568" y="2724912"/>
            <a:ext cx="384048" cy="384048"/>
          </a:xfrm>
          <a:prstGeom prst="rect">
            <a:avLst/>
          </a:prstGeom>
        </p:spPr>
      </p:pic>
      <p:sp>
        <p:nvSpPr>
          <p:cNvPr id="15" name="Text 11"/>
          <p:cNvSpPr/>
          <p:nvPr/>
        </p:nvSpPr>
        <p:spPr>
          <a:xfrm>
            <a:off x="1783080" y="2551176"/>
            <a:ext cx="3017520" cy="731520"/>
          </a:xfrm>
          <a:prstGeom prst="rect">
            <a:avLst/>
          </a:prstGeom>
          <a:noFill/>
          <a:ln/>
        </p:spPr>
        <p:txBody>
          <a:bodyPr wrap="square" rtlCol="0" anchor="ctr"/>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신뢰의 벽</a:t>
            </a:r>
            <a:endParaRPr lang="en-US" sz="1500" dirty="0"/>
          </a:p>
        </p:txBody>
      </p:sp>
      <p:sp>
        <p:nvSpPr>
          <p:cNvPr id="16" name="Shape 12"/>
          <p:cNvSpPr/>
          <p:nvPr/>
        </p:nvSpPr>
        <p:spPr>
          <a:xfrm>
            <a:off x="4800600" y="2715768"/>
            <a:ext cx="18288" cy="402336"/>
          </a:xfrm>
          <a:prstGeom prst="rect">
            <a:avLst/>
          </a:prstGeom>
          <a:solidFill>
            <a:srgbClr val="7AA5D6"/>
          </a:solidFill>
          <a:ln/>
        </p:spPr>
      </p:sp>
      <p:sp>
        <p:nvSpPr>
          <p:cNvPr id="17" name="Text 13"/>
          <p:cNvSpPr/>
          <p:nvPr/>
        </p:nvSpPr>
        <p:spPr>
          <a:xfrm>
            <a:off x="5029200" y="2551176"/>
            <a:ext cx="6080760" cy="731520"/>
          </a:xfrm>
          <a:prstGeom prst="rect">
            <a:avLst/>
          </a:prstGeom>
          <a:noFill/>
          <a:ln/>
        </p:spPr>
        <p:txBody>
          <a:bodyPr wrap="square" rtlCol="0" anchor="ctr"/>
          <a:lstStyle/>
          <a:p>
            <a:pPr indent="0" marL="0">
              <a:buNone/>
            </a:pPr>
            <a:r>
              <a:rPr lang="en-US" sz="1200" dirty="0">
                <a:solidFill>
                  <a:srgbClr val="DBE7F6"/>
                </a:solidFill>
                <a:latin typeface="Apple SD Gothic Neo" pitchFamily="34" charset="0"/>
                <a:ea typeface="Apple SD Gothic Neo" pitchFamily="34" charset="-122"/>
                <a:cs typeface="Apple SD Gothic Neo" pitchFamily="34" charset="-120"/>
              </a:rPr>
              <a:t>환각·보안·규제 — '믿고 맡길 수 있나'</a:t>
            </a:r>
            <a:endParaRPr lang="en-US" sz="1200" dirty="0"/>
          </a:p>
        </p:txBody>
      </p:sp>
      <p:sp>
        <p:nvSpPr>
          <p:cNvPr id="18" name="Shape 14"/>
          <p:cNvSpPr/>
          <p:nvPr/>
        </p:nvSpPr>
        <p:spPr>
          <a:xfrm>
            <a:off x="822960" y="3364992"/>
            <a:ext cx="10561320" cy="731520"/>
          </a:xfrm>
          <a:prstGeom prst="rect">
            <a:avLst/>
          </a:prstGeom>
          <a:solidFill>
            <a:srgbClr val="2F5B93"/>
          </a:solidFill>
          <a:ln/>
          <a:effectLst>
            <a:outerShdw sx="100000" sy="100000" kx="0" ky="0" algn="bl" rotWithShape="0" blurRad="50800" dist="12700" dir="5400000">
              <a:srgbClr val="1A2A44">
                <a:alpha val="10000"/>
              </a:srgbClr>
            </a:outerShdw>
          </a:effectLst>
        </p:spPr>
      </p:sp>
      <p:pic>
        <p:nvPicPr>
          <p:cNvPr id="19" name="Image 2" descr="preencoded.png">    </p:cNvPr>
          <p:cNvPicPr>
            <a:picLocks noChangeAspect="1"/>
          </p:cNvPicPr>
          <p:nvPr/>
        </p:nvPicPr>
        <p:blipFill>
          <a:blip r:embed="rId3"/>
          <a:stretch>
            <a:fillRect/>
          </a:stretch>
        </p:blipFill>
        <p:spPr>
          <a:xfrm>
            <a:off x="1115568" y="3538728"/>
            <a:ext cx="384048" cy="384048"/>
          </a:xfrm>
          <a:prstGeom prst="rect">
            <a:avLst/>
          </a:prstGeom>
        </p:spPr>
      </p:pic>
      <p:sp>
        <p:nvSpPr>
          <p:cNvPr id="20" name="Text 15"/>
          <p:cNvSpPr/>
          <p:nvPr/>
        </p:nvSpPr>
        <p:spPr>
          <a:xfrm>
            <a:off x="1783080" y="3364992"/>
            <a:ext cx="3017520" cy="731520"/>
          </a:xfrm>
          <a:prstGeom prst="rect">
            <a:avLst/>
          </a:prstGeom>
          <a:noFill/>
          <a:ln/>
        </p:spPr>
        <p:txBody>
          <a:bodyPr wrap="square" rtlCol="0" anchor="ctr"/>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통합의 벽</a:t>
            </a:r>
            <a:endParaRPr lang="en-US" sz="1500" dirty="0"/>
          </a:p>
        </p:txBody>
      </p:sp>
      <p:sp>
        <p:nvSpPr>
          <p:cNvPr id="21" name="Shape 16"/>
          <p:cNvSpPr/>
          <p:nvPr/>
        </p:nvSpPr>
        <p:spPr>
          <a:xfrm>
            <a:off x="4800600" y="3529584"/>
            <a:ext cx="18288" cy="402336"/>
          </a:xfrm>
          <a:prstGeom prst="rect">
            <a:avLst/>
          </a:prstGeom>
          <a:solidFill>
            <a:srgbClr val="7AA5D6"/>
          </a:solidFill>
          <a:ln/>
        </p:spPr>
      </p:sp>
      <p:sp>
        <p:nvSpPr>
          <p:cNvPr id="22" name="Text 17"/>
          <p:cNvSpPr/>
          <p:nvPr/>
        </p:nvSpPr>
        <p:spPr>
          <a:xfrm>
            <a:off x="5029200" y="3364992"/>
            <a:ext cx="6080760" cy="731520"/>
          </a:xfrm>
          <a:prstGeom prst="rect">
            <a:avLst/>
          </a:prstGeom>
          <a:noFill/>
          <a:ln/>
        </p:spPr>
        <p:txBody>
          <a:bodyPr wrap="square" rtlCol="0" anchor="ctr"/>
          <a:lstStyle/>
          <a:p>
            <a:pPr indent="0" marL="0">
              <a:buNone/>
            </a:pPr>
            <a:r>
              <a:rPr lang="en-US" sz="1200" dirty="0">
                <a:solidFill>
                  <a:srgbClr val="DBE7F6"/>
                </a:solidFill>
                <a:latin typeface="Apple SD Gothic Neo" pitchFamily="34" charset="0"/>
                <a:ea typeface="Apple SD Gothic Neo" pitchFamily="34" charset="-122"/>
                <a:cs typeface="Apple SD Gothic Neo" pitchFamily="34" charset="-120"/>
              </a:rPr>
              <a:t>기존 시스템·업무와 어떻게 연결하나</a:t>
            </a:r>
            <a:endParaRPr lang="en-US" sz="1200" dirty="0"/>
          </a:p>
        </p:txBody>
      </p:sp>
      <p:sp>
        <p:nvSpPr>
          <p:cNvPr id="23" name="Shape 18"/>
          <p:cNvSpPr/>
          <p:nvPr/>
        </p:nvSpPr>
        <p:spPr>
          <a:xfrm>
            <a:off x="822960" y="4178808"/>
            <a:ext cx="10561320" cy="731520"/>
          </a:xfrm>
          <a:prstGeom prst="rect">
            <a:avLst/>
          </a:prstGeom>
          <a:solidFill>
            <a:srgbClr val="1A3D6D"/>
          </a:solidFill>
          <a:ln/>
          <a:effectLst>
            <a:outerShdw sx="100000" sy="100000" kx="0" ky="0" algn="bl" rotWithShape="0" blurRad="50800" dist="12700" dir="5400000">
              <a:srgbClr val="1A2A44">
                <a:alpha val="10000"/>
              </a:srgbClr>
            </a:outerShdw>
          </a:effectLst>
        </p:spPr>
      </p:sp>
      <p:pic>
        <p:nvPicPr>
          <p:cNvPr id="24" name="Image 3" descr="preencoded.png">    </p:cNvPr>
          <p:cNvPicPr>
            <a:picLocks noChangeAspect="1"/>
          </p:cNvPicPr>
          <p:nvPr/>
        </p:nvPicPr>
        <p:blipFill>
          <a:blip r:embed="rId4"/>
          <a:stretch>
            <a:fillRect/>
          </a:stretch>
        </p:blipFill>
        <p:spPr>
          <a:xfrm>
            <a:off x="1115568" y="4352544"/>
            <a:ext cx="384048" cy="384048"/>
          </a:xfrm>
          <a:prstGeom prst="rect">
            <a:avLst/>
          </a:prstGeom>
        </p:spPr>
      </p:pic>
      <p:sp>
        <p:nvSpPr>
          <p:cNvPr id="25" name="Text 19"/>
          <p:cNvSpPr/>
          <p:nvPr/>
        </p:nvSpPr>
        <p:spPr>
          <a:xfrm>
            <a:off x="1783080" y="4178808"/>
            <a:ext cx="3017520" cy="731520"/>
          </a:xfrm>
          <a:prstGeom prst="rect">
            <a:avLst/>
          </a:prstGeom>
          <a:noFill/>
          <a:ln/>
        </p:spPr>
        <p:txBody>
          <a:bodyPr wrap="square" rtlCol="0" anchor="ctr"/>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인재·역량의 벽</a:t>
            </a:r>
            <a:endParaRPr lang="en-US" sz="1500" dirty="0"/>
          </a:p>
        </p:txBody>
      </p:sp>
      <p:sp>
        <p:nvSpPr>
          <p:cNvPr id="26" name="Shape 20"/>
          <p:cNvSpPr/>
          <p:nvPr/>
        </p:nvSpPr>
        <p:spPr>
          <a:xfrm>
            <a:off x="4800600" y="4343400"/>
            <a:ext cx="18288" cy="402336"/>
          </a:xfrm>
          <a:prstGeom prst="rect">
            <a:avLst/>
          </a:prstGeom>
          <a:solidFill>
            <a:srgbClr val="7AA5D6"/>
          </a:solidFill>
          <a:ln/>
        </p:spPr>
      </p:sp>
      <p:sp>
        <p:nvSpPr>
          <p:cNvPr id="27" name="Text 21"/>
          <p:cNvSpPr/>
          <p:nvPr/>
        </p:nvSpPr>
        <p:spPr>
          <a:xfrm>
            <a:off x="5029200" y="4178808"/>
            <a:ext cx="6080760" cy="731520"/>
          </a:xfrm>
          <a:prstGeom prst="rect">
            <a:avLst/>
          </a:prstGeom>
          <a:noFill/>
          <a:ln/>
        </p:spPr>
        <p:txBody>
          <a:bodyPr wrap="square" rtlCol="0" anchor="ctr"/>
          <a:lstStyle/>
          <a:p>
            <a:pPr indent="0" marL="0">
              <a:buNone/>
            </a:pPr>
            <a:r>
              <a:rPr lang="en-US" sz="1200" dirty="0">
                <a:solidFill>
                  <a:srgbClr val="DBE7F6"/>
                </a:solidFill>
                <a:latin typeface="Apple SD Gothic Neo" pitchFamily="34" charset="0"/>
                <a:ea typeface="Apple SD Gothic Neo" pitchFamily="34" charset="-122"/>
                <a:cs typeface="Apple SD Gothic Neo" pitchFamily="34" charset="-120"/>
              </a:rPr>
              <a:t>만들 사람도, 운영할 체계도 부족</a:t>
            </a:r>
            <a:endParaRPr lang="en-US" sz="1200" dirty="0"/>
          </a:p>
        </p:txBody>
      </p:sp>
      <p:sp>
        <p:nvSpPr>
          <p:cNvPr id="28" name="Shape 22"/>
          <p:cNvSpPr/>
          <p:nvPr/>
        </p:nvSpPr>
        <p:spPr>
          <a:xfrm>
            <a:off x="822960" y="4992624"/>
            <a:ext cx="10561320" cy="731520"/>
          </a:xfrm>
          <a:prstGeom prst="rect">
            <a:avLst/>
          </a:prstGeom>
          <a:solidFill>
            <a:srgbClr val="2F5B93"/>
          </a:solidFill>
          <a:ln/>
          <a:effectLst>
            <a:outerShdw sx="100000" sy="100000" kx="0" ky="0" algn="bl" rotWithShape="0" blurRad="50800" dist="12700" dir="5400000">
              <a:srgbClr val="1A2A44">
                <a:alpha val="10000"/>
              </a:srgbClr>
            </a:outerShdw>
          </a:effectLst>
        </p:spPr>
      </p:sp>
      <p:pic>
        <p:nvPicPr>
          <p:cNvPr id="29" name="Image 4" descr="preencoded.png">    </p:cNvPr>
          <p:cNvPicPr>
            <a:picLocks noChangeAspect="1"/>
          </p:cNvPicPr>
          <p:nvPr/>
        </p:nvPicPr>
        <p:blipFill>
          <a:blip r:embed="rId5"/>
          <a:stretch>
            <a:fillRect/>
          </a:stretch>
        </p:blipFill>
        <p:spPr>
          <a:xfrm>
            <a:off x="1115568" y="5166360"/>
            <a:ext cx="384048" cy="384048"/>
          </a:xfrm>
          <a:prstGeom prst="rect">
            <a:avLst/>
          </a:prstGeom>
        </p:spPr>
      </p:pic>
      <p:sp>
        <p:nvSpPr>
          <p:cNvPr id="30" name="Text 23"/>
          <p:cNvSpPr/>
          <p:nvPr/>
        </p:nvSpPr>
        <p:spPr>
          <a:xfrm>
            <a:off x="1783080" y="4992624"/>
            <a:ext cx="3017520" cy="731520"/>
          </a:xfrm>
          <a:prstGeom prst="rect">
            <a:avLst/>
          </a:prstGeom>
          <a:noFill/>
          <a:ln/>
        </p:spPr>
        <p:txBody>
          <a:bodyPr wrap="square" rtlCol="0" anchor="ctr"/>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확장의 벽</a:t>
            </a:r>
            <a:endParaRPr lang="en-US" sz="1500" dirty="0"/>
          </a:p>
        </p:txBody>
      </p:sp>
      <p:sp>
        <p:nvSpPr>
          <p:cNvPr id="31" name="Shape 24"/>
          <p:cNvSpPr/>
          <p:nvPr/>
        </p:nvSpPr>
        <p:spPr>
          <a:xfrm>
            <a:off x="4800600" y="5157216"/>
            <a:ext cx="18288" cy="402336"/>
          </a:xfrm>
          <a:prstGeom prst="rect">
            <a:avLst/>
          </a:prstGeom>
          <a:solidFill>
            <a:srgbClr val="7AA5D6"/>
          </a:solidFill>
          <a:ln/>
        </p:spPr>
      </p:sp>
      <p:sp>
        <p:nvSpPr>
          <p:cNvPr id="32" name="Text 25"/>
          <p:cNvSpPr/>
          <p:nvPr/>
        </p:nvSpPr>
        <p:spPr>
          <a:xfrm>
            <a:off x="5029200" y="4992624"/>
            <a:ext cx="6080760" cy="731520"/>
          </a:xfrm>
          <a:prstGeom prst="rect">
            <a:avLst/>
          </a:prstGeom>
          <a:noFill/>
          <a:ln/>
        </p:spPr>
        <p:txBody>
          <a:bodyPr wrap="square" rtlCol="0" anchor="ctr"/>
          <a:lstStyle/>
          <a:p>
            <a:pPr indent="0" marL="0">
              <a:buNone/>
            </a:pPr>
            <a:r>
              <a:rPr lang="en-US" sz="1200" dirty="0">
                <a:solidFill>
                  <a:srgbClr val="DBE7F6"/>
                </a:solidFill>
                <a:latin typeface="Apple SD Gothic Neo" pitchFamily="34" charset="0"/>
                <a:ea typeface="Apple SD Gothic Neo" pitchFamily="34" charset="-122"/>
                <a:cs typeface="Apple SD Gothic Neo" pitchFamily="34" charset="-120"/>
              </a:rPr>
              <a:t>PoC는 됐지만 전사 확장이 안 됨</a:t>
            </a:r>
            <a:endParaRPr lang="en-US" sz="1200" dirty="0"/>
          </a:p>
        </p:txBody>
      </p:sp>
      <p:sp>
        <p:nvSpPr>
          <p:cNvPr id="33" name="Text 26"/>
          <p:cNvSpPr/>
          <p:nvPr/>
        </p:nvSpPr>
        <p:spPr>
          <a:xfrm>
            <a:off x="822960" y="5897880"/>
            <a:ext cx="10561320" cy="457200"/>
          </a:xfrm>
          <a:prstGeom prst="rect">
            <a:avLst/>
          </a:prstGeom>
          <a:noFill/>
          <a:ln/>
        </p:spPr>
        <p:txBody>
          <a:bodyPr wrap="square" rtlCol="0" anchor="ctr"/>
          <a:lstStyle/>
          <a:p>
            <a:pPr algn="ctr" indent="0" marL="0">
              <a:buNone/>
            </a:pPr>
            <a:r>
              <a:rPr lang="en-US" sz="1350" b="1" dirty="0">
                <a:solidFill>
                  <a:srgbClr val="1A3D6D"/>
                </a:solidFill>
                <a:latin typeface="Apple SD Gothic Neo" pitchFamily="34" charset="0"/>
                <a:ea typeface="Apple SD Gothic Neo" pitchFamily="34" charset="-122"/>
                <a:cs typeface="Apple SD Gothic Neo" pitchFamily="34" charset="-120"/>
              </a:rPr>
              <a:t>이 다섯 개의 벽을 하나의 스택에서 넘을 수 있는가 — 다음 장부터 Azure가 각 벽에 어떻게 답하는지 봅니다.</a:t>
            </a:r>
            <a:endParaRPr lang="en-US" sz="1350" dirty="0"/>
          </a:p>
        </p:txBody>
      </p:sp>
      <p:sp>
        <p:nvSpPr>
          <p:cNvPr id="34" name="Text 27"/>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35" name="Text 28"/>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4F8FB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3. 왜 AZURE인가</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신뢰의 4대 근거</a:t>
            </a:r>
            <a:endParaRPr lang="en-US" sz="3000" dirty="0"/>
          </a:p>
        </p:txBody>
      </p:sp>
      <p:sp>
        <p:nvSpPr>
          <p:cNvPr id="8" name="Shape 6"/>
          <p:cNvSpPr/>
          <p:nvPr/>
        </p:nvSpPr>
        <p:spPr>
          <a:xfrm>
            <a:off x="548640" y="1828800"/>
            <a:ext cx="5486400" cy="2084832"/>
          </a:xfrm>
          <a:prstGeom prst="roundRect">
            <a:avLst>
              <a:gd name="adj" fmla="val 3947"/>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9" name="Shape 7"/>
          <p:cNvSpPr/>
          <p:nvPr/>
        </p:nvSpPr>
        <p:spPr>
          <a:xfrm>
            <a:off x="868680" y="2194560"/>
            <a:ext cx="914400" cy="914400"/>
          </a:xfrm>
          <a:prstGeom prst="ellipse">
            <a:avLst/>
          </a:prstGeom>
          <a:solidFill>
            <a:srgbClr val="DBE7F6"/>
          </a:solidFill>
          <a:ln/>
        </p:spPr>
      </p:sp>
      <p:pic>
        <p:nvPicPr>
          <p:cNvPr id="10" name="Image 0" descr="preencoded.png">    </p:cNvPr>
          <p:cNvPicPr>
            <a:picLocks noChangeAspect="1"/>
          </p:cNvPicPr>
          <p:nvPr/>
        </p:nvPicPr>
        <p:blipFill>
          <a:blip r:embed="rId1"/>
          <a:stretch>
            <a:fillRect/>
          </a:stretch>
        </p:blipFill>
        <p:spPr>
          <a:xfrm>
            <a:off x="1106424" y="2432304"/>
            <a:ext cx="438912" cy="438912"/>
          </a:xfrm>
          <a:prstGeom prst="rect">
            <a:avLst/>
          </a:prstGeom>
        </p:spPr>
      </p:pic>
      <p:sp>
        <p:nvSpPr>
          <p:cNvPr id="11" name="Text 8"/>
          <p:cNvSpPr/>
          <p:nvPr/>
        </p:nvSpPr>
        <p:spPr>
          <a:xfrm>
            <a:off x="5212080" y="2057400"/>
            <a:ext cx="548640" cy="548640"/>
          </a:xfrm>
          <a:prstGeom prst="rect">
            <a:avLst/>
          </a:prstGeom>
          <a:noFill/>
          <a:ln/>
        </p:spPr>
        <p:txBody>
          <a:bodyPr wrap="square" rtlCol="0" anchor="ctr"/>
          <a:lstStyle/>
          <a:p>
            <a:pPr algn="ctr" indent="0" marL="0">
              <a:buNone/>
            </a:pPr>
            <a:r>
              <a:rPr lang="en-US" sz="3000" b="1" dirty="0">
                <a:solidFill>
                  <a:srgbClr val="7AA5D6"/>
                </a:solidFill>
                <a:latin typeface="Apple SD Gothic Neo" pitchFamily="34" charset="0"/>
                <a:ea typeface="Apple SD Gothic Neo" pitchFamily="34" charset="-122"/>
                <a:cs typeface="Apple SD Gothic Neo" pitchFamily="34" charset="-120"/>
              </a:rPr>
              <a:t>1</a:t>
            </a:r>
            <a:endParaRPr lang="en-US" sz="3000" dirty="0"/>
          </a:p>
        </p:txBody>
      </p:sp>
      <p:sp>
        <p:nvSpPr>
          <p:cNvPr id="12" name="Text 9"/>
          <p:cNvSpPr/>
          <p:nvPr/>
        </p:nvSpPr>
        <p:spPr>
          <a:xfrm>
            <a:off x="1965960" y="2212848"/>
            <a:ext cx="3474720" cy="457200"/>
          </a:xfrm>
          <a:prstGeom prst="rect">
            <a:avLst/>
          </a:prstGeom>
          <a:noFill/>
          <a:ln/>
        </p:spPr>
        <p:txBody>
          <a:bodyPr wrap="square" rtlCol="0" anchor="ctr"/>
          <a:lstStyle/>
          <a:p>
            <a:pPr indent="0" marL="0">
              <a:buNone/>
            </a:pPr>
            <a:r>
              <a:rPr lang="en-US" sz="1800" b="1" dirty="0">
                <a:solidFill>
                  <a:srgbClr val="0F2547"/>
                </a:solidFill>
                <a:latin typeface="Apple SD Gothic Neo" pitchFamily="34" charset="0"/>
                <a:ea typeface="Apple SD Gothic Neo" pitchFamily="34" charset="-122"/>
                <a:cs typeface="Apple SD Gothic Neo" pitchFamily="34" charset="-120"/>
              </a:rPr>
              <a:t>AI 리더십</a:t>
            </a:r>
            <a:endParaRPr lang="en-US" sz="1800" dirty="0"/>
          </a:p>
        </p:txBody>
      </p:sp>
      <p:sp>
        <p:nvSpPr>
          <p:cNvPr id="13" name="Text 10"/>
          <p:cNvSpPr/>
          <p:nvPr/>
        </p:nvSpPr>
        <p:spPr>
          <a:xfrm>
            <a:off x="1965960" y="2697480"/>
            <a:ext cx="3794760" cy="1188720"/>
          </a:xfrm>
          <a:prstGeom prst="rect">
            <a:avLst/>
          </a:prstGeom>
          <a:noFill/>
          <a:ln/>
        </p:spPr>
        <p:txBody>
          <a:bodyPr wrap="square" rtlCol="0" anchor="t"/>
          <a:lstStyle/>
          <a:p>
            <a:pPr indent="0" marL="0">
              <a:lnSpc>
                <a:spcPct val="118000"/>
              </a:lnSpc>
              <a:buNone/>
            </a:pPr>
            <a:r>
              <a:rPr lang="en-US" sz="1200" dirty="0">
                <a:solidFill>
                  <a:srgbClr val="5F708A"/>
                </a:solidFill>
                <a:latin typeface="Apple SD Gothic Neo" pitchFamily="34" charset="0"/>
                <a:ea typeface="Apple SD Gothic Neo" pitchFamily="34" charset="-122"/>
                <a:cs typeface="Apple SD Gothic Neo" pitchFamily="34" charset="-120"/>
              </a:rPr>
              <a:t>프론티어 모델(OpenAI)부터 오픈 모델까지 — Microsoft Foundry 모델 카탈로그에서 안전하게 선택·운영</a:t>
            </a:r>
            <a:endParaRPr lang="en-US" sz="1200" dirty="0"/>
          </a:p>
        </p:txBody>
      </p:sp>
      <p:sp>
        <p:nvSpPr>
          <p:cNvPr id="14" name="Shape 11"/>
          <p:cNvSpPr/>
          <p:nvPr/>
        </p:nvSpPr>
        <p:spPr>
          <a:xfrm>
            <a:off x="6172200" y="1828800"/>
            <a:ext cx="5486400" cy="2084832"/>
          </a:xfrm>
          <a:prstGeom prst="roundRect">
            <a:avLst>
              <a:gd name="adj" fmla="val 3947"/>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5" name="Shape 12"/>
          <p:cNvSpPr/>
          <p:nvPr/>
        </p:nvSpPr>
        <p:spPr>
          <a:xfrm>
            <a:off x="6492240" y="2194560"/>
            <a:ext cx="914400" cy="914400"/>
          </a:xfrm>
          <a:prstGeom prst="ellipse">
            <a:avLst/>
          </a:prstGeom>
          <a:solidFill>
            <a:srgbClr val="DBE7F6"/>
          </a:solidFill>
          <a:ln/>
        </p:spPr>
      </p:sp>
      <p:pic>
        <p:nvPicPr>
          <p:cNvPr id="16" name="Image 1" descr="preencoded.png">    </p:cNvPr>
          <p:cNvPicPr>
            <a:picLocks noChangeAspect="1"/>
          </p:cNvPicPr>
          <p:nvPr/>
        </p:nvPicPr>
        <p:blipFill>
          <a:blip r:embed="rId2"/>
          <a:stretch>
            <a:fillRect/>
          </a:stretch>
        </p:blipFill>
        <p:spPr>
          <a:xfrm>
            <a:off x="6729984" y="2432304"/>
            <a:ext cx="438912" cy="438912"/>
          </a:xfrm>
          <a:prstGeom prst="rect">
            <a:avLst/>
          </a:prstGeom>
        </p:spPr>
      </p:pic>
      <p:sp>
        <p:nvSpPr>
          <p:cNvPr id="17" name="Text 13"/>
          <p:cNvSpPr/>
          <p:nvPr/>
        </p:nvSpPr>
        <p:spPr>
          <a:xfrm>
            <a:off x="10835640" y="2057400"/>
            <a:ext cx="548640" cy="548640"/>
          </a:xfrm>
          <a:prstGeom prst="rect">
            <a:avLst/>
          </a:prstGeom>
          <a:noFill/>
          <a:ln/>
        </p:spPr>
        <p:txBody>
          <a:bodyPr wrap="square" rtlCol="0" anchor="ctr"/>
          <a:lstStyle/>
          <a:p>
            <a:pPr algn="ctr" indent="0" marL="0">
              <a:buNone/>
            </a:pPr>
            <a:r>
              <a:rPr lang="en-US" sz="3000" b="1" dirty="0">
                <a:solidFill>
                  <a:srgbClr val="7AA5D6"/>
                </a:solidFill>
                <a:latin typeface="Apple SD Gothic Neo" pitchFamily="34" charset="0"/>
                <a:ea typeface="Apple SD Gothic Neo" pitchFamily="34" charset="-122"/>
                <a:cs typeface="Apple SD Gothic Neo" pitchFamily="34" charset="-120"/>
              </a:rPr>
              <a:t>2</a:t>
            </a:r>
            <a:endParaRPr lang="en-US" sz="3000" dirty="0"/>
          </a:p>
        </p:txBody>
      </p:sp>
      <p:sp>
        <p:nvSpPr>
          <p:cNvPr id="18" name="Text 14"/>
          <p:cNvSpPr/>
          <p:nvPr/>
        </p:nvSpPr>
        <p:spPr>
          <a:xfrm>
            <a:off x="7589520" y="2212848"/>
            <a:ext cx="3474720" cy="457200"/>
          </a:xfrm>
          <a:prstGeom prst="rect">
            <a:avLst/>
          </a:prstGeom>
          <a:noFill/>
          <a:ln/>
        </p:spPr>
        <p:txBody>
          <a:bodyPr wrap="square" rtlCol="0" anchor="ctr"/>
          <a:lstStyle/>
          <a:p>
            <a:pPr indent="0" marL="0">
              <a:buNone/>
            </a:pPr>
            <a:r>
              <a:rPr lang="en-US" sz="1800" b="1" dirty="0">
                <a:solidFill>
                  <a:srgbClr val="0F2547"/>
                </a:solidFill>
                <a:latin typeface="Apple SD Gothic Neo" pitchFamily="34" charset="0"/>
                <a:ea typeface="Apple SD Gothic Neo" pitchFamily="34" charset="-122"/>
                <a:cs typeface="Apple SD Gothic Neo" pitchFamily="34" charset="-120"/>
              </a:rPr>
              <a:t>Responsible AI</a:t>
            </a:r>
            <a:endParaRPr lang="en-US" sz="1800" dirty="0"/>
          </a:p>
        </p:txBody>
      </p:sp>
      <p:sp>
        <p:nvSpPr>
          <p:cNvPr id="19" name="Text 15"/>
          <p:cNvSpPr/>
          <p:nvPr/>
        </p:nvSpPr>
        <p:spPr>
          <a:xfrm>
            <a:off x="7589520" y="2697480"/>
            <a:ext cx="3794760" cy="1188720"/>
          </a:xfrm>
          <a:prstGeom prst="rect">
            <a:avLst/>
          </a:prstGeom>
          <a:noFill/>
          <a:ln/>
        </p:spPr>
        <p:txBody>
          <a:bodyPr wrap="square" rtlCol="0" anchor="t"/>
          <a:lstStyle/>
          <a:p>
            <a:pPr indent="0" marL="0">
              <a:lnSpc>
                <a:spcPct val="118000"/>
              </a:lnSpc>
              <a:buNone/>
            </a:pPr>
            <a:r>
              <a:rPr lang="en-US" sz="1200" dirty="0">
                <a:solidFill>
                  <a:srgbClr val="5F708A"/>
                </a:solidFill>
                <a:latin typeface="Apple SD Gothic Neo" pitchFamily="34" charset="0"/>
                <a:ea typeface="Apple SD Gothic Neo" pitchFamily="34" charset="-122"/>
                <a:cs typeface="Apple SD Gothic Neo" pitchFamily="34" charset="-120"/>
              </a:rPr>
              <a:t>설계부터 내장된 책임·안전 — Content Safety · Entra · Purview · Defender</a:t>
            </a:r>
            <a:endParaRPr lang="en-US" sz="1200" dirty="0"/>
          </a:p>
        </p:txBody>
      </p:sp>
      <p:sp>
        <p:nvSpPr>
          <p:cNvPr id="20" name="Shape 16"/>
          <p:cNvSpPr/>
          <p:nvPr/>
        </p:nvSpPr>
        <p:spPr>
          <a:xfrm>
            <a:off x="548640" y="4041648"/>
            <a:ext cx="5486400" cy="2084832"/>
          </a:xfrm>
          <a:prstGeom prst="roundRect">
            <a:avLst>
              <a:gd name="adj" fmla="val 3947"/>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1" name="Shape 17"/>
          <p:cNvSpPr/>
          <p:nvPr/>
        </p:nvSpPr>
        <p:spPr>
          <a:xfrm>
            <a:off x="868680" y="4407408"/>
            <a:ext cx="914400" cy="914400"/>
          </a:xfrm>
          <a:prstGeom prst="ellipse">
            <a:avLst/>
          </a:prstGeom>
          <a:solidFill>
            <a:srgbClr val="DBE7F6"/>
          </a:solidFill>
          <a:ln/>
        </p:spPr>
      </p:sp>
      <p:pic>
        <p:nvPicPr>
          <p:cNvPr id="22" name="Image 2" descr="preencoded.png">    </p:cNvPr>
          <p:cNvPicPr>
            <a:picLocks noChangeAspect="1"/>
          </p:cNvPicPr>
          <p:nvPr/>
        </p:nvPicPr>
        <p:blipFill>
          <a:blip r:embed="rId3"/>
          <a:stretch>
            <a:fillRect/>
          </a:stretch>
        </p:blipFill>
        <p:spPr>
          <a:xfrm>
            <a:off x="1106424" y="4645152"/>
            <a:ext cx="438912" cy="438912"/>
          </a:xfrm>
          <a:prstGeom prst="rect">
            <a:avLst/>
          </a:prstGeom>
        </p:spPr>
      </p:pic>
      <p:sp>
        <p:nvSpPr>
          <p:cNvPr id="23" name="Text 18"/>
          <p:cNvSpPr/>
          <p:nvPr/>
        </p:nvSpPr>
        <p:spPr>
          <a:xfrm>
            <a:off x="5212080" y="4270248"/>
            <a:ext cx="548640" cy="548640"/>
          </a:xfrm>
          <a:prstGeom prst="rect">
            <a:avLst/>
          </a:prstGeom>
          <a:noFill/>
          <a:ln/>
        </p:spPr>
        <p:txBody>
          <a:bodyPr wrap="square" rtlCol="0" anchor="ctr"/>
          <a:lstStyle/>
          <a:p>
            <a:pPr algn="ctr" indent="0" marL="0">
              <a:buNone/>
            </a:pPr>
            <a:r>
              <a:rPr lang="en-US" sz="3000" b="1" dirty="0">
                <a:solidFill>
                  <a:srgbClr val="7AA5D6"/>
                </a:solidFill>
                <a:latin typeface="Apple SD Gothic Neo" pitchFamily="34" charset="0"/>
                <a:ea typeface="Apple SD Gothic Neo" pitchFamily="34" charset="-122"/>
                <a:cs typeface="Apple SD Gothic Neo" pitchFamily="34" charset="-120"/>
              </a:rPr>
              <a:t>3</a:t>
            </a:r>
            <a:endParaRPr lang="en-US" sz="3000" dirty="0"/>
          </a:p>
        </p:txBody>
      </p:sp>
      <p:sp>
        <p:nvSpPr>
          <p:cNvPr id="24" name="Text 19"/>
          <p:cNvSpPr/>
          <p:nvPr/>
        </p:nvSpPr>
        <p:spPr>
          <a:xfrm>
            <a:off x="1965960" y="4425696"/>
            <a:ext cx="3474720" cy="457200"/>
          </a:xfrm>
          <a:prstGeom prst="rect">
            <a:avLst/>
          </a:prstGeom>
          <a:noFill/>
          <a:ln/>
        </p:spPr>
        <p:txBody>
          <a:bodyPr wrap="square" rtlCol="0" anchor="ctr"/>
          <a:lstStyle/>
          <a:p>
            <a:pPr indent="0" marL="0">
              <a:buNone/>
            </a:pPr>
            <a:r>
              <a:rPr lang="en-US" sz="1800" b="1" dirty="0">
                <a:solidFill>
                  <a:srgbClr val="0F2547"/>
                </a:solidFill>
                <a:latin typeface="Apple SD Gothic Neo" pitchFamily="34" charset="0"/>
                <a:ea typeface="Apple SD Gothic Neo" pitchFamily="34" charset="-122"/>
                <a:cs typeface="Apple SD Gothic Neo" pitchFamily="34" charset="-120"/>
              </a:rPr>
              <a:t>End-to-End 완결 스택</a:t>
            </a:r>
            <a:endParaRPr lang="en-US" sz="1800" dirty="0"/>
          </a:p>
        </p:txBody>
      </p:sp>
      <p:sp>
        <p:nvSpPr>
          <p:cNvPr id="25" name="Text 20"/>
          <p:cNvSpPr/>
          <p:nvPr/>
        </p:nvSpPr>
        <p:spPr>
          <a:xfrm>
            <a:off x="1965960" y="4910328"/>
            <a:ext cx="3794760" cy="1188720"/>
          </a:xfrm>
          <a:prstGeom prst="rect">
            <a:avLst/>
          </a:prstGeom>
          <a:noFill/>
          <a:ln/>
        </p:spPr>
        <p:txBody>
          <a:bodyPr wrap="square" rtlCol="0" anchor="t"/>
          <a:lstStyle/>
          <a:p>
            <a:pPr indent="0" marL="0">
              <a:lnSpc>
                <a:spcPct val="118000"/>
              </a:lnSpc>
              <a:buNone/>
            </a:pPr>
            <a:r>
              <a:rPr lang="en-US" sz="1200" dirty="0">
                <a:solidFill>
                  <a:srgbClr val="5F708A"/>
                </a:solidFill>
                <a:latin typeface="Apple SD Gothic Neo" pitchFamily="34" charset="0"/>
                <a:ea typeface="Apple SD Gothic Neo" pitchFamily="34" charset="-122"/>
                <a:cs typeface="Apple SD Gothic Neo" pitchFamily="34" charset="-120"/>
              </a:rPr>
              <a:t>데이터(Fabric·OneLake) → 에이전트(Foundry) → 운영(Monitor)까지 하나의 스택에서</a:t>
            </a:r>
            <a:endParaRPr lang="en-US" sz="1200" dirty="0"/>
          </a:p>
        </p:txBody>
      </p:sp>
      <p:sp>
        <p:nvSpPr>
          <p:cNvPr id="26" name="Shape 21"/>
          <p:cNvSpPr/>
          <p:nvPr/>
        </p:nvSpPr>
        <p:spPr>
          <a:xfrm>
            <a:off x="6172200" y="4041648"/>
            <a:ext cx="5486400" cy="2084832"/>
          </a:xfrm>
          <a:prstGeom prst="roundRect">
            <a:avLst>
              <a:gd name="adj" fmla="val 3947"/>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7" name="Shape 22"/>
          <p:cNvSpPr/>
          <p:nvPr/>
        </p:nvSpPr>
        <p:spPr>
          <a:xfrm>
            <a:off x="6492240" y="4407408"/>
            <a:ext cx="914400" cy="914400"/>
          </a:xfrm>
          <a:prstGeom prst="ellipse">
            <a:avLst/>
          </a:prstGeom>
          <a:solidFill>
            <a:srgbClr val="DBE7F6"/>
          </a:solidFill>
          <a:ln/>
        </p:spPr>
      </p:sp>
      <p:pic>
        <p:nvPicPr>
          <p:cNvPr id="28" name="Image 3" descr="preencoded.png">    </p:cNvPr>
          <p:cNvPicPr>
            <a:picLocks noChangeAspect="1"/>
          </p:cNvPicPr>
          <p:nvPr/>
        </p:nvPicPr>
        <p:blipFill>
          <a:blip r:embed="rId4"/>
          <a:stretch>
            <a:fillRect/>
          </a:stretch>
        </p:blipFill>
        <p:spPr>
          <a:xfrm>
            <a:off x="6729984" y="4645152"/>
            <a:ext cx="438912" cy="438912"/>
          </a:xfrm>
          <a:prstGeom prst="rect">
            <a:avLst/>
          </a:prstGeom>
        </p:spPr>
      </p:pic>
      <p:sp>
        <p:nvSpPr>
          <p:cNvPr id="29" name="Text 23"/>
          <p:cNvSpPr/>
          <p:nvPr/>
        </p:nvSpPr>
        <p:spPr>
          <a:xfrm>
            <a:off x="10835640" y="4270248"/>
            <a:ext cx="548640" cy="548640"/>
          </a:xfrm>
          <a:prstGeom prst="rect">
            <a:avLst/>
          </a:prstGeom>
          <a:noFill/>
          <a:ln/>
        </p:spPr>
        <p:txBody>
          <a:bodyPr wrap="square" rtlCol="0" anchor="ctr"/>
          <a:lstStyle/>
          <a:p>
            <a:pPr algn="ctr" indent="0" marL="0">
              <a:buNone/>
            </a:pPr>
            <a:r>
              <a:rPr lang="en-US" sz="3000" b="1" dirty="0">
                <a:solidFill>
                  <a:srgbClr val="7AA5D6"/>
                </a:solidFill>
                <a:latin typeface="Apple SD Gothic Neo" pitchFamily="34" charset="0"/>
                <a:ea typeface="Apple SD Gothic Neo" pitchFamily="34" charset="-122"/>
                <a:cs typeface="Apple SD Gothic Neo" pitchFamily="34" charset="-120"/>
              </a:rPr>
              <a:t>4</a:t>
            </a:r>
            <a:endParaRPr lang="en-US" sz="3000" dirty="0"/>
          </a:p>
        </p:txBody>
      </p:sp>
      <p:sp>
        <p:nvSpPr>
          <p:cNvPr id="30" name="Text 24"/>
          <p:cNvSpPr/>
          <p:nvPr/>
        </p:nvSpPr>
        <p:spPr>
          <a:xfrm>
            <a:off x="7589520" y="4425696"/>
            <a:ext cx="3474720" cy="457200"/>
          </a:xfrm>
          <a:prstGeom prst="rect">
            <a:avLst/>
          </a:prstGeom>
          <a:noFill/>
          <a:ln/>
        </p:spPr>
        <p:txBody>
          <a:bodyPr wrap="square" rtlCol="0" anchor="ctr"/>
          <a:lstStyle/>
          <a:p>
            <a:pPr indent="0" marL="0">
              <a:buNone/>
            </a:pPr>
            <a:r>
              <a:rPr lang="en-US" sz="1800" b="1" dirty="0">
                <a:solidFill>
                  <a:srgbClr val="0F2547"/>
                </a:solidFill>
                <a:latin typeface="Apple SD Gothic Neo" pitchFamily="34" charset="0"/>
                <a:ea typeface="Apple SD Gothic Neo" pitchFamily="34" charset="-122"/>
                <a:cs typeface="Apple SD Gothic Neo" pitchFamily="34" charset="-120"/>
              </a:rPr>
              <a:t>개발자 생태계</a:t>
            </a:r>
            <a:endParaRPr lang="en-US" sz="1800" dirty="0"/>
          </a:p>
        </p:txBody>
      </p:sp>
      <p:sp>
        <p:nvSpPr>
          <p:cNvPr id="31" name="Text 25"/>
          <p:cNvSpPr/>
          <p:nvPr/>
        </p:nvSpPr>
        <p:spPr>
          <a:xfrm>
            <a:off x="7589520" y="4910328"/>
            <a:ext cx="3794760" cy="1188720"/>
          </a:xfrm>
          <a:prstGeom prst="rect">
            <a:avLst/>
          </a:prstGeom>
          <a:noFill/>
          <a:ln/>
        </p:spPr>
        <p:txBody>
          <a:bodyPr wrap="square" rtlCol="0" anchor="t"/>
          <a:lstStyle/>
          <a:p>
            <a:pPr indent="0" marL="0">
              <a:lnSpc>
                <a:spcPct val="118000"/>
              </a:lnSpc>
              <a:buNone/>
            </a:pPr>
            <a:r>
              <a:rPr lang="en-US" sz="1200" dirty="0">
                <a:solidFill>
                  <a:srgbClr val="5F708A"/>
                </a:solidFill>
                <a:latin typeface="Apple SD Gothic Neo" pitchFamily="34" charset="0"/>
                <a:ea typeface="Apple SD Gothic Neo" pitchFamily="34" charset="-122"/>
                <a:cs typeface="Apple SD Gothic Neo" pitchFamily="34" charset="-120"/>
              </a:rPr>
              <a:t>이미 쓰는 GitHub 위에서 — 세계 최대 개발 생태계로 앱·에이전트를 바로 구축·운영</a:t>
            </a:r>
            <a:endParaRPr lang="en-US" sz="1200" dirty="0"/>
          </a:p>
        </p:txBody>
      </p:sp>
      <p:sp>
        <p:nvSpPr>
          <p:cNvPr id="32" name="Text 26"/>
          <p:cNvSpPr/>
          <p:nvPr/>
        </p:nvSpPr>
        <p:spPr>
          <a:xfrm>
            <a:off x="548640" y="6309360"/>
            <a:ext cx="11109960" cy="411480"/>
          </a:xfrm>
          <a:prstGeom prst="rect">
            <a:avLst/>
          </a:prstGeom>
          <a:noFill/>
          <a:ln/>
        </p:spPr>
        <p:txBody>
          <a:bodyPr wrap="square" rtlCol="0" anchor="ctr"/>
          <a:lstStyle/>
          <a:p>
            <a:pPr algn="ctr" indent="0" marL="0">
              <a:buNone/>
            </a:pPr>
            <a:r>
              <a:rPr lang="en-US" sz="1250" b="1" dirty="0">
                <a:solidFill>
                  <a:srgbClr val="1A3D6D"/>
                </a:solidFill>
                <a:latin typeface="Apple SD Gothic Neo" pitchFamily="34" charset="0"/>
                <a:ea typeface="Apple SD Gothic Neo" pitchFamily="34" charset="-122"/>
                <a:cs typeface="Apple SD Gothic Neo" pitchFamily="34" charset="-120"/>
              </a:rPr>
              <a:t>이 네 가지가 특히 강한 이유 — 이미 M365·Entra·GitHub·Fabric을 쓰는 조직에겐, 새로 만드는 게 아니라 '쓰던 것' 위에 안전하게 얹힙니다.</a:t>
            </a:r>
            <a:endParaRPr lang="en-US" sz="1250" dirty="0"/>
          </a:p>
        </p:txBody>
      </p:sp>
      <p:sp>
        <p:nvSpPr>
          <p:cNvPr id="33" name="Text 27"/>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34" name="Text 28"/>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4F8FB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3. 왜 AZURE인가</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일반론이 아니라 — 구체적으로 무엇이 다른가</a:t>
            </a:r>
            <a:endParaRPr lang="en-US" sz="3000" dirty="0"/>
          </a:p>
        </p:txBody>
      </p:sp>
      <p:sp>
        <p:nvSpPr>
          <p:cNvPr id="8" name="Shape 6"/>
          <p:cNvSpPr/>
          <p:nvPr/>
        </p:nvSpPr>
        <p:spPr>
          <a:xfrm>
            <a:off x="548640" y="1737360"/>
            <a:ext cx="11109960" cy="868680"/>
          </a:xfrm>
          <a:prstGeom prst="roundRect">
            <a:avLst>
              <a:gd name="adj" fmla="val 9474"/>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9" name="Shape 7"/>
          <p:cNvSpPr/>
          <p:nvPr/>
        </p:nvSpPr>
        <p:spPr>
          <a:xfrm>
            <a:off x="804672" y="1888236"/>
            <a:ext cx="566928" cy="566928"/>
          </a:xfrm>
          <a:prstGeom prst="ellipse">
            <a:avLst/>
          </a:prstGeom>
          <a:solidFill>
            <a:srgbClr val="DBE7F6"/>
          </a:solidFill>
          <a:ln/>
        </p:spPr>
      </p:sp>
      <p:pic>
        <p:nvPicPr>
          <p:cNvPr id="10" name="Image 0" descr="preencoded.png">    </p:cNvPr>
          <p:cNvPicPr>
            <a:picLocks noChangeAspect="1"/>
          </p:cNvPicPr>
          <p:nvPr/>
        </p:nvPicPr>
        <p:blipFill>
          <a:blip r:embed="rId1"/>
          <a:stretch>
            <a:fillRect/>
          </a:stretch>
        </p:blipFill>
        <p:spPr>
          <a:xfrm>
            <a:off x="952073" y="2035637"/>
            <a:ext cx="272125" cy="272125"/>
          </a:xfrm>
          <a:prstGeom prst="rect">
            <a:avLst/>
          </a:prstGeom>
        </p:spPr>
      </p:pic>
      <p:sp>
        <p:nvSpPr>
          <p:cNvPr id="11" name="Text 8"/>
          <p:cNvSpPr/>
          <p:nvPr/>
        </p:nvSpPr>
        <p:spPr>
          <a:xfrm>
            <a:off x="1508760" y="1737360"/>
            <a:ext cx="457200" cy="868680"/>
          </a:xfrm>
          <a:prstGeom prst="rect">
            <a:avLst/>
          </a:prstGeom>
          <a:noFill/>
          <a:ln/>
        </p:spPr>
        <p:txBody>
          <a:bodyPr wrap="square" rtlCol="0" anchor="ctr"/>
          <a:lstStyle/>
          <a:p>
            <a:pPr indent="0" marL="0">
              <a:buNone/>
            </a:pPr>
            <a:r>
              <a:rPr lang="en-US" sz="2200" b="1" dirty="0">
                <a:solidFill>
                  <a:srgbClr val="7AA5D6"/>
                </a:solidFill>
                <a:latin typeface="Apple SD Gothic Neo" pitchFamily="34" charset="0"/>
                <a:ea typeface="Apple SD Gothic Neo" pitchFamily="34" charset="-122"/>
                <a:cs typeface="Apple SD Gothic Neo" pitchFamily="34" charset="-120"/>
              </a:rPr>
              <a:t>1</a:t>
            </a:r>
            <a:endParaRPr lang="en-US" sz="2200" dirty="0"/>
          </a:p>
        </p:txBody>
      </p:sp>
      <p:sp>
        <p:nvSpPr>
          <p:cNvPr id="12" name="Text 9"/>
          <p:cNvSpPr/>
          <p:nvPr/>
        </p:nvSpPr>
        <p:spPr>
          <a:xfrm>
            <a:off x="1920240" y="1737360"/>
            <a:ext cx="3063240" cy="868680"/>
          </a:xfrm>
          <a:prstGeom prst="rect">
            <a:avLst/>
          </a:prstGeom>
          <a:noFill/>
          <a:ln/>
        </p:spPr>
        <p:txBody>
          <a:bodyPr wrap="square" rtlCol="0" anchor="ctr"/>
          <a:lstStyle/>
          <a:p>
            <a:pPr indent="0" marL="0">
              <a:buNone/>
            </a:pPr>
            <a:r>
              <a:rPr lang="en-US" sz="1450" b="1" dirty="0">
                <a:solidFill>
                  <a:srgbClr val="0F2547"/>
                </a:solidFill>
                <a:latin typeface="Apple SD Gothic Neo" pitchFamily="34" charset="0"/>
                <a:ea typeface="Apple SD Gothic Neo" pitchFamily="34" charset="-122"/>
                <a:cs typeface="Apple SD Gothic Neo" pitchFamily="34" charset="-120"/>
              </a:rPr>
              <a:t>데이터는 당신의 것</a:t>
            </a:r>
            <a:endParaRPr lang="en-US" sz="1450" dirty="0"/>
          </a:p>
        </p:txBody>
      </p:sp>
      <p:sp>
        <p:nvSpPr>
          <p:cNvPr id="13" name="Shape 10"/>
          <p:cNvSpPr/>
          <p:nvPr/>
        </p:nvSpPr>
        <p:spPr>
          <a:xfrm>
            <a:off x="5120640" y="1920240"/>
            <a:ext cx="18288" cy="502920"/>
          </a:xfrm>
          <a:prstGeom prst="rect">
            <a:avLst/>
          </a:prstGeom>
          <a:solidFill>
            <a:srgbClr val="D4E0F0"/>
          </a:solidFill>
          <a:ln/>
        </p:spPr>
      </p:sp>
      <p:sp>
        <p:nvSpPr>
          <p:cNvPr id="14" name="Text 11"/>
          <p:cNvSpPr/>
          <p:nvPr/>
        </p:nvSpPr>
        <p:spPr>
          <a:xfrm>
            <a:off x="5349240" y="1737360"/>
            <a:ext cx="6035040" cy="868680"/>
          </a:xfrm>
          <a:prstGeom prst="rect">
            <a:avLst/>
          </a:prstGeom>
          <a:noFill/>
          <a:ln/>
        </p:spPr>
        <p:txBody>
          <a:bodyPr wrap="square" rtlCol="0" anchor="ctr"/>
          <a:lstStyle/>
          <a:p>
            <a:pPr indent="0" marL="0">
              <a:lnSpc>
                <a:spcPct val="108000"/>
              </a:lnSpc>
              <a:buNone/>
            </a:pPr>
            <a:r>
              <a:rPr lang="en-US" sz="1150" dirty="0">
                <a:solidFill>
                  <a:srgbClr val="5F708A"/>
                </a:solidFill>
                <a:latin typeface="Apple SD Gothic Neo" pitchFamily="34" charset="0"/>
                <a:ea typeface="Apple SD Gothic Neo" pitchFamily="34" charset="-122"/>
                <a:cs typeface="Apple SD Gothic Neo" pitchFamily="34" charset="-120"/>
              </a:rPr>
              <a:t>고객 입력·출력을 파운데이션 모델 학습에 사용하지 않음 · 한국 리전 우선 · 테넌트 격리 (약관은 서비스·모델별 확인)</a:t>
            </a:r>
            <a:endParaRPr lang="en-US" sz="1150" dirty="0"/>
          </a:p>
        </p:txBody>
      </p:sp>
      <p:sp>
        <p:nvSpPr>
          <p:cNvPr id="15" name="Shape 12"/>
          <p:cNvSpPr/>
          <p:nvPr/>
        </p:nvSpPr>
        <p:spPr>
          <a:xfrm>
            <a:off x="548640" y="2715768"/>
            <a:ext cx="11109960" cy="868680"/>
          </a:xfrm>
          <a:prstGeom prst="roundRect">
            <a:avLst>
              <a:gd name="adj" fmla="val 9474"/>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6" name="Shape 13"/>
          <p:cNvSpPr/>
          <p:nvPr/>
        </p:nvSpPr>
        <p:spPr>
          <a:xfrm>
            <a:off x="804672" y="2866644"/>
            <a:ext cx="566928" cy="566928"/>
          </a:xfrm>
          <a:prstGeom prst="ellipse">
            <a:avLst/>
          </a:prstGeom>
          <a:solidFill>
            <a:srgbClr val="DBE7F6"/>
          </a:solidFill>
          <a:ln/>
        </p:spPr>
      </p:sp>
      <p:pic>
        <p:nvPicPr>
          <p:cNvPr id="17" name="Image 1" descr="preencoded.png">    </p:cNvPr>
          <p:cNvPicPr>
            <a:picLocks noChangeAspect="1"/>
          </p:cNvPicPr>
          <p:nvPr/>
        </p:nvPicPr>
        <p:blipFill>
          <a:blip r:embed="rId2"/>
          <a:stretch>
            <a:fillRect/>
          </a:stretch>
        </p:blipFill>
        <p:spPr>
          <a:xfrm>
            <a:off x="952073" y="3014045"/>
            <a:ext cx="272125" cy="272125"/>
          </a:xfrm>
          <a:prstGeom prst="rect">
            <a:avLst/>
          </a:prstGeom>
        </p:spPr>
      </p:pic>
      <p:sp>
        <p:nvSpPr>
          <p:cNvPr id="18" name="Text 14"/>
          <p:cNvSpPr/>
          <p:nvPr/>
        </p:nvSpPr>
        <p:spPr>
          <a:xfrm>
            <a:off x="1508760" y="2715768"/>
            <a:ext cx="457200" cy="868680"/>
          </a:xfrm>
          <a:prstGeom prst="rect">
            <a:avLst/>
          </a:prstGeom>
          <a:noFill/>
          <a:ln/>
        </p:spPr>
        <p:txBody>
          <a:bodyPr wrap="square" rtlCol="0" anchor="ctr"/>
          <a:lstStyle/>
          <a:p>
            <a:pPr indent="0" marL="0">
              <a:buNone/>
            </a:pPr>
            <a:r>
              <a:rPr lang="en-US" sz="2200" b="1" dirty="0">
                <a:solidFill>
                  <a:srgbClr val="7AA5D6"/>
                </a:solidFill>
                <a:latin typeface="Apple SD Gothic Neo" pitchFamily="34" charset="0"/>
                <a:ea typeface="Apple SD Gothic Neo" pitchFamily="34" charset="-122"/>
                <a:cs typeface="Apple SD Gothic Neo" pitchFamily="34" charset="-120"/>
              </a:rPr>
              <a:t>2</a:t>
            </a:r>
            <a:endParaRPr lang="en-US" sz="2200" dirty="0"/>
          </a:p>
        </p:txBody>
      </p:sp>
      <p:sp>
        <p:nvSpPr>
          <p:cNvPr id="19" name="Text 15"/>
          <p:cNvSpPr/>
          <p:nvPr/>
        </p:nvSpPr>
        <p:spPr>
          <a:xfrm>
            <a:off x="1920240" y="2715768"/>
            <a:ext cx="3063240" cy="868680"/>
          </a:xfrm>
          <a:prstGeom prst="rect">
            <a:avLst/>
          </a:prstGeom>
          <a:noFill/>
          <a:ln/>
        </p:spPr>
        <p:txBody>
          <a:bodyPr wrap="square" rtlCol="0" anchor="ctr"/>
          <a:lstStyle/>
          <a:p>
            <a:pPr indent="0" marL="0">
              <a:buNone/>
            </a:pPr>
            <a:r>
              <a:rPr lang="en-US" sz="1450" b="1" dirty="0">
                <a:solidFill>
                  <a:srgbClr val="0F2547"/>
                </a:solidFill>
                <a:latin typeface="Apple SD Gothic Neo" pitchFamily="34" charset="0"/>
                <a:ea typeface="Apple SD Gothic Neo" pitchFamily="34" charset="-122"/>
                <a:cs typeface="Apple SD Gothic Neo" pitchFamily="34" charset="-120"/>
              </a:rPr>
              <a:t>모델 선택의 자유</a:t>
            </a:r>
            <a:endParaRPr lang="en-US" sz="1450" dirty="0"/>
          </a:p>
        </p:txBody>
      </p:sp>
      <p:sp>
        <p:nvSpPr>
          <p:cNvPr id="20" name="Shape 16"/>
          <p:cNvSpPr/>
          <p:nvPr/>
        </p:nvSpPr>
        <p:spPr>
          <a:xfrm>
            <a:off x="5120640" y="2898648"/>
            <a:ext cx="18288" cy="502920"/>
          </a:xfrm>
          <a:prstGeom prst="rect">
            <a:avLst/>
          </a:prstGeom>
          <a:solidFill>
            <a:srgbClr val="D4E0F0"/>
          </a:solidFill>
          <a:ln/>
        </p:spPr>
      </p:sp>
      <p:sp>
        <p:nvSpPr>
          <p:cNvPr id="21" name="Text 17"/>
          <p:cNvSpPr/>
          <p:nvPr/>
        </p:nvSpPr>
        <p:spPr>
          <a:xfrm>
            <a:off x="5349240" y="2715768"/>
            <a:ext cx="6035040" cy="868680"/>
          </a:xfrm>
          <a:prstGeom prst="rect">
            <a:avLst/>
          </a:prstGeom>
          <a:noFill/>
          <a:ln/>
        </p:spPr>
        <p:txBody>
          <a:bodyPr wrap="square" rtlCol="0" anchor="ctr"/>
          <a:lstStyle/>
          <a:p>
            <a:pPr indent="0" marL="0">
              <a:lnSpc>
                <a:spcPct val="108000"/>
              </a:lnSpc>
              <a:buNone/>
            </a:pPr>
            <a:r>
              <a:rPr lang="en-US" sz="1150" dirty="0">
                <a:solidFill>
                  <a:srgbClr val="5F708A"/>
                </a:solidFill>
                <a:latin typeface="Apple SD Gothic Neo" pitchFamily="34" charset="0"/>
                <a:ea typeface="Apple SD Gothic Neo" pitchFamily="34" charset="-122"/>
                <a:cs typeface="Apple SD Gothic Neo" pitchFamily="34" charset="-120"/>
              </a:rPr>
              <a:t>Microsoft Foundry 모델 카탈로그 — 프론티어 OpenAI · 오픈소스 · 산업별 모델을 운영 가능한 방식으로 선택·교체</a:t>
            </a:r>
            <a:endParaRPr lang="en-US" sz="1150" dirty="0"/>
          </a:p>
        </p:txBody>
      </p:sp>
      <p:sp>
        <p:nvSpPr>
          <p:cNvPr id="22" name="Shape 18"/>
          <p:cNvSpPr/>
          <p:nvPr/>
        </p:nvSpPr>
        <p:spPr>
          <a:xfrm>
            <a:off x="548640" y="3694176"/>
            <a:ext cx="11109960" cy="868680"/>
          </a:xfrm>
          <a:prstGeom prst="roundRect">
            <a:avLst>
              <a:gd name="adj" fmla="val 9474"/>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3" name="Shape 19"/>
          <p:cNvSpPr/>
          <p:nvPr/>
        </p:nvSpPr>
        <p:spPr>
          <a:xfrm>
            <a:off x="804672" y="3845052"/>
            <a:ext cx="566928" cy="566928"/>
          </a:xfrm>
          <a:prstGeom prst="ellipse">
            <a:avLst/>
          </a:prstGeom>
          <a:solidFill>
            <a:srgbClr val="DBE7F6"/>
          </a:solidFill>
          <a:ln/>
        </p:spPr>
      </p:sp>
      <p:pic>
        <p:nvPicPr>
          <p:cNvPr id="24" name="Image 2" descr="preencoded.png">    </p:cNvPr>
          <p:cNvPicPr>
            <a:picLocks noChangeAspect="1"/>
          </p:cNvPicPr>
          <p:nvPr/>
        </p:nvPicPr>
        <p:blipFill>
          <a:blip r:embed="rId3"/>
          <a:stretch>
            <a:fillRect/>
          </a:stretch>
        </p:blipFill>
        <p:spPr>
          <a:xfrm>
            <a:off x="952073" y="3992453"/>
            <a:ext cx="272125" cy="272125"/>
          </a:xfrm>
          <a:prstGeom prst="rect">
            <a:avLst/>
          </a:prstGeom>
        </p:spPr>
      </p:pic>
      <p:sp>
        <p:nvSpPr>
          <p:cNvPr id="25" name="Text 20"/>
          <p:cNvSpPr/>
          <p:nvPr/>
        </p:nvSpPr>
        <p:spPr>
          <a:xfrm>
            <a:off x="1508760" y="3694176"/>
            <a:ext cx="457200" cy="868680"/>
          </a:xfrm>
          <a:prstGeom prst="rect">
            <a:avLst/>
          </a:prstGeom>
          <a:noFill/>
          <a:ln/>
        </p:spPr>
        <p:txBody>
          <a:bodyPr wrap="square" rtlCol="0" anchor="ctr"/>
          <a:lstStyle/>
          <a:p>
            <a:pPr indent="0" marL="0">
              <a:buNone/>
            </a:pPr>
            <a:r>
              <a:rPr lang="en-US" sz="2200" b="1" dirty="0">
                <a:solidFill>
                  <a:srgbClr val="7AA5D6"/>
                </a:solidFill>
                <a:latin typeface="Apple SD Gothic Neo" pitchFamily="34" charset="0"/>
                <a:ea typeface="Apple SD Gothic Neo" pitchFamily="34" charset="-122"/>
                <a:cs typeface="Apple SD Gothic Neo" pitchFamily="34" charset="-120"/>
              </a:rPr>
              <a:t>3</a:t>
            </a:r>
            <a:endParaRPr lang="en-US" sz="2200" dirty="0"/>
          </a:p>
        </p:txBody>
      </p:sp>
      <p:sp>
        <p:nvSpPr>
          <p:cNvPr id="26" name="Text 21"/>
          <p:cNvSpPr/>
          <p:nvPr/>
        </p:nvSpPr>
        <p:spPr>
          <a:xfrm>
            <a:off x="1920240" y="3694176"/>
            <a:ext cx="3063240" cy="868680"/>
          </a:xfrm>
          <a:prstGeom prst="rect">
            <a:avLst/>
          </a:prstGeom>
          <a:noFill/>
          <a:ln/>
        </p:spPr>
        <p:txBody>
          <a:bodyPr wrap="square" rtlCol="0" anchor="ctr"/>
          <a:lstStyle/>
          <a:p>
            <a:pPr indent="0" marL="0">
              <a:buNone/>
            </a:pPr>
            <a:r>
              <a:rPr lang="en-US" sz="1450" b="1" dirty="0">
                <a:solidFill>
                  <a:srgbClr val="0F2547"/>
                </a:solidFill>
                <a:latin typeface="Apple SD Gothic Neo" pitchFamily="34" charset="0"/>
                <a:ea typeface="Apple SD Gothic Neo" pitchFamily="34" charset="-122"/>
                <a:cs typeface="Apple SD Gothic Neo" pitchFamily="34" charset="-120"/>
              </a:rPr>
              <a:t>이미 가진 스택 위에서</a:t>
            </a:r>
            <a:endParaRPr lang="en-US" sz="1450" dirty="0"/>
          </a:p>
        </p:txBody>
      </p:sp>
      <p:sp>
        <p:nvSpPr>
          <p:cNvPr id="27" name="Shape 22"/>
          <p:cNvSpPr/>
          <p:nvPr/>
        </p:nvSpPr>
        <p:spPr>
          <a:xfrm>
            <a:off x="5120640" y="3877056"/>
            <a:ext cx="18288" cy="502920"/>
          </a:xfrm>
          <a:prstGeom prst="rect">
            <a:avLst/>
          </a:prstGeom>
          <a:solidFill>
            <a:srgbClr val="D4E0F0"/>
          </a:solidFill>
          <a:ln/>
        </p:spPr>
      </p:sp>
      <p:sp>
        <p:nvSpPr>
          <p:cNvPr id="28" name="Text 23"/>
          <p:cNvSpPr/>
          <p:nvPr/>
        </p:nvSpPr>
        <p:spPr>
          <a:xfrm>
            <a:off x="5349240" y="3694176"/>
            <a:ext cx="6035040" cy="868680"/>
          </a:xfrm>
          <a:prstGeom prst="rect">
            <a:avLst/>
          </a:prstGeom>
          <a:noFill/>
          <a:ln/>
        </p:spPr>
        <p:txBody>
          <a:bodyPr wrap="square" rtlCol="0" anchor="ctr"/>
          <a:lstStyle/>
          <a:p>
            <a:pPr indent="0" marL="0">
              <a:lnSpc>
                <a:spcPct val="108000"/>
              </a:lnSpc>
              <a:buNone/>
            </a:pPr>
            <a:r>
              <a:rPr lang="en-US" sz="1150" dirty="0">
                <a:solidFill>
                  <a:srgbClr val="5F708A"/>
                </a:solidFill>
                <a:latin typeface="Apple SD Gothic Neo" pitchFamily="34" charset="0"/>
                <a:ea typeface="Apple SD Gothic Neo" pitchFamily="34" charset="-122"/>
                <a:cs typeface="Apple SD Gothic Neo" pitchFamily="34" charset="-120"/>
              </a:rPr>
              <a:t>M365 · GitHub · Fabric은 연동 가치, 이 기준을 책임지는 엔진은 Azure — 옮기지 않고 연결부터</a:t>
            </a:r>
            <a:endParaRPr lang="en-US" sz="1150" dirty="0"/>
          </a:p>
        </p:txBody>
      </p:sp>
      <p:sp>
        <p:nvSpPr>
          <p:cNvPr id="29" name="Shape 24"/>
          <p:cNvSpPr/>
          <p:nvPr/>
        </p:nvSpPr>
        <p:spPr>
          <a:xfrm>
            <a:off x="548640" y="4672584"/>
            <a:ext cx="11109960" cy="868680"/>
          </a:xfrm>
          <a:prstGeom prst="roundRect">
            <a:avLst>
              <a:gd name="adj" fmla="val 9474"/>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30" name="Shape 25"/>
          <p:cNvSpPr/>
          <p:nvPr/>
        </p:nvSpPr>
        <p:spPr>
          <a:xfrm>
            <a:off x="804672" y="4823460"/>
            <a:ext cx="566928" cy="566928"/>
          </a:xfrm>
          <a:prstGeom prst="ellipse">
            <a:avLst/>
          </a:prstGeom>
          <a:solidFill>
            <a:srgbClr val="DBE7F6"/>
          </a:solidFill>
          <a:ln/>
        </p:spPr>
      </p:sp>
      <p:pic>
        <p:nvPicPr>
          <p:cNvPr id="31" name="Image 3" descr="preencoded.png">    </p:cNvPr>
          <p:cNvPicPr>
            <a:picLocks noChangeAspect="1"/>
          </p:cNvPicPr>
          <p:nvPr/>
        </p:nvPicPr>
        <p:blipFill>
          <a:blip r:embed="rId4"/>
          <a:stretch>
            <a:fillRect/>
          </a:stretch>
        </p:blipFill>
        <p:spPr>
          <a:xfrm>
            <a:off x="952073" y="4970861"/>
            <a:ext cx="272125" cy="272125"/>
          </a:xfrm>
          <a:prstGeom prst="rect">
            <a:avLst/>
          </a:prstGeom>
        </p:spPr>
      </p:pic>
      <p:sp>
        <p:nvSpPr>
          <p:cNvPr id="32" name="Text 26"/>
          <p:cNvSpPr/>
          <p:nvPr/>
        </p:nvSpPr>
        <p:spPr>
          <a:xfrm>
            <a:off x="1508760" y="4672584"/>
            <a:ext cx="457200" cy="868680"/>
          </a:xfrm>
          <a:prstGeom prst="rect">
            <a:avLst/>
          </a:prstGeom>
          <a:noFill/>
          <a:ln/>
        </p:spPr>
        <p:txBody>
          <a:bodyPr wrap="square" rtlCol="0" anchor="ctr"/>
          <a:lstStyle/>
          <a:p>
            <a:pPr indent="0" marL="0">
              <a:buNone/>
            </a:pPr>
            <a:r>
              <a:rPr lang="en-US" sz="2200" b="1" dirty="0">
                <a:solidFill>
                  <a:srgbClr val="7AA5D6"/>
                </a:solidFill>
                <a:latin typeface="Apple SD Gothic Neo" pitchFamily="34" charset="0"/>
                <a:ea typeface="Apple SD Gothic Neo" pitchFamily="34" charset="-122"/>
                <a:cs typeface="Apple SD Gothic Neo" pitchFamily="34" charset="-120"/>
              </a:rPr>
              <a:t>4</a:t>
            </a:r>
            <a:endParaRPr lang="en-US" sz="2200" dirty="0"/>
          </a:p>
        </p:txBody>
      </p:sp>
      <p:sp>
        <p:nvSpPr>
          <p:cNvPr id="33" name="Text 27"/>
          <p:cNvSpPr/>
          <p:nvPr/>
        </p:nvSpPr>
        <p:spPr>
          <a:xfrm>
            <a:off x="1920240" y="4672584"/>
            <a:ext cx="3063240" cy="868680"/>
          </a:xfrm>
          <a:prstGeom prst="rect">
            <a:avLst/>
          </a:prstGeom>
          <a:noFill/>
          <a:ln/>
        </p:spPr>
        <p:txBody>
          <a:bodyPr wrap="square" rtlCol="0" anchor="ctr"/>
          <a:lstStyle/>
          <a:p>
            <a:pPr indent="0" marL="0">
              <a:buNone/>
            </a:pPr>
            <a:r>
              <a:rPr lang="en-US" sz="1450" b="1" dirty="0">
                <a:solidFill>
                  <a:srgbClr val="0F2547"/>
                </a:solidFill>
                <a:latin typeface="Apple SD Gothic Neo" pitchFamily="34" charset="0"/>
                <a:ea typeface="Apple SD Gothic Neo" pitchFamily="34" charset="-122"/>
                <a:cs typeface="Apple SD Gothic Neo" pitchFamily="34" charset="-120"/>
              </a:rPr>
              <a:t>AI를 감싸는 보안·거버넌스</a:t>
            </a:r>
            <a:endParaRPr lang="en-US" sz="1450" dirty="0"/>
          </a:p>
        </p:txBody>
      </p:sp>
      <p:sp>
        <p:nvSpPr>
          <p:cNvPr id="34" name="Shape 28"/>
          <p:cNvSpPr/>
          <p:nvPr/>
        </p:nvSpPr>
        <p:spPr>
          <a:xfrm>
            <a:off x="5120640" y="4855464"/>
            <a:ext cx="18288" cy="502920"/>
          </a:xfrm>
          <a:prstGeom prst="rect">
            <a:avLst/>
          </a:prstGeom>
          <a:solidFill>
            <a:srgbClr val="D4E0F0"/>
          </a:solidFill>
          <a:ln/>
        </p:spPr>
      </p:sp>
      <p:sp>
        <p:nvSpPr>
          <p:cNvPr id="35" name="Text 29"/>
          <p:cNvSpPr/>
          <p:nvPr/>
        </p:nvSpPr>
        <p:spPr>
          <a:xfrm>
            <a:off x="5349240" y="4672584"/>
            <a:ext cx="6035040" cy="868680"/>
          </a:xfrm>
          <a:prstGeom prst="rect">
            <a:avLst/>
          </a:prstGeom>
          <a:noFill/>
          <a:ln/>
        </p:spPr>
        <p:txBody>
          <a:bodyPr wrap="square" rtlCol="0" anchor="ctr"/>
          <a:lstStyle/>
          <a:p>
            <a:pPr indent="0" marL="0">
              <a:lnSpc>
                <a:spcPct val="108000"/>
              </a:lnSpc>
              <a:buNone/>
            </a:pPr>
            <a:r>
              <a:rPr lang="en-US" sz="1150" dirty="0">
                <a:solidFill>
                  <a:srgbClr val="5F708A"/>
                </a:solidFill>
                <a:latin typeface="Apple SD Gothic Neo" pitchFamily="34" charset="0"/>
                <a:ea typeface="Apple SD Gothic Neo" pitchFamily="34" charset="-122"/>
                <a:cs typeface="Apple SD Gothic Neo" pitchFamily="34" charset="-120"/>
              </a:rPr>
              <a:t>Entra(신원) · Purview(데이터) · Defender(위협) · Agent 365(에이전트 통제, GA·2026.5)</a:t>
            </a:r>
            <a:endParaRPr lang="en-US" sz="1150" dirty="0"/>
          </a:p>
        </p:txBody>
      </p:sp>
      <p:sp>
        <p:nvSpPr>
          <p:cNvPr id="36" name="Text 30"/>
          <p:cNvSpPr/>
          <p:nvPr/>
        </p:nvSpPr>
        <p:spPr>
          <a:xfrm>
            <a:off x="548640" y="5897880"/>
            <a:ext cx="11109960" cy="411480"/>
          </a:xfrm>
          <a:prstGeom prst="rect">
            <a:avLst/>
          </a:prstGeom>
          <a:noFill/>
          <a:ln/>
        </p:spPr>
        <p:txBody>
          <a:bodyPr wrap="square" rtlCol="0" anchor="ctr"/>
          <a:lstStyle/>
          <a:p>
            <a:pPr algn="ctr" indent="0" marL="0">
              <a:buNone/>
            </a:pPr>
            <a:r>
              <a:rPr lang="en-US" sz="1250" b="1" dirty="0">
                <a:solidFill>
                  <a:srgbClr val="1A3D6D"/>
                </a:solidFill>
                <a:latin typeface="Apple SD Gothic Neo" pitchFamily="34" charset="0"/>
                <a:ea typeface="Apple SD Gothic Neo" pitchFamily="34" charset="-122"/>
                <a:cs typeface="Apple SD Gothic Neo" pitchFamily="34" charset="-120"/>
              </a:rPr>
              <a:t>핵심은 '어디서 구축·운영하느냐' — Azure는 이 기준들을 하나의 플랫폼에서 일관되게 제공합니다.</a:t>
            </a:r>
            <a:endParaRPr lang="en-US" sz="1250" dirty="0"/>
          </a:p>
        </p:txBody>
      </p:sp>
      <p:sp>
        <p:nvSpPr>
          <p:cNvPr id="37" name="Text 31"/>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38" name="Text 32"/>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4F8FB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3. 왜 AZURE인가 · RESPONSIBLE AI</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신뢰는 기능이 아니라 설계 원칙입니다</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109960" cy="914400"/>
        </p:xfrm>
        <a:graphic>
          <a:graphicData uri="http://schemas.openxmlformats.org/drawingml/2006/table">
            <a:tbl>
              <a:tblPr/>
              <a:tblGrid>
                <a:gridCol w="2103120"/>
                <a:gridCol w="3840480"/>
                <a:gridCol w="5166360"/>
              </a:tblGrid>
              <a:tr h="566928">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원칙</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의미</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Azure에서의 실현</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r>
              <a:tr h="566928">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공정성</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편향 없는 결과</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모델 평가·편향 탐지 도구</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566928">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신뢰성·안전</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예측 가능하고 안전한 동작</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Content Safety · 평가 파이프라인</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개인정보·보안</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데이터 주권과 보호</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고객 데이터 학습 미사용 · 리전 격리</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566928">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투명성</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설명 가능성</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추적·관측(Observability)</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r h="566928">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책임성</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거버넌스와 통제</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Entra · Purview · Defender 연동</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bl>
          </a:graphicData>
        </a:graphic>
      </p:graphicFrame>
      <p:sp>
        <p:nvSpPr>
          <p:cNvPr id="9" name="Text 6"/>
          <p:cNvSpPr/>
          <p:nvPr/>
        </p:nvSpPr>
        <p:spPr>
          <a:xfrm>
            <a:off x="548640" y="5623560"/>
            <a:ext cx="11109960" cy="457200"/>
          </a:xfrm>
          <a:prstGeom prst="rect">
            <a:avLst/>
          </a:prstGeom>
          <a:noFill/>
          <a:ln/>
        </p:spPr>
        <p:txBody>
          <a:bodyPr wrap="square" rtlCol="0" anchor="ctr"/>
          <a:lstStyle/>
          <a:p>
            <a:pPr algn="ctr" indent="0" marL="0">
              <a:buNone/>
            </a:pPr>
            <a:r>
              <a:rPr lang="en-US" sz="1300" b="1" dirty="0">
                <a:solidFill>
                  <a:srgbClr val="1A3D6D"/>
                </a:solidFill>
                <a:latin typeface="Apple SD Gothic Neo" pitchFamily="34" charset="0"/>
                <a:ea typeface="Apple SD Gothic Neo" pitchFamily="34" charset="-122"/>
                <a:cs typeface="Apple SD Gothic Neo" pitchFamily="34" charset="-120"/>
              </a:rPr>
              <a:t>고객 데이터로 파운데이션 모델을 학습하지 않으며, 서비스·모델·리전별 조건을 확인한 전제에서 테넌트·리전 격리 원칙을 적용합니다.</a:t>
            </a:r>
            <a:endParaRPr lang="en-US" sz="1300" dirty="0"/>
          </a:p>
        </p:txBody>
      </p:sp>
      <p:sp>
        <p:nvSpPr>
          <p:cNvPr id="10" name="Text 7"/>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11" name="Text 8"/>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4F8FB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3. 왜 AZURE인가</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6가지 판단 기준 — 그리고 Azure의 답</a:t>
            </a:r>
            <a:endParaRPr lang="en-US" sz="3000" dirty="0"/>
          </a:p>
        </p:txBody>
      </p:sp>
      <p:sp>
        <p:nvSpPr>
          <p:cNvPr id="8" name="Shape 6"/>
          <p:cNvSpPr/>
          <p:nvPr/>
        </p:nvSpPr>
        <p:spPr>
          <a:xfrm>
            <a:off x="548640" y="1783080"/>
            <a:ext cx="3611880" cy="2212848"/>
          </a:xfrm>
          <a:prstGeom prst="roundRect">
            <a:avLst>
              <a:gd name="adj" fmla="val 3719"/>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9" name="Shape 7"/>
          <p:cNvSpPr/>
          <p:nvPr/>
        </p:nvSpPr>
        <p:spPr>
          <a:xfrm>
            <a:off x="822960" y="2057400"/>
            <a:ext cx="731520" cy="731520"/>
          </a:xfrm>
          <a:prstGeom prst="ellipse">
            <a:avLst/>
          </a:prstGeom>
          <a:solidFill>
            <a:srgbClr val="DBE7F6"/>
          </a:solidFill>
          <a:ln/>
        </p:spPr>
      </p:sp>
      <p:pic>
        <p:nvPicPr>
          <p:cNvPr id="10" name="Image 0" descr="preencoded.png">    </p:cNvPr>
          <p:cNvPicPr>
            <a:picLocks noChangeAspect="1"/>
          </p:cNvPicPr>
          <p:nvPr/>
        </p:nvPicPr>
        <p:blipFill>
          <a:blip r:embed="rId1"/>
          <a:stretch>
            <a:fillRect/>
          </a:stretch>
        </p:blipFill>
        <p:spPr>
          <a:xfrm>
            <a:off x="1013155" y="2247595"/>
            <a:ext cx="351130" cy="351130"/>
          </a:xfrm>
          <a:prstGeom prst="rect">
            <a:avLst/>
          </a:prstGeom>
        </p:spPr>
      </p:pic>
      <p:sp>
        <p:nvSpPr>
          <p:cNvPr id="11" name="Shape 8"/>
          <p:cNvSpPr/>
          <p:nvPr/>
        </p:nvSpPr>
        <p:spPr>
          <a:xfrm>
            <a:off x="3502152" y="2057400"/>
            <a:ext cx="402336" cy="402336"/>
          </a:xfrm>
          <a:prstGeom prst="roundRect">
            <a:avLst>
              <a:gd name="adj" fmla="val 22727"/>
            </a:avLst>
          </a:prstGeom>
          <a:solidFill>
            <a:srgbClr val="7AA5D6"/>
          </a:solidFill>
          <a:ln/>
        </p:spPr>
      </p:sp>
      <p:sp>
        <p:nvSpPr>
          <p:cNvPr id="12" name="Text 9"/>
          <p:cNvSpPr/>
          <p:nvPr/>
        </p:nvSpPr>
        <p:spPr>
          <a:xfrm>
            <a:off x="3502152" y="2057400"/>
            <a:ext cx="402336" cy="402336"/>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1</a:t>
            </a:r>
            <a:endParaRPr lang="en-US" sz="1400" dirty="0"/>
          </a:p>
        </p:txBody>
      </p:sp>
      <p:sp>
        <p:nvSpPr>
          <p:cNvPr id="13" name="Text 10"/>
          <p:cNvSpPr/>
          <p:nvPr/>
        </p:nvSpPr>
        <p:spPr>
          <a:xfrm>
            <a:off x="822960" y="2807208"/>
            <a:ext cx="3108960" cy="329184"/>
          </a:xfrm>
          <a:prstGeom prst="rect">
            <a:avLst/>
          </a:prstGeom>
          <a:noFill/>
          <a:ln/>
        </p:spPr>
        <p:txBody>
          <a:bodyPr wrap="square" rtlCol="0" anchor="ctr"/>
          <a:lstStyle/>
          <a:p>
            <a:pPr indent="0" marL="0">
              <a:buNone/>
            </a:pPr>
            <a:r>
              <a:rPr lang="en-US" sz="1500" b="1" dirty="0">
                <a:solidFill>
                  <a:srgbClr val="0F2547"/>
                </a:solidFill>
                <a:latin typeface="Apple SD Gothic Neo" pitchFamily="34" charset="0"/>
                <a:ea typeface="Apple SD Gothic Neo" pitchFamily="34" charset="-122"/>
                <a:cs typeface="Apple SD Gothic Neo" pitchFamily="34" charset="-120"/>
              </a:rPr>
              <a:t>데이터 주권</a:t>
            </a:r>
            <a:endParaRPr lang="en-US" sz="1500" dirty="0"/>
          </a:p>
        </p:txBody>
      </p:sp>
      <p:sp>
        <p:nvSpPr>
          <p:cNvPr id="14" name="Text 11"/>
          <p:cNvSpPr/>
          <p:nvPr/>
        </p:nvSpPr>
        <p:spPr>
          <a:xfrm>
            <a:off x="822960" y="3127248"/>
            <a:ext cx="3108960" cy="347472"/>
          </a:xfrm>
          <a:prstGeom prst="rect">
            <a:avLst/>
          </a:prstGeom>
          <a:noFill/>
          <a:ln/>
        </p:spPr>
        <p:txBody>
          <a:bodyPr wrap="square" rtlCol="0" anchor="ctr"/>
          <a:lstStyle/>
          <a:p>
            <a:pPr indent="0" marL="0">
              <a:lnSpc>
                <a:spcPct val="105000"/>
              </a:lnSpc>
              <a:buNone/>
            </a:pPr>
            <a:r>
              <a:rPr lang="en-US" sz="1000" dirty="0">
                <a:solidFill>
                  <a:srgbClr val="5F708A"/>
                </a:solidFill>
                <a:latin typeface="Apple SD Gothic Neo" pitchFamily="34" charset="0"/>
                <a:ea typeface="Apple SD Gothic Neo" pitchFamily="34" charset="-122"/>
                <a:cs typeface="Apple SD Gothic Neo" pitchFamily="34" charset="-120"/>
              </a:rPr>
              <a:t>데이터가 어디에 머무는가</a:t>
            </a:r>
            <a:endParaRPr lang="en-US" sz="1000" dirty="0"/>
          </a:p>
        </p:txBody>
      </p:sp>
      <p:sp>
        <p:nvSpPr>
          <p:cNvPr id="15" name="Text 12"/>
          <p:cNvSpPr/>
          <p:nvPr/>
        </p:nvSpPr>
        <p:spPr>
          <a:xfrm>
            <a:off x="822960" y="3502152"/>
            <a:ext cx="3154680" cy="402336"/>
          </a:xfrm>
          <a:prstGeom prst="rect">
            <a:avLst/>
          </a:prstGeom>
          <a:noFill/>
          <a:ln/>
        </p:spPr>
        <p:txBody>
          <a:bodyPr wrap="square" rtlCol="0" anchor="t"/>
          <a:lstStyle/>
          <a:p>
            <a:pPr indent="0" marL="0">
              <a:lnSpc>
                <a:spcPct val="105000"/>
              </a:lnSpc>
              <a:buNone/>
            </a:pPr>
            <a:r>
              <a:rPr lang="en-US" sz="1000" b="1" dirty="0">
                <a:solidFill>
                  <a:srgbClr val="4F8FB6"/>
                </a:solidFill>
                <a:latin typeface="Apple SD Gothic Neo" pitchFamily="34" charset="0"/>
                <a:ea typeface="Apple SD Gothic Neo" pitchFamily="34" charset="-122"/>
                <a:cs typeface="Apple SD Gothic Neo" pitchFamily="34" charset="-120"/>
              </a:rPr>
              <a:t>→ </a:t>
            </a:r>
            <a:pPr indent="0" marL="0">
              <a:lnSpc>
                <a:spcPct val="105000"/>
              </a:lnSpc>
              <a:buNone/>
            </a:pPr>
            <a:r>
              <a:rPr lang="en-US" sz="1000" b="1" dirty="0">
                <a:solidFill>
                  <a:srgbClr val="1A3D6D"/>
                </a:solidFill>
                <a:latin typeface="Apple SD Gothic Neo" pitchFamily="34" charset="0"/>
                <a:ea typeface="Apple SD Gothic Neo" pitchFamily="34" charset="-122"/>
                <a:cs typeface="Apple SD Gothic Neo" pitchFamily="34" charset="-120"/>
              </a:rPr>
              <a:t>리전·테넌트 격리 · 학습 미사용</a:t>
            </a:r>
            <a:endParaRPr lang="en-US" sz="1000" dirty="0"/>
          </a:p>
        </p:txBody>
      </p:sp>
      <p:sp>
        <p:nvSpPr>
          <p:cNvPr id="16" name="Shape 13"/>
          <p:cNvSpPr/>
          <p:nvPr/>
        </p:nvSpPr>
        <p:spPr>
          <a:xfrm>
            <a:off x="4279392" y="1783080"/>
            <a:ext cx="3611880" cy="2212848"/>
          </a:xfrm>
          <a:prstGeom prst="roundRect">
            <a:avLst>
              <a:gd name="adj" fmla="val 3719"/>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7" name="Shape 14"/>
          <p:cNvSpPr/>
          <p:nvPr/>
        </p:nvSpPr>
        <p:spPr>
          <a:xfrm>
            <a:off x="4553712" y="2057400"/>
            <a:ext cx="731520" cy="731520"/>
          </a:xfrm>
          <a:prstGeom prst="ellipse">
            <a:avLst/>
          </a:prstGeom>
          <a:solidFill>
            <a:srgbClr val="DBE7F6"/>
          </a:solidFill>
          <a:ln/>
        </p:spPr>
      </p:sp>
      <p:pic>
        <p:nvPicPr>
          <p:cNvPr id="18" name="Image 1" descr="preencoded.png">    </p:cNvPr>
          <p:cNvPicPr>
            <a:picLocks noChangeAspect="1"/>
          </p:cNvPicPr>
          <p:nvPr/>
        </p:nvPicPr>
        <p:blipFill>
          <a:blip r:embed="rId2"/>
          <a:stretch>
            <a:fillRect/>
          </a:stretch>
        </p:blipFill>
        <p:spPr>
          <a:xfrm>
            <a:off x="4743907" y="2247595"/>
            <a:ext cx="351130" cy="351130"/>
          </a:xfrm>
          <a:prstGeom prst="rect">
            <a:avLst/>
          </a:prstGeom>
        </p:spPr>
      </p:pic>
      <p:sp>
        <p:nvSpPr>
          <p:cNvPr id="19" name="Shape 15"/>
          <p:cNvSpPr/>
          <p:nvPr/>
        </p:nvSpPr>
        <p:spPr>
          <a:xfrm>
            <a:off x="7232904" y="2057400"/>
            <a:ext cx="402336" cy="402336"/>
          </a:xfrm>
          <a:prstGeom prst="roundRect">
            <a:avLst>
              <a:gd name="adj" fmla="val 22727"/>
            </a:avLst>
          </a:prstGeom>
          <a:solidFill>
            <a:srgbClr val="7AA5D6"/>
          </a:solidFill>
          <a:ln/>
        </p:spPr>
      </p:sp>
      <p:sp>
        <p:nvSpPr>
          <p:cNvPr id="20" name="Text 16"/>
          <p:cNvSpPr/>
          <p:nvPr/>
        </p:nvSpPr>
        <p:spPr>
          <a:xfrm>
            <a:off x="7232904" y="2057400"/>
            <a:ext cx="402336" cy="402336"/>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2</a:t>
            </a:r>
            <a:endParaRPr lang="en-US" sz="1400" dirty="0"/>
          </a:p>
        </p:txBody>
      </p:sp>
      <p:sp>
        <p:nvSpPr>
          <p:cNvPr id="21" name="Text 17"/>
          <p:cNvSpPr/>
          <p:nvPr/>
        </p:nvSpPr>
        <p:spPr>
          <a:xfrm>
            <a:off x="4553712" y="2807208"/>
            <a:ext cx="3108960" cy="329184"/>
          </a:xfrm>
          <a:prstGeom prst="rect">
            <a:avLst/>
          </a:prstGeom>
          <a:noFill/>
          <a:ln/>
        </p:spPr>
        <p:txBody>
          <a:bodyPr wrap="square" rtlCol="0" anchor="ctr"/>
          <a:lstStyle/>
          <a:p>
            <a:pPr indent="0" marL="0">
              <a:buNone/>
            </a:pPr>
            <a:r>
              <a:rPr lang="en-US" sz="1500" b="1" dirty="0">
                <a:solidFill>
                  <a:srgbClr val="0F2547"/>
                </a:solidFill>
                <a:latin typeface="Apple SD Gothic Neo" pitchFamily="34" charset="0"/>
                <a:ea typeface="Apple SD Gothic Neo" pitchFamily="34" charset="-122"/>
                <a:cs typeface="Apple SD Gothic Neo" pitchFamily="34" charset="-120"/>
              </a:rPr>
              <a:t>보안 경계</a:t>
            </a:r>
            <a:endParaRPr lang="en-US" sz="1500" dirty="0"/>
          </a:p>
        </p:txBody>
      </p:sp>
      <p:sp>
        <p:nvSpPr>
          <p:cNvPr id="22" name="Text 18"/>
          <p:cNvSpPr/>
          <p:nvPr/>
        </p:nvSpPr>
        <p:spPr>
          <a:xfrm>
            <a:off x="4553712" y="3127248"/>
            <a:ext cx="3108960" cy="347472"/>
          </a:xfrm>
          <a:prstGeom prst="rect">
            <a:avLst/>
          </a:prstGeom>
          <a:noFill/>
          <a:ln/>
        </p:spPr>
        <p:txBody>
          <a:bodyPr wrap="square" rtlCol="0" anchor="ctr"/>
          <a:lstStyle/>
          <a:p>
            <a:pPr indent="0" marL="0">
              <a:lnSpc>
                <a:spcPct val="105000"/>
              </a:lnSpc>
              <a:buNone/>
            </a:pPr>
            <a:r>
              <a:rPr lang="en-US" sz="1000" dirty="0">
                <a:solidFill>
                  <a:srgbClr val="5F708A"/>
                </a:solidFill>
                <a:latin typeface="Apple SD Gothic Neo" pitchFamily="34" charset="0"/>
                <a:ea typeface="Apple SD Gothic Neo" pitchFamily="34" charset="-122"/>
                <a:cs typeface="Apple SD Gothic Neo" pitchFamily="34" charset="-120"/>
              </a:rPr>
              <a:t>조직 보안·ID 안에서 도는가</a:t>
            </a:r>
            <a:endParaRPr lang="en-US" sz="1000" dirty="0"/>
          </a:p>
        </p:txBody>
      </p:sp>
      <p:sp>
        <p:nvSpPr>
          <p:cNvPr id="23" name="Text 19"/>
          <p:cNvSpPr/>
          <p:nvPr/>
        </p:nvSpPr>
        <p:spPr>
          <a:xfrm>
            <a:off x="4553712" y="3502152"/>
            <a:ext cx="3154680" cy="402336"/>
          </a:xfrm>
          <a:prstGeom prst="rect">
            <a:avLst/>
          </a:prstGeom>
          <a:noFill/>
          <a:ln/>
        </p:spPr>
        <p:txBody>
          <a:bodyPr wrap="square" rtlCol="0" anchor="t"/>
          <a:lstStyle/>
          <a:p>
            <a:pPr indent="0" marL="0">
              <a:lnSpc>
                <a:spcPct val="105000"/>
              </a:lnSpc>
              <a:buNone/>
            </a:pPr>
            <a:r>
              <a:rPr lang="en-US" sz="1000" b="1" dirty="0">
                <a:solidFill>
                  <a:srgbClr val="4F8FB6"/>
                </a:solidFill>
                <a:latin typeface="Apple SD Gothic Neo" pitchFamily="34" charset="0"/>
                <a:ea typeface="Apple SD Gothic Neo" pitchFamily="34" charset="-122"/>
                <a:cs typeface="Apple SD Gothic Neo" pitchFamily="34" charset="-120"/>
              </a:rPr>
              <a:t>→ </a:t>
            </a:r>
            <a:pPr indent="0" marL="0">
              <a:lnSpc>
                <a:spcPct val="105000"/>
              </a:lnSpc>
              <a:buNone/>
            </a:pPr>
            <a:r>
              <a:rPr lang="en-US" sz="1000" b="1" dirty="0">
                <a:solidFill>
                  <a:srgbClr val="1A3D6D"/>
                </a:solidFill>
                <a:latin typeface="Apple SD Gothic Neo" pitchFamily="34" charset="0"/>
                <a:ea typeface="Apple SD Gothic Neo" pitchFamily="34" charset="-122"/>
                <a:cs typeface="Apple SD Gothic Neo" pitchFamily="34" charset="-120"/>
              </a:rPr>
              <a:t>Entra · Purview · Defender</a:t>
            </a:r>
            <a:endParaRPr lang="en-US" sz="1000" dirty="0"/>
          </a:p>
        </p:txBody>
      </p:sp>
      <p:sp>
        <p:nvSpPr>
          <p:cNvPr id="24" name="Shape 20"/>
          <p:cNvSpPr/>
          <p:nvPr/>
        </p:nvSpPr>
        <p:spPr>
          <a:xfrm>
            <a:off x="8010144" y="1783080"/>
            <a:ext cx="3611880" cy="2212848"/>
          </a:xfrm>
          <a:prstGeom prst="roundRect">
            <a:avLst>
              <a:gd name="adj" fmla="val 3719"/>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5" name="Shape 21"/>
          <p:cNvSpPr/>
          <p:nvPr/>
        </p:nvSpPr>
        <p:spPr>
          <a:xfrm>
            <a:off x="8284464" y="2057400"/>
            <a:ext cx="731520" cy="731520"/>
          </a:xfrm>
          <a:prstGeom prst="ellipse">
            <a:avLst/>
          </a:prstGeom>
          <a:solidFill>
            <a:srgbClr val="DBE7F6"/>
          </a:solidFill>
          <a:ln/>
        </p:spPr>
      </p:sp>
      <p:pic>
        <p:nvPicPr>
          <p:cNvPr id="26" name="Image 2" descr="preencoded.png">    </p:cNvPr>
          <p:cNvPicPr>
            <a:picLocks noChangeAspect="1"/>
          </p:cNvPicPr>
          <p:nvPr/>
        </p:nvPicPr>
        <p:blipFill>
          <a:blip r:embed="rId3"/>
          <a:stretch>
            <a:fillRect/>
          </a:stretch>
        </p:blipFill>
        <p:spPr>
          <a:xfrm>
            <a:off x="8474659" y="2247595"/>
            <a:ext cx="351130" cy="351130"/>
          </a:xfrm>
          <a:prstGeom prst="rect">
            <a:avLst/>
          </a:prstGeom>
        </p:spPr>
      </p:pic>
      <p:sp>
        <p:nvSpPr>
          <p:cNvPr id="27" name="Shape 22"/>
          <p:cNvSpPr/>
          <p:nvPr/>
        </p:nvSpPr>
        <p:spPr>
          <a:xfrm>
            <a:off x="10963656" y="2057400"/>
            <a:ext cx="402336" cy="402336"/>
          </a:xfrm>
          <a:prstGeom prst="roundRect">
            <a:avLst>
              <a:gd name="adj" fmla="val 22727"/>
            </a:avLst>
          </a:prstGeom>
          <a:solidFill>
            <a:srgbClr val="7AA5D6"/>
          </a:solidFill>
          <a:ln/>
        </p:spPr>
      </p:sp>
      <p:sp>
        <p:nvSpPr>
          <p:cNvPr id="28" name="Text 23"/>
          <p:cNvSpPr/>
          <p:nvPr/>
        </p:nvSpPr>
        <p:spPr>
          <a:xfrm>
            <a:off x="10963656" y="2057400"/>
            <a:ext cx="402336" cy="402336"/>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3</a:t>
            </a:r>
            <a:endParaRPr lang="en-US" sz="1400" dirty="0"/>
          </a:p>
        </p:txBody>
      </p:sp>
      <p:sp>
        <p:nvSpPr>
          <p:cNvPr id="29" name="Text 24"/>
          <p:cNvSpPr/>
          <p:nvPr/>
        </p:nvSpPr>
        <p:spPr>
          <a:xfrm>
            <a:off x="8284464" y="2807208"/>
            <a:ext cx="3108960" cy="329184"/>
          </a:xfrm>
          <a:prstGeom prst="rect">
            <a:avLst/>
          </a:prstGeom>
          <a:noFill/>
          <a:ln/>
        </p:spPr>
        <p:txBody>
          <a:bodyPr wrap="square" rtlCol="0" anchor="ctr"/>
          <a:lstStyle/>
          <a:p>
            <a:pPr indent="0" marL="0">
              <a:buNone/>
            </a:pPr>
            <a:r>
              <a:rPr lang="en-US" sz="1500" b="1" dirty="0">
                <a:solidFill>
                  <a:srgbClr val="0F2547"/>
                </a:solidFill>
                <a:latin typeface="Apple SD Gothic Neo" pitchFamily="34" charset="0"/>
                <a:ea typeface="Apple SD Gothic Neo" pitchFamily="34" charset="-122"/>
                <a:cs typeface="Apple SD Gothic Neo" pitchFamily="34" charset="-120"/>
              </a:rPr>
              <a:t>모델 선택·운영</a:t>
            </a:r>
            <a:endParaRPr lang="en-US" sz="1500" dirty="0"/>
          </a:p>
        </p:txBody>
      </p:sp>
      <p:sp>
        <p:nvSpPr>
          <p:cNvPr id="30" name="Text 25"/>
          <p:cNvSpPr/>
          <p:nvPr/>
        </p:nvSpPr>
        <p:spPr>
          <a:xfrm>
            <a:off x="8284464" y="3127248"/>
            <a:ext cx="3108960" cy="347472"/>
          </a:xfrm>
          <a:prstGeom prst="rect">
            <a:avLst/>
          </a:prstGeom>
          <a:noFill/>
          <a:ln/>
        </p:spPr>
        <p:txBody>
          <a:bodyPr wrap="square" rtlCol="0" anchor="ctr"/>
          <a:lstStyle/>
          <a:p>
            <a:pPr indent="0" marL="0">
              <a:lnSpc>
                <a:spcPct val="105000"/>
              </a:lnSpc>
              <a:buNone/>
            </a:pPr>
            <a:r>
              <a:rPr lang="en-US" sz="1000" dirty="0">
                <a:solidFill>
                  <a:srgbClr val="5F708A"/>
                </a:solidFill>
                <a:latin typeface="Apple SD Gothic Neo" pitchFamily="34" charset="0"/>
                <a:ea typeface="Apple SD Gothic Neo" pitchFamily="34" charset="-122"/>
                <a:cs typeface="Apple SD Gothic Neo" pitchFamily="34" charset="-120"/>
              </a:rPr>
              <a:t>최신 모델을 바꿔 쓸 수 있나</a:t>
            </a:r>
            <a:endParaRPr lang="en-US" sz="1000" dirty="0"/>
          </a:p>
        </p:txBody>
      </p:sp>
      <p:sp>
        <p:nvSpPr>
          <p:cNvPr id="31" name="Text 26"/>
          <p:cNvSpPr/>
          <p:nvPr/>
        </p:nvSpPr>
        <p:spPr>
          <a:xfrm>
            <a:off x="8284464" y="3502152"/>
            <a:ext cx="3154680" cy="402336"/>
          </a:xfrm>
          <a:prstGeom prst="rect">
            <a:avLst/>
          </a:prstGeom>
          <a:noFill/>
          <a:ln/>
        </p:spPr>
        <p:txBody>
          <a:bodyPr wrap="square" rtlCol="0" anchor="t"/>
          <a:lstStyle/>
          <a:p>
            <a:pPr indent="0" marL="0">
              <a:lnSpc>
                <a:spcPct val="105000"/>
              </a:lnSpc>
              <a:buNone/>
            </a:pPr>
            <a:r>
              <a:rPr lang="en-US" sz="1000" b="1" dirty="0">
                <a:solidFill>
                  <a:srgbClr val="4F8FB6"/>
                </a:solidFill>
                <a:latin typeface="Apple SD Gothic Neo" pitchFamily="34" charset="0"/>
                <a:ea typeface="Apple SD Gothic Neo" pitchFamily="34" charset="-122"/>
                <a:cs typeface="Apple SD Gothic Neo" pitchFamily="34" charset="-120"/>
              </a:rPr>
              <a:t>→ </a:t>
            </a:r>
            <a:pPr indent="0" marL="0">
              <a:lnSpc>
                <a:spcPct val="105000"/>
              </a:lnSpc>
              <a:buNone/>
            </a:pPr>
            <a:r>
              <a:rPr lang="en-US" sz="1000" b="1" dirty="0">
                <a:solidFill>
                  <a:srgbClr val="1A3D6D"/>
                </a:solidFill>
                <a:latin typeface="Apple SD Gothic Neo" pitchFamily="34" charset="0"/>
                <a:ea typeface="Apple SD Gothic Neo" pitchFamily="34" charset="-122"/>
                <a:cs typeface="Apple SD Gothic Neo" pitchFamily="34" charset="-120"/>
              </a:rPr>
              <a:t>Foundry 모델 카탈로그</a:t>
            </a:r>
            <a:endParaRPr lang="en-US" sz="1000" dirty="0"/>
          </a:p>
        </p:txBody>
      </p:sp>
      <p:sp>
        <p:nvSpPr>
          <p:cNvPr id="32" name="Shape 27"/>
          <p:cNvSpPr/>
          <p:nvPr/>
        </p:nvSpPr>
        <p:spPr>
          <a:xfrm>
            <a:off x="548640" y="4114800"/>
            <a:ext cx="3611880" cy="2212848"/>
          </a:xfrm>
          <a:prstGeom prst="roundRect">
            <a:avLst>
              <a:gd name="adj" fmla="val 3719"/>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33" name="Shape 28"/>
          <p:cNvSpPr/>
          <p:nvPr/>
        </p:nvSpPr>
        <p:spPr>
          <a:xfrm>
            <a:off x="822960" y="4389120"/>
            <a:ext cx="731520" cy="731520"/>
          </a:xfrm>
          <a:prstGeom prst="ellipse">
            <a:avLst/>
          </a:prstGeom>
          <a:solidFill>
            <a:srgbClr val="DBE7F6"/>
          </a:solidFill>
          <a:ln/>
        </p:spPr>
      </p:sp>
      <p:pic>
        <p:nvPicPr>
          <p:cNvPr id="34" name="Image 3" descr="preencoded.png">    </p:cNvPr>
          <p:cNvPicPr>
            <a:picLocks noChangeAspect="1"/>
          </p:cNvPicPr>
          <p:nvPr/>
        </p:nvPicPr>
        <p:blipFill>
          <a:blip r:embed="rId4"/>
          <a:stretch>
            <a:fillRect/>
          </a:stretch>
        </p:blipFill>
        <p:spPr>
          <a:xfrm>
            <a:off x="1013155" y="4579315"/>
            <a:ext cx="351130" cy="351130"/>
          </a:xfrm>
          <a:prstGeom prst="rect">
            <a:avLst/>
          </a:prstGeom>
        </p:spPr>
      </p:pic>
      <p:sp>
        <p:nvSpPr>
          <p:cNvPr id="35" name="Shape 29"/>
          <p:cNvSpPr/>
          <p:nvPr/>
        </p:nvSpPr>
        <p:spPr>
          <a:xfrm>
            <a:off x="3502152" y="4389120"/>
            <a:ext cx="402336" cy="402336"/>
          </a:xfrm>
          <a:prstGeom prst="roundRect">
            <a:avLst>
              <a:gd name="adj" fmla="val 22727"/>
            </a:avLst>
          </a:prstGeom>
          <a:solidFill>
            <a:srgbClr val="7AA5D6"/>
          </a:solidFill>
          <a:ln/>
        </p:spPr>
      </p:sp>
      <p:sp>
        <p:nvSpPr>
          <p:cNvPr id="36" name="Text 30"/>
          <p:cNvSpPr/>
          <p:nvPr/>
        </p:nvSpPr>
        <p:spPr>
          <a:xfrm>
            <a:off x="3502152" y="4389120"/>
            <a:ext cx="402336" cy="402336"/>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4</a:t>
            </a:r>
            <a:endParaRPr lang="en-US" sz="1400" dirty="0"/>
          </a:p>
        </p:txBody>
      </p:sp>
      <p:sp>
        <p:nvSpPr>
          <p:cNvPr id="37" name="Text 31"/>
          <p:cNvSpPr/>
          <p:nvPr/>
        </p:nvSpPr>
        <p:spPr>
          <a:xfrm>
            <a:off x="822960" y="5138928"/>
            <a:ext cx="3108960" cy="329184"/>
          </a:xfrm>
          <a:prstGeom prst="rect">
            <a:avLst/>
          </a:prstGeom>
          <a:noFill/>
          <a:ln/>
        </p:spPr>
        <p:txBody>
          <a:bodyPr wrap="square" rtlCol="0" anchor="ctr"/>
          <a:lstStyle/>
          <a:p>
            <a:pPr indent="0" marL="0">
              <a:buNone/>
            </a:pPr>
            <a:r>
              <a:rPr lang="en-US" sz="1500" b="1" dirty="0">
                <a:solidFill>
                  <a:srgbClr val="0F2547"/>
                </a:solidFill>
                <a:latin typeface="Apple SD Gothic Neo" pitchFamily="34" charset="0"/>
                <a:ea typeface="Apple SD Gothic Neo" pitchFamily="34" charset="-122"/>
                <a:cs typeface="Apple SD Gothic Neo" pitchFamily="34" charset="-120"/>
              </a:rPr>
              <a:t>거버넌스</a:t>
            </a:r>
            <a:endParaRPr lang="en-US" sz="1500" dirty="0"/>
          </a:p>
        </p:txBody>
      </p:sp>
      <p:sp>
        <p:nvSpPr>
          <p:cNvPr id="38" name="Text 32"/>
          <p:cNvSpPr/>
          <p:nvPr/>
        </p:nvSpPr>
        <p:spPr>
          <a:xfrm>
            <a:off x="822960" y="5458968"/>
            <a:ext cx="3108960" cy="347472"/>
          </a:xfrm>
          <a:prstGeom prst="rect">
            <a:avLst/>
          </a:prstGeom>
          <a:noFill/>
          <a:ln/>
        </p:spPr>
        <p:txBody>
          <a:bodyPr wrap="square" rtlCol="0" anchor="ctr"/>
          <a:lstStyle/>
          <a:p>
            <a:pPr indent="0" marL="0">
              <a:lnSpc>
                <a:spcPct val="105000"/>
              </a:lnSpc>
              <a:buNone/>
            </a:pPr>
            <a:r>
              <a:rPr lang="en-US" sz="1000" dirty="0">
                <a:solidFill>
                  <a:srgbClr val="5F708A"/>
                </a:solidFill>
                <a:latin typeface="Apple SD Gothic Neo" pitchFamily="34" charset="0"/>
                <a:ea typeface="Apple SD Gothic Neo" pitchFamily="34" charset="-122"/>
                <a:cs typeface="Apple SD Gothic Neo" pitchFamily="34" charset="-120"/>
              </a:rPr>
              <a:t>누가·무엇을 쓰는지 통제되나</a:t>
            </a:r>
            <a:endParaRPr lang="en-US" sz="1000" dirty="0"/>
          </a:p>
        </p:txBody>
      </p:sp>
      <p:sp>
        <p:nvSpPr>
          <p:cNvPr id="39" name="Text 33"/>
          <p:cNvSpPr/>
          <p:nvPr/>
        </p:nvSpPr>
        <p:spPr>
          <a:xfrm>
            <a:off x="822960" y="5833872"/>
            <a:ext cx="3154680" cy="402336"/>
          </a:xfrm>
          <a:prstGeom prst="rect">
            <a:avLst/>
          </a:prstGeom>
          <a:noFill/>
          <a:ln/>
        </p:spPr>
        <p:txBody>
          <a:bodyPr wrap="square" rtlCol="0" anchor="t"/>
          <a:lstStyle/>
          <a:p>
            <a:pPr indent="0" marL="0">
              <a:lnSpc>
                <a:spcPct val="105000"/>
              </a:lnSpc>
              <a:buNone/>
            </a:pPr>
            <a:r>
              <a:rPr lang="en-US" sz="1000" b="1" dirty="0">
                <a:solidFill>
                  <a:srgbClr val="4F8FB6"/>
                </a:solidFill>
                <a:latin typeface="Apple SD Gothic Neo" pitchFamily="34" charset="0"/>
                <a:ea typeface="Apple SD Gothic Neo" pitchFamily="34" charset="-122"/>
                <a:cs typeface="Apple SD Gothic Neo" pitchFamily="34" charset="-120"/>
              </a:rPr>
              <a:t>→ </a:t>
            </a:r>
            <a:pPr indent="0" marL="0">
              <a:lnSpc>
                <a:spcPct val="105000"/>
              </a:lnSpc>
              <a:buNone/>
            </a:pPr>
            <a:r>
              <a:rPr lang="en-US" sz="1000" b="1" dirty="0">
                <a:solidFill>
                  <a:srgbClr val="1A3D6D"/>
                </a:solidFill>
                <a:latin typeface="Apple SD Gothic Neo" pitchFamily="34" charset="0"/>
                <a:ea typeface="Apple SD Gothic Neo" pitchFamily="34" charset="-122"/>
                <a:cs typeface="Apple SD Gothic Neo" pitchFamily="34" charset="-120"/>
              </a:rPr>
              <a:t>Agent 365 · Purview 감사</a:t>
            </a:r>
            <a:endParaRPr lang="en-US" sz="1000" dirty="0"/>
          </a:p>
        </p:txBody>
      </p:sp>
      <p:sp>
        <p:nvSpPr>
          <p:cNvPr id="40" name="Shape 34"/>
          <p:cNvSpPr/>
          <p:nvPr/>
        </p:nvSpPr>
        <p:spPr>
          <a:xfrm>
            <a:off x="4279392" y="4114800"/>
            <a:ext cx="3611880" cy="2212848"/>
          </a:xfrm>
          <a:prstGeom prst="roundRect">
            <a:avLst>
              <a:gd name="adj" fmla="val 3719"/>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41" name="Shape 35"/>
          <p:cNvSpPr/>
          <p:nvPr/>
        </p:nvSpPr>
        <p:spPr>
          <a:xfrm>
            <a:off x="4553712" y="4389120"/>
            <a:ext cx="731520" cy="731520"/>
          </a:xfrm>
          <a:prstGeom prst="ellipse">
            <a:avLst/>
          </a:prstGeom>
          <a:solidFill>
            <a:srgbClr val="DBE7F6"/>
          </a:solidFill>
          <a:ln/>
        </p:spPr>
      </p:sp>
      <p:pic>
        <p:nvPicPr>
          <p:cNvPr id="42" name="Image 4" descr="preencoded.png">    </p:cNvPr>
          <p:cNvPicPr>
            <a:picLocks noChangeAspect="1"/>
          </p:cNvPicPr>
          <p:nvPr/>
        </p:nvPicPr>
        <p:blipFill>
          <a:blip r:embed="rId5"/>
          <a:stretch>
            <a:fillRect/>
          </a:stretch>
        </p:blipFill>
        <p:spPr>
          <a:xfrm>
            <a:off x="4743907" y="4579315"/>
            <a:ext cx="351130" cy="351130"/>
          </a:xfrm>
          <a:prstGeom prst="rect">
            <a:avLst/>
          </a:prstGeom>
        </p:spPr>
      </p:pic>
      <p:sp>
        <p:nvSpPr>
          <p:cNvPr id="43" name="Shape 36"/>
          <p:cNvSpPr/>
          <p:nvPr/>
        </p:nvSpPr>
        <p:spPr>
          <a:xfrm>
            <a:off x="7232904" y="4389120"/>
            <a:ext cx="402336" cy="402336"/>
          </a:xfrm>
          <a:prstGeom prst="roundRect">
            <a:avLst>
              <a:gd name="adj" fmla="val 22727"/>
            </a:avLst>
          </a:prstGeom>
          <a:solidFill>
            <a:srgbClr val="7AA5D6"/>
          </a:solidFill>
          <a:ln/>
        </p:spPr>
      </p:sp>
      <p:sp>
        <p:nvSpPr>
          <p:cNvPr id="44" name="Text 37"/>
          <p:cNvSpPr/>
          <p:nvPr/>
        </p:nvSpPr>
        <p:spPr>
          <a:xfrm>
            <a:off x="7232904" y="4389120"/>
            <a:ext cx="402336" cy="402336"/>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5</a:t>
            </a:r>
            <a:endParaRPr lang="en-US" sz="1400" dirty="0"/>
          </a:p>
        </p:txBody>
      </p:sp>
      <p:sp>
        <p:nvSpPr>
          <p:cNvPr id="45" name="Text 38"/>
          <p:cNvSpPr/>
          <p:nvPr/>
        </p:nvSpPr>
        <p:spPr>
          <a:xfrm>
            <a:off x="4553712" y="5138928"/>
            <a:ext cx="3108960" cy="329184"/>
          </a:xfrm>
          <a:prstGeom prst="rect">
            <a:avLst/>
          </a:prstGeom>
          <a:noFill/>
          <a:ln/>
        </p:spPr>
        <p:txBody>
          <a:bodyPr wrap="square" rtlCol="0" anchor="ctr"/>
          <a:lstStyle/>
          <a:p>
            <a:pPr indent="0" marL="0">
              <a:buNone/>
            </a:pPr>
            <a:r>
              <a:rPr lang="en-US" sz="1500" b="1" dirty="0">
                <a:solidFill>
                  <a:srgbClr val="0F2547"/>
                </a:solidFill>
                <a:latin typeface="Apple SD Gothic Neo" pitchFamily="34" charset="0"/>
                <a:ea typeface="Apple SD Gothic Neo" pitchFamily="34" charset="-122"/>
                <a:cs typeface="Apple SD Gothic Neo" pitchFamily="34" charset="-120"/>
              </a:rPr>
              <a:t>통합 가치</a:t>
            </a:r>
            <a:endParaRPr lang="en-US" sz="1500" dirty="0"/>
          </a:p>
        </p:txBody>
      </p:sp>
      <p:sp>
        <p:nvSpPr>
          <p:cNvPr id="46" name="Text 39"/>
          <p:cNvSpPr/>
          <p:nvPr/>
        </p:nvSpPr>
        <p:spPr>
          <a:xfrm>
            <a:off x="4553712" y="5458968"/>
            <a:ext cx="3108960" cy="347472"/>
          </a:xfrm>
          <a:prstGeom prst="rect">
            <a:avLst/>
          </a:prstGeom>
          <a:noFill/>
          <a:ln/>
        </p:spPr>
        <p:txBody>
          <a:bodyPr wrap="square" rtlCol="0" anchor="ctr"/>
          <a:lstStyle/>
          <a:p>
            <a:pPr indent="0" marL="0">
              <a:lnSpc>
                <a:spcPct val="105000"/>
              </a:lnSpc>
              <a:buNone/>
            </a:pPr>
            <a:r>
              <a:rPr lang="en-US" sz="1000" dirty="0">
                <a:solidFill>
                  <a:srgbClr val="5F708A"/>
                </a:solidFill>
                <a:latin typeface="Apple SD Gothic Neo" pitchFamily="34" charset="0"/>
                <a:ea typeface="Apple SD Gothic Neo" pitchFamily="34" charset="-122"/>
                <a:cs typeface="Apple SD Gothic Neo" pitchFamily="34" charset="-120"/>
              </a:rPr>
              <a:t>이미 쓰는 시스템과 연결되나</a:t>
            </a:r>
            <a:endParaRPr lang="en-US" sz="1000" dirty="0"/>
          </a:p>
        </p:txBody>
      </p:sp>
      <p:sp>
        <p:nvSpPr>
          <p:cNvPr id="47" name="Text 40"/>
          <p:cNvSpPr/>
          <p:nvPr/>
        </p:nvSpPr>
        <p:spPr>
          <a:xfrm>
            <a:off x="4553712" y="5833872"/>
            <a:ext cx="3154680" cy="402336"/>
          </a:xfrm>
          <a:prstGeom prst="rect">
            <a:avLst/>
          </a:prstGeom>
          <a:noFill/>
          <a:ln/>
        </p:spPr>
        <p:txBody>
          <a:bodyPr wrap="square" rtlCol="0" anchor="t"/>
          <a:lstStyle/>
          <a:p>
            <a:pPr indent="0" marL="0">
              <a:lnSpc>
                <a:spcPct val="105000"/>
              </a:lnSpc>
              <a:buNone/>
            </a:pPr>
            <a:r>
              <a:rPr lang="en-US" sz="1000" b="1" dirty="0">
                <a:solidFill>
                  <a:srgbClr val="4F8FB6"/>
                </a:solidFill>
                <a:latin typeface="Apple SD Gothic Neo" pitchFamily="34" charset="0"/>
                <a:ea typeface="Apple SD Gothic Neo" pitchFamily="34" charset="-122"/>
                <a:cs typeface="Apple SD Gothic Neo" pitchFamily="34" charset="-120"/>
              </a:rPr>
              <a:t>→ </a:t>
            </a:r>
            <a:pPr indent="0" marL="0">
              <a:lnSpc>
                <a:spcPct val="105000"/>
              </a:lnSpc>
              <a:buNone/>
            </a:pPr>
            <a:r>
              <a:rPr lang="en-US" sz="1000" b="1" dirty="0">
                <a:solidFill>
                  <a:srgbClr val="1A3D6D"/>
                </a:solidFill>
                <a:latin typeface="Apple SD Gothic Neo" pitchFamily="34" charset="0"/>
                <a:ea typeface="Apple SD Gothic Neo" pitchFamily="34" charset="-122"/>
                <a:cs typeface="Apple SD Gothic Neo" pitchFamily="34" charset="-120"/>
              </a:rPr>
              <a:t>M365 · GitHub · Fabric 연동</a:t>
            </a:r>
            <a:endParaRPr lang="en-US" sz="1000" dirty="0"/>
          </a:p>
        </p:txBody>
      </p:sp>
      <p:sp>
        <p:nvSpPr>
          <p:cNvPr id="48" name="Shape 41"/>
          <p:cNvSpPr/>
          <p:nvPr/>
        </p:nvSpPr>
        <p:spPr>
          <a:xfrm>
            <a:off x="8010144" y="4114800"/>
            <a:ext cx="3611880" cy="2212848"/>
          </a:xfrm>
          <a:prstGeom prst="roundRect">
            <a:avLst>
              <a:gd name="adj" fmla="val 3719"/>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49" name="Shape 42"/>
          <p:cNvSpPr/>
          <p:nvPr/>
        </p:nvSpPr>
        <p:spPr>
          <a:xfrm>
            <a:off x="8284464" y="4389120"/>
            <a:ext cx="731520" cy="731520"/>
          </a:xfrm>
          <a:prstGeom prst="ellipse">
            <a:avLst/>
          </a:prstGeom>
          <a:solidFill>
            <a:srgbClr val="DBE7F6"/>
          </a:solidFill>
          <a:ln/>
        </p:spPr>
      </p:sp>
      <p:pic>
        <p:nvPicPr>
          <p:cNvPr id="50" name="Image 5" descr="preencoded.png">    </p:cNvPr>
          <p:cNvPicPr>
            <a:picLocks noChangeAspect="1"/>
          </p:cNvPicPr>
          <p:nvPr/>
        </p:nvPicPr>
        <p:blipFill>
          <a:blip r:embed="rId6"/>
          <a:stretch>
            <a:fillRect/>
          </a:stretch>
        </p:blipFill>
        <p:spPr>
          <a:xfrm>
            <a:off x="8474659" y="4579315"/>
            <a:ext cx="351130" cy="351130"/>
          </a:xfrm>
          <a:prstGeom prst="rect">
            <a:avLst/>
          </a:prstGeom>
        </p:spPr>
      </p:pic>
      <p:sp>
        <p:nvSpPr>
          <p:cNvPr id="51" name="Shape 43"/>
          <p:cNvSpPr/>
          <p:nvPr/>
        </p:nvSpPr>
        <p:spPr>
          <a:xfrm>
            <a:off x="10963656" y="4389120"/>
            <a:ext cx="402336" cy="402336"/>
          </a:xfrm>
          <a:prstGeom prst="roundRect">
            <a:avLst>
              <a:gd name="adj" fmla="val 22727"/>
            </a:avLst>
          </a:prstGeom>
          <a:solidFill>
            <a:srgbClr val="7AA5D6"/>
          </a:solidFill>
          <a:ln/>
        </p:spPr>
      </p:sp>
      <p:sp>
        <p:nvSpPr>
          <p:cNvPr id="52" name="Text 44"/>
          <p:cNvSpPr/>
          <p:nvPr/>
        </p:nvSpPr>
        <p:spPr>
          <a:xfrm>
            <a:off x="10963656" y="4389120"/>
            <a:ext cx="402336" cy="402336"/>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6</a:t>
            </a:r>
            <a:endParaRPr lang="en-US" sz="1400" dirty="0"/>
          </a:p>
        </p:txBody>
      </p:sp>
      <p:sp>
        <p:nvSpPr>
          <p:cNvPr id="53" name="Text 45"/>
          <p:cNvSpPr/>
          <p:nvPr/>
        </p:nvSpPr>
        <p:spPr>
          <a:xfrm>
            <a:off x="8284464" y="5138928"/>
            <a:ext cx="3108960" cy="329184"/>
          </a:xfrm>
          <a:prstGeom prst="rect">
            <a:avLst/>
          </a:prstGeom>
          <a:noFill/>
          <a:ln/>
        </p:spPr>
        <p:txBody>
          <a:bodyPr wrap="square" rtlCol="0" anchor="ctr"/>
          <a:lstStyle/>
          <a:p>
            <a:pPr indent="0" marL="0">
              <a:buNone/>
            </a:pPr>
            <a:r>
              <a:rPr lang="en-US" sz="1500" b="1" dirty="0">
                <a:solidFill>
                  <a:srgbClr val="0F2547"/>
                </a:solidFill>
                <a:latin typeface="Apple SD Gothic Neo" pitchFamily="34" charset="0"/>
                <a:ea typeface="Apple SD Gothic Neo" pitchFamily="34" charset="-122"/>
                <a:cs typeface="Apple SD Gothic Neo" pitchFamily="34" charset="-120"/>
              </a:rPr>
              <a:t>비용 예측성</a:t>
            </a:r>
            <a:endParaRPr lang="en-US" sz="1500" dirty="0"/>
          </a:p>
        </p:txBody>
      </p:sp>
      <p:sp>
        <p:nvSpPr>
          <p:cNvPr id="54" name="Text 46"/>
          <p:cNvSpPr/>
          <p:nvPr/>
        </p:nvSpPr>
        <p:spPr>
          <a:xfrm>
            <a:off x="8284464" y="5458968"/>
            <a:ext cx="3108960" cy="347472"/>
          </a:xfrm>
          <a:prstGeom prst="rect">
            <a:avLst/>
          </a:prstGeom>
          <a:noFill/>
          <a:ln/>
        </p:spPr>
        <p:txBody>
          <a:bodyPr wrap="square" rtlCol="0" anchor="ctr"/>
          <a:lstStyle/>
          <a:p>
            <a:pPr indent="0" marL="0">
              <a:lnSpc>
                <a:spcPct val="105000"/>
              </a:lnSpc>
              <a:buNone/>
            </a:pPr>
            <a:r>
              <a:rPr lang="en-US" sz="1000" dirty="0">
                <a:solidFill>
                  <a:srgbClr val="5F708A"/>
                </a:solidFill>
                <a:latin typeface="Apple SD Gothic Neo" pitchFamily="34" charset="0"/>
                <a:ea typeface="Apple SD Gothic Neo" pitchFamily="34" charset="-122"/>
                <a:cs typeface="Apple SD Gothic Neo" pitchFamily="34" charset="-120"/>
              </a:rPr>
              <a:t>확장 시 비용이 통제되나</a:t>
            </a:r>
            <a:endParaRPr lang="en-US" sz="1000" dirty="0"/>
          </a:p>
        </p:txBody>
      </p:sp>
      <p:sp>
        <p:nvSpPr>
          <p:cNvPr id="55" name="Text 47"/>
          <p:cNvSpPr/>
          <p:nvPr/>
        </p:nvSpPr>
        <p:spPr>
          <a:xfrm>
            <a:off x="8284464" y="5833872"/>
            <a:ext cx="3154680" cy="402336"/>
          </a:xfrm>
          <a:prstGeom prst="rect">
            <a:avLst/>
          </a:prstGeom>
          <a:noFill/>
          <a:ln/>
        </p:spPr>
        <p:txBody>
          <a:bodyPr wrap="square" rtlCol="0" anchor="t"/>
          <a:lstStyle/>
          <a:p>
            <a:pPr indent="0" marL="0">
              <a:lnSpc>
                <a:spcPct val="105000"/>
              </a:lnSpc>
              <a:buNone/>
            </a:pPr>
            <a:r>
              <a:rPr lang="en-US" sz="1000" b="1" dirty="0">
                <a:solidFill>
                  <a:srgbClr val="4F8FB6"/>
                </a:solidFill>
                <a:latin typeface="Apple SD Gothic Neo" pitchFamily="34" charset="0"/>
                <a:ea typeface="Apple SD Gothic Neo" pitchFamily="34" charset="-122"/>
                <a:cs typeface="Apple SD Gothic Neo" pitchFamily="34" charset="-120"/>
              </a:rPr>
              <a:t>→ </a:t>
            </a:r>
            <a:pPr indent="0" marL="0">
              <a:lnSpc>
                <a:spcPct val="105000"/>
              </a:lnSpc>
              <a:buNone/>
            </a:pPr>
            <a:r>
              <a:rPr lang="en-US" sz="1000" b="1" dirty="0">
                <a:solidFill>
                  <a:srgbClr val="1A3D6D"/>
                </a:solidFill>
                <a:latin typeface="Apple SD Gothic Neo" pitchFamily="34" charset="0"/>
                <a:ea typeface="Apple SD Gothic Neo" pitchFamily="34" charset="-122"/>
                <a:cs typeface="Apple SD Gothic Neo" pitchFamily="34" charset="-120"/>
              </a:rPr>
              <a:t>관리형 · 작게 시작해 확장</a:t>
            </a:r>
            <a:endParaRPr lang="en-US" sz="1000" dirty="0"/>
          </a:p>
        </p:txBody>
      </p:sp>
      <p:sp>
        <p:nvSpPr>
          <p:cNvPr id="56" name="Text 48"/>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57" name="Text 49"/>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4F8FB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4. AZURE의 관점</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제품이 아니라 비즈니스 성과입니다</a:t>
            </a:r>
            <a:endParaRPr lang="en-US" sz="3000" dirty="0"/>
          </a:p>
        </p:txBody>
      </p:sp>
      <p:sp>
        <p:nvSpPr>
          <p:cNvPr id="8" name="Shape 6"/>
          <p:cNvSpPr/>
          <p:nvPr/>
        </p:nvSpPr>
        <p:spPr>
          <a:xfrm>
            <a:off x="548640" y="1691640"/>
            <a:ext cx="310896" cy="310896"/>
          </a:xfrm>
          <a:prstGeom prst="ellipse">
            <a:avLst/>
          </a:prstGeom>
          <a:solidFill>
            <a:srgbClr val="DBE7F6"/>
          </a:solidFill>
          <a:ln/>
        </p:spPr>
      </p:sp>
      <p:pic>
        <p:nvPicPr>
          <p:cNvPr id="9" name="Image 0" descr="preencoded.png">    </p:cNvPr>
          <p:cNvPicPr>
            <a:picLocks noChangeAspect="1"/>
          </p:cNvPicPr>
          <p:nvPr/>
        </p:nvPicPr>
        <p:blipFill>
          <a:blip r:embed="rId1"/>
          <a:stretch>
            <a:fillRect/>
          </a:stretch>
        </p:blipFill>
        <p:spPr>
          <a:xfrm>
            <a:off x="621792" y="1764792"/>
            <a:ext cx="164592" cy="164592"/>
          </a:xfrm>
          <a:prstGeom prst="rect">
            <a:avLst/>
          </a:prstGeom>
        </p:spPr>
      </p:pic>
      <p:sp>
        <p:nvSpPr>
          <p:cNvPr id="10" name="Text 7"/>
          <p:cNvSpPr/>
          <p:nvPr/>
        </p:nvSpPr>
        <p:spPr>
          <a:xfrm>
            <a:off x="950976" y="1673352"/>
            <a:ext cx="5120640" cy="365760"/>
          </a:xfrm>
          <a:prstGeom prst="rect">
            <a:avLst/>
          </a:prstGeom>
          <a:noFill/>
          <a:ln/>
        </p:spPr>
        <p:txBody>
          <a:bodyPr wrap="square" rtlCol="0" anchor="ctr"/>
          <a:lstStyle/>
          <a:p>
            <a:pPr indent="0" marL="0">
              <a:buNone/>
            </a:pPr>
            <a:r>
              <a:rPr lang="en-US" sz="1500" b="1" dirty="0">
                <a:solidFill>
                  <a:srgbClr val="1A3D6D"/>
                </a:solidFill>
                <a:latin typeface="Apple SD Gothic Neo" pitchFamily="34" charset="0"/>
                <a:ea typeface="Apple SD Gothic Neo" pitchFamily="34" charset="-122"/>
                <a:cs typeface="Apple SD Gothic Neo" pitchFamily="34" charset="-120"/>
              </a:rPr>
              <a:t>3가지 원칙</a:t>
            </a:r>
            <a:endParaRPr lang="en-US" sz="1500" dirty="0"/>
          </a:p>
        </p:txBody>
      </p:sp>
      <p:sp>
        <p:nvSpPr>
          <p:cNvPr id="11" name="Shape 8"/>
          <p:cNvSpPr/>
          <p:nvPr/>
        </p:nvSpPr>
        <p:spPr>
          <a:xfrm>
            <a:off x="548640" y="2103120"/>
            <a:ext cx="5349240" cy="868680"/>
          </a:xfrm>
          <a:prstGeom prst="roundRect">
            <a:avLst>
              <a:gd name="adj" fmla="val 9474"/>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2" name="Shape 9"/>
          <p:cNvSpPr/>
          <p:nvPr/>
        </p:nvSpPr>
        <p:spPr>
          <a:xfrm>
            <a:off x="749808" y="2322576"/>
            <a:ext cx="420624" cy="420624"/>
          </a:xfrm>
          <a:prstGeom prst="roundRect">
            <a:avLst>
              <a:gd name="adj" fmla="val 21739"/>
            </a:avLst>
          </a:prstGeom>
          <a:solidFill>
            <a:srgbClr val="1A3D6D"/>
          </a:solidFill>
          <a:ln/>
        </p:spPr>
      </p:sp>
      <p:sp>
        <p:nvSpPr>
          <p:cNvPr id="13" name="Text 10"/>
          <p:cNvSpPr/>
          <p:nvPr/>
        </p:nvSpPr>
        <p:spPr>
          <a:xfrm>
            <a:off x="749808" y="2322576"/>
            <a:ext cx="420624" cy="420624"/>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1</a:t>
            </a:r>
            <a:endParaRPr lang="en-US" sz="1500" dirty="0"/>
          </a:p>
        </p:txBody>
      </p:sp>
      <p:sp>
        <p:nvSpPr>
          <p:cNvPr id="14" name="Text 11"/>
          <p:cNvSpPr/>
          <p:nvPr/>
        </p:nvSpPr>
        <p:spPr>
          <a:xfrm>
            <a:off x="1325880" y="2231136"/>
            <a:ext cx="4480560" cy="329184"/>
          </a:xfrm>
          <a:prstGeom prst="rect">
            <a:avLst/>
          </a:prstGeom>
          <a:noFill/>
          <a:ln/>
        </p:spPr>
        <p:txBody>
          <a:bodyPr wrap="square" rtlCol="0" anchor="ctr"/>
          <a:lstStyle/>
          <a:p>
            <a:pPr indent="0" marL="0">
              <a:buNone/>
            </a:pPr>
            <a:r>
              <a:rPr lang="en-US" sz="1450" b="1" dirty="0">
                <a:solidFill>
                  <a:srgbClr val="0F2547"/>
                </a:solidFill>
                <a:latin typeface="Apple SD Gothic Neo" pitchFamily="34" charset="0"/>
                <a:ea typeface="Apple SD Gothic Neo" pitchFamily="34" charset="-122"/>
                <a:cs typeface="Apple SD Gothic Neo" pitchFamily="34" charset="-120"/>
              </a:rPr>
              <a:t>성과 우선</a:t>
            </a:r>
            <a:endParaRPr lang="en-US" sz="1450" dirty="0"/>
          </a:p>
        </p:txBody>
      </p:sp>
      <p:sp>
        <p:nvSpPr>
          <p:cNvPr id="15" name="Text 12"/>
          <p:cNvSpPr/>
          <p:nvPr/>
        </p:nvSpPr>
        <p:spPr>
          <a:xfrm>
            <a:off x="1325880" y="2560320"/>
            <a:ext cx="4480560" cy="310896"/>
          </a:xfrm>
          <a:prstGeom prst="rect">
            <a:avLst/>
          </a:prstGeom>
          <a:noFill/>
          <a:ln/>
        </p:spPr>
        <p:txBody>
          <a:bodyPr wrap="square" rtlCol="0" anchor="ctr"/>
          <a:lstStyle/>
          <a:p>
            <a:pPr indent="0" marL="0">
              <a:buNone/>
            </a:pPr>
            <a:r>
              <a:rPr lang="en-US" sz="1100" dirty="0">
                <a:solidFill>
                  <a:srgbClr val="5F708A"/>
                </a:solidFill>
                <a:latin typeface="Apple SD Gothic Neo" pitchFamily="34" charset="0"/>
                <a:ea typeface="Apple SD Gothic Neo" pitchFamily="34" charset="-122"/>
                <a:cs typeface="Apple SD Gothic Neo" pitchFamily="34" charset="-120"/>
              </a:rPr>
              <a:t>벤더 교체가 아니라 성과가 목표</a:t>
            </a:r>
            <a:endParaRPr lang="en-US" sz="1100" dirty="0"/>
          </a:p>
        </p:txBody>
      </p:sp>
      <p:sp>
        <p:nvSpPr>
          <p:cNvPr id="16" name="Shape 13"/>
          <p:cNvSpPr/>
          <p:nvPr/>
        </p:nvSpPr>
        <p:spPr>
          <a:xfrm>
            <a:off x="548640" y="3081528"/>
            <a:ext cx="5349240" cy="868680"/>
          </a:xfrm>
          <a:prstGeom prst="roundRect">
            <a:avLst>
              <a:gd name="adj" fmla="val 9474"/>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7" name="Shape 14"/>
          <p:cNvSpPr/>
          <p:nvPr/>
        </p:nvSpPr>
        <p:spPr>
          <a:xfrm>
            <a:off x="749808" y="3300984"/>
            <a:ext cx="420624" cy="420624"/>
          </a:xfrm>
          <a:prstGeom prst="roundRect">
            <a:avLst>
              <a:gd name="adj" fmla="val 21739"/>
            </a:avLst>
          </a:prstGeom>
          <a:solidFill>
            <a:srgbClr val="1A3D6D"/>
          </a:solidFill>
          <a:ln/>
        </p:spPr>
      </p:sp>
      <p:sp>
        <p:nvSpPr>
          <p:cNvPr id="18" name="Text 15"/>
          <p:cNvSpPr/>
          <p:nvPr/>
        </p:nvSpPr>
        <p:spPr>
          <a:xfrm>
            <a:off x="749808" y="3300984"/>
            <a:ext cx="420624" cy="420624"/>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2</a:t>
            </a:r>
            <a:endParaRPr lang="en-US" sz="1500" dirty="0"/>
          </a:p>
        </p:txBody>
      </p:sp>
      <p:sp>
        <p:nvSpPr>
          <p:cNvPr id="19" name="Text 16"/>
          <p:cNvSpPr/>
          <p:nvPr/>
        </p:nvSpPr>
        <p:spPr>
          <a:xfrm>
            <a:off x="1325880" y="3209544"/>
            <a:ext cx="4480560" cy="329184"/>
          </a:xfrm>
          <a:prstGeom prst="rect">
            <a:avLst/>
          </a:prstGeom>
          <a:noFill/>
          <a:ln/>
        </p:spPr>
        <p:txBody>
          <a:bodyPr wrap="square" rtlCol="0" anchor="ctr"/>
          <a:lstStyle/>
          <a:p>
            <a:pPr indent="0" marL="0">
              <a:buNone/>
            </a:pPr>
            <a:r>
              <a:rPr lang="en-US" sz="1450" b="1" dirty="0">
                <a:solidFill>
                  <a:srgbClr val="0F2547"/>
                </a:solidFill>
                <a:latin typeface="Apple SD Gothic Neo" pitchFamily="34" charset="0"/>
                <a:ea typeface="Apple SD Gothic Neo" pitchFamily="34" charset="-122"/>
                <a:cs typeface="Apple SD Gothic Neo" pitchFamily="34" charset="-120"/>
              </a:rPr>
              <a:t>기존 투자 보호</a:t>
            </a:r>
            <a:endParaRPr lang="en-US" sz="1450" dirty="0"/>
          </a:p>
        </p:txBody>
      </p:sp>
      <p:sp>
        <p:nvSpPr>
          <p:cNvPr id="20" name="Text 17"/>
          <p:cNvSpPr/>
          <p:nvPr/>
        </p:nvSpPr>
        <p:spPr>
          <a:xfrm>
            <a:off x="1325880" y="3538728"/>
            <a:ext cx="4480560" cy="310896"/>
          </a:xfrm>
          <a:prstGeom prst="rect">
            <a:avLst/>
          </a:prstGeom>
          <a:noFill/>
          <a:ln/>
        </p:spPr>
        <p:txBody>
          <a:bodyPr wrap="square" rtlCol="0" anchor="ctr"/>
          <a:lstStyle/>
          <a:p>
            <a:pPr indent="0" marL="0">
              <a:buNone/>
            </a:pPr>
            <a:r>
              <a:rPr lang="en-US" sz="1100" dirty="0">
                <a:solidFill>
                  <a:srgbClr val="5F708A"/>
                </a:solidFill>
                <a:latin typeface="Apple SD Gothic Neo" pitchFamily="34" charset="0"/>
                <a:ea typeface="Apple SD Gothic Neo" pitchFamily="34" charset="-122"/>
                <a:cs typeface="Apple SD Gothic Neo" pitchFamily="34" charset="-120"/>
              </a:rPr>
              <a:t>원본은 그대로, AI가 쓰도록 연결</a:t>
            </a:r>
            <a:endParaRPr lang="en-US" sz="1100" dirty="0"/>
          </a:p>
        </p:txBody>
      </p:sp>
      <p:sp>
        <p:nvSpPr>
          <p:cNvPr id="21" name="Shape 18"/>
          <p:cNvSpPr/>
          <p:nvPr/>
        </p:nvSpPr>
        <p:spPr>
          <a:xfrm>
            <a:off x="548640" y="4059936"/>
            <a:ext cx="5349240" cy="868680"/>
          </a:xfrm>
          <a:prstGeom prst="roundRect">
            <a:avLst>
              <a:gd name="adj" fmla="val 9474"/>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2" name="Shape 19"/>
          <p:cNvSpPr/>
          <p:nvPr/>
        </p:nvSpPr>
        <p:spPr>
          <a:xfrm>
            <a:off x="749808" y="4279392"/>
            <a:ext cx="420624" cy="420624"/>
          </a:xfrm>
          <a:prstGeom prst="roundRect">
            <a:avLst>
              <a:gd name="adj" fmla="val 21739"/>
            </a:avLst>
          </a:prstGeom>
          <a:solidFill>
            <a:srgbClr val="1A3D6D"/>
          </a:solidFill>
          <a:ln/>
        </p:spPr>
      </p:sp>
      <p:sp>
        <p:nvSpPr>
          <p:cNvPr id="23" name="Text 20"/>
          <p:cNvSpPr/>
          <p:nvPr/>
        </p:nvSpPr>
        <p:spPr>
          <a:xfrm>
            <a:off x="749808" y="4279392"/>
            <a:ext cx="420624" cy="420624"/>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3</a:t>
            </a:r>
            <a:endParaRPr lang="en-US" sz="1500" dirty="0"/>
          </a:p>
        </p:txBody>
      </p:sp>
      <p:sp>
        <p:nvSpPr>
          <p:cNvPr id="24" name="Text 21"/>
          <p:cNvSpPr/>
          <p:nvPr/>
        </p:nvSpPr>
        <p:spPr>
          <a:xfrm>
            <a:off x="1325880" y="4187952"/>
            <a:ext cx="4480560" cy="329184"/>
          </a:xfrm>
          <a:prstGeom prst="rect">
            <a:avLst/>
          </a:prstGeom>
          <a:noFill/>
          <a:ln/>
        </p:spPr>
        <p:txBody>
          <a:bodyPr wrap="square" rtlCol="0" anchor="ctr"/>
          <a:lstStyle/>
          <a:p>
            <a:pPr indent="0" marL="0">
              <a:buNone/>
            </a:pPr>
            <a:r>
              <a:rPr lang="en-US" sz="1450" b="1" dirty="0">
                <a:solidFill>
                  <a:srgbClr val="0F2547"/>
                </a:solidFill>
                <a:latin typeface="Apple SD Gothic Neo" pitchFamily="34" charset="0"/>
                <a:ea typeface="Apple SD Gothic Neo" pitchFamily="34" charset="-122"/>
                <a:cs typeface="Apple SD Gothic Neo" pitchFamily="34" charset="-120"/>
              </a:rPr>
              <a:t>작게 시작해 확장</a:t>
            </a:r>
            <a:endParaRPr lang="en-US" sz="1450" dirty="0"/>
          </a:p>
        </p:txBody>
      </p:sp>
      <p:sp>
        <p:nvSpPr>
          <p:cNvPr id="25" name="Text 22"/>
          <p:cNvSpPr/>
          <p:nvPr/>
        </p:nvSpPr>
        <p:spPr>
          <a:xfrm>
            <a:off x="1325880" y="4517136"/>
            <a:ext cx="4480560" cy="310896"/>
          </a:xfrm>
          <a:prstGeom prst="rect">
            <a:avLst/>
          </a:prstGeom>
          <a:noFill/>
          <a:ln/>
        </p:spPr>
        <p:txBody>
          <a:bodyPr wrap="square" rtlCol="0" anchor="ctr"/>
          <a:lstStyle/>
          <a:p>
            <a:pPr indent="0" marL="0">
              <a:buNone/>
            </a:pPr>
            <a:r>
              <a:rPr lang="en-US" sz="1100" dirty="0">
                <a:solidFill>
                  <a:srgbClr val="5F708A"/>
                </a:solidFill>
                <a:latin typeface="Apple SD Gothic Neo" pitchFamily="34" charset="0"/>
                <a:ea typeface="Apple SD Gothic Neo" pitchFamily="34" charset="-122"/>
                <a:cs typeface="Apple SD Gothic Neo" pitchFamily="34" charset="-120"/>
              </a:rPr>
              <a:t>한 업무에서 검증 후 패턴 확장</a:t>
            </a:r>
            <a:endParaRPr lang="en-US" sz="1100" dirty="0"/>
          </a:p>
        </p:txBody>
      </p:sp>
      <p:sp>
        <p:nvSpPr>
          <p:cNvPr id="26" name="Shape 23"/>
          <p:cNvSpPr/>
          <p:nvPr/>
        </p:nvSpPr>
        <p:spPr>
          <a:xfrm>
            <a:off x="6400800" y="1691640"/>
            <a:ext cx="310896" cy="310896"/>
          </a:xfrm>
          <a:prstGeom prst="ellipse">
            <a:avLst/>
          </a:prstGeom>
          <a:solidFill>
            <a:srgbClr val="DBE7F6"/>
          </a:solidFill>
          <a:ln/>
        </p:spPr>
      </p:sp>
      <p:pic>
        <p:nvPicPr>
          <p:cNvPr id="27" name="Image 1" descr="preencoded.png">    </p:cNvPr>
          <p:cNvPicPr>
            <a:picLocks noChangeAspect="1"/>
          </p:cNvPicPr>
          <p:nvPr/>
        </p:nvPicPr>
        <p:blipFill>
          <a:blip r:embed="rId2"/>
          <a:stretch>
            <a:fillRect/>
          </a:stretch>
        </p:blipFill>
        <p:spPr>
          <a:xfrm>
            <a:off x="6473952" y="1764792"/>
            <a:ext cx="164592" cy="164592"/>
          </a:xfrm>
          <a:prstGeom prst="rect">
            <a:avLst/>
          </a:prstGeom>
        </p:spPr>
      </p:pic>
      <p:sp>
        <p:nvSpPr>
          <p:cNvPr id="28" name="Text 24"/>
          <p:cNvSpPr/>
          <p:nvPr/>
        </p:nvSpPr>
        <p:spPr>
          <a:xfrm>
            <a:off x="6803136" y="1673352"/>
            <a:ext cx="5120640" cy="365760"/>
          </a:xfrm>
          <a:prstGeom prst="rect">
            <a:avLst/>
          </a:prstGeom>
          <a:noFill/>
          <a:ln/>
        </p:spPr>
        <p:txBody>
          <a:bodyPr wrap="square" rtlCol="0" anchor="ctr"/>
          <a:lstStyle/>
          <a:p>
            <a:pPr indent="0" marL="0">
              <a:buNone/>
            </a:pPr>
            <a:r>
              <a:rPr lang="en-US" sz="1500" b="1" dirty="0">
                <a:solidFill>
                  <a:srgbClr val="1A3D6D"/>
                </a:solidFill>
                <a:latin typeface="Apple SD Gothic Neo" pitchFamily="34" charset="0"/>
                <a:ea typeface="Apple SD Gothic Neo" pitchFamily="34" charset="-122"/>
                <a:cs typeface="Apple SD Gothic Neo" pitchFamily="34" charset="-120"/>
              </a:rPr>
              <a:t>자주 묻는 4가지</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0" y="2103120"/>
          <a:ext cx="5257800" cy="914400"/>
        </p:xfrm>
        <a:graphic>
          <a:graphicData uri="http://schemas.openxmlformats.org/drawingml/2006/table">
            <a:tbl>
              <a:tblPr/>
              <a:tblGrid>
                <a:gridCol w="1828800"/>
                <a:gridCol w="3429000"/>
              </a:tblGrid>
              <a:tr h="566928">
                <a:tc>
                  <a:txBody>
                    <a:bodyPr/>
                    <a:lstStyle/>
                    <a:p>
                      <a:pPr algn="ct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질문</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c>
                  <a:txBody>
                    <a:bodyPr/>
                    <a:lstStyle/>
                    <a:p>
                      <a:pPr algn="ct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짧은 답</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r>
              <a:tr h="566928">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기존 투자?</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옮기지 않고 연결부터</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566928">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보안·규제?</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리전·테넌트 격리, 학습 미사용</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비용?</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작게 시작, 성과로 확장</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566928">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어디부터?</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ROI 높은 한 업무부터</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bl>
          </a:graphicData>
        </a:graphic>
      </p:graphicFrame>
      <p:sp>
        <p:nvSpPr>
          <p:cNvPr id="30" name="Text 25"/>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31" name="Text 26"/>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547"/>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A3D6D"/>
          </a:solidFill>
          <a:ln/>
        </p:spPr>
      </p:sp>
      <p:sp>
        <p:nvSpPr>
          <p:cNvPr id="3" name="Shape 1"/>
          <p:cNvSpPr/>
          <p:nvPr/>
        </p:nvSpPr>
        <p:spPr>
          <a:xfrm>
            <a:off x="4206240" y="0"/>
            <a:ext cx="45720" cy="6858000"/>
          </a:xfrm>
          <a:prstGeom prst="rect">
            <a:avLst/>
          </a:prstGeom>
          <a:solidFill>
            <a:srgbClr val="2F5B93"/>
          </a:solidFill>
          <a:ln/>
        </p:spPr>
      </p:sp>
      <p:sp>
        <p:nvSpPr>
          <p:cNvPr id="4" name="Shape 2"/>
          <p:cNvSpPr/>
          <p:nvPr/>
        </p:nvSpPr>
        <p:spPr>
          <a:xfrm>
            <a:off x="1371600" y="2468880"/>
            <a:ext cx="1463040" cy="1463040"/>
          </a:xfrm>
          <a:prstGeom prst="ellipse">
            <a:avLst/>
          </a:prstGeom>
          <a:solidFill>
            <a:srgbClr val="2F5B93"/>
          </a:solidFill>
          <a:ln/>
        </p:spPr>
      </p:sp>
      <p:pic>
        <p:nvPicPr>
          <p:cNvPr id="5" name="Image 0" descr="preencoded.png">    </p:cNvPr>
          <p:cNvPicPr>
            <a:picLocks noChangeAspect="1"/>
          </p:cNvPicPr>
          <p:nvPr/>
        </p:nvPicPr>
        <p:blipFill>
          <a:blip r:embed="rId1"/>
          <a:stretch>
            <a:fillRect/>
          </a:stretch>
        </p:blipFill>
        <p:spPr>
          <a:xfrm>
            <a:off x="1751990" y="2849270"/>
            <a:ext cx="702259" cy="702259"/>
          </a:xfrm>
          <a:prstGeom prst="rect">
            <a:avLst/>
          </a:prstGeom>
        </p:spPr>
      </p:pic>
      <p:sp>
        <p:nvSpPr>
          <p:cNvPr id="6" name="Text 3"/>
          <p:cNvSpPr/>
          <p:nvPr/>
        </p:nvSpPr>
        <p:spPr>
          <a:xfrm>
            <a:off x="4754880" y="2331720"/>
            <a:ext cx="6766560" cy="457200"/>
          </a:xfrm>
          <a:prstGeom prst="rect">
            <a:avLst/>
          </a:prstGeom>
          <a:noFill/>
          <a:ln/>
        </p:spPr>
        <p:txBody>
          <a:bodyPr wrap="square" rtlCol="0" anchor="ctr"/>
          <a:lstStyle/>
          <a:p>
            <a:pPr indent="0" marL="0">
              <a:buNone/>
            </a:pPr>
            <a:r>
              <a:rPr lang="en-US" sz="1500" b="1" spc="300" kern="0" dirty="0">
                <a:solidFill>
                  <a:srgbClr val="6FA9CC"/>
                </a:solidFill>
                <a:latin typeface="Apple SD Gothic Neo" pitchFamily="34" charset="0"/>
                <a:ea typeface="Apple SD Gothic Neo" pitchFamily="34" charset="-122"/>
                <a:cs typeface="Apple SD Gothic Neo" pitchFamily="34" charset="-120"/>
              </a:rPr>
              <a:t>PART 2</a:t>
            </a:r>
            <a:endParaRPr lang="en-US" sz="1500" dirty="0"/>
          </a:p>
        </p:txBody>
      </p:sp>
      <p:sp>
        <p:nvSpPr>
          <p:cNvPr id="7" name="Text 4"/>
          <p:cNvSpPr/>
          <p:nvPr/>
        </p:nvSpPr>
        <p:spPr>
          <a:xfrm>
            <a:off x="4709160" y="2743200"/>
            <a:ext cx="7040880" cy="1005840"/>
          </a:xfrm>
          <a:prstGeom prst="rect">
            <a:avLst/>
          </a:prstGeom>
          <a:noFill/>
          <a:ln/>
        </p:spPr>
        <p:txBody>
          <a:bodyPr wrap="square" rtlCol="0" anchor="ctr"/>
          <a:lstStyle/>
          <a:p>
            <a:pPr indent="0" marL="0">
              <a:buNone/>
            </a:pPr>
            <a:r>
              <a:rPr lang="en-US" sz="3400" b="1" dirty="0">
                <a:solidFill>
                  <a:srgbClr val="FFFFFF"/>
                </a:solidFill>
                <a:latin typeface="Apple SD Gothic Neo" pitchFamily="34" charset="0"/>
                <a:ea typeface="Apple SD Gothic Neo" pitchFamily="34" charset="-122"/>
                <a:cs typeface="Apple SD Gothic Neo" pitchFamily="34" charset="-120"/>
              </a:rPr>
              <a:t>AX 전략과 비즈니스 가치</a:t>
            </a:r>
            <a:endParaRPr lang="en-US" sz="3400" dirty="0"/>
          </a:p>
        </p:txBody>
      </p:sp>
      <p:sp>
        <p:nvSpPr>
          <p:cNvPr id="8" name="Text 5"/>
          <p:cNvSpPr/>
          <p:nvPr/>
        </p:nvSpPr>
        <p:spPr>
          <a:xfrm>
            <a:off x="4754880" y="3794760"/>
            <a:ext cx="6858000" cy="914400"/>
          </a:xfrm>
          <a:prstGeom prst="rect">
            <a:avLst/>
          </a:prstGeom>
          <a:noFill/>
          <a:ln/>
        </p:spPr>
        <p:txBody>
          <a:bodyPr wrap="square" rtlCol="0" anchor="ctr"/>
          <a:lstStyle/>
          <a:p>
            <a:pPr indent="0" marL="0">
              <a:lnSpc>
                <a:spcPct val="125000"/>
              </a:lnSpc>
              <a:buNone/>
            </a:pPr>
            <a:r>
              <a:rPr lang="en-US" sz="1400" dirty="0">
                <a:solidFill>
                  <a:srgbClr val="C7D8EC"/>
                </a:solidFill>
                <a:latin typeface="Apple SD Gothic Neo" pitchFamily="34" charset="0"/>
                <a:ea typeface="Apple SD Gothic Neo" pitchFamily="34" charset="-122"/>
                <a:cs typeface="Apple SD Gothic Neo" pitchFamily="34" charset="-120"/>
              </a:rPr>
              <a:t>AI Transformation을 성과로 연결하는 법</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4F8FB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5. AX 3대 전략</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AI를 성과로 바꾸는 세 개의 축</a:t>
            </a:r>
            <a:endParaRPr lang="en-US" sz="3000" dirty="0"/>
          </a:p>
        </p:txBody>
      </p:sp>
      <p:sp>
        <p:nvSpPr>
          <p:cNvPr id="8" name="Shape 6"/>
          <p:cNvSpPr/>
          <p:nvPr/>
        </p:nvSpPr>
        <p:spPr>
          <a:xfrm>
            <a:off x="640080" y="1920240"/>
            <a:ext cx="3520440" cy="3200400"/>
          </a:xfrm>
          <a:prstGeom prst="roundRect">
            <a:avLst>
              <a:gd name="adj" fmla="val 2571"/>
            </a:avLst>
          </a:prstGeom>
          <a:solidFill>
            <a:srgbClr val="1A3D6D"/>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9" name="Shape 7"/>
          <p:cNvSpPr/>
          <p:nvPr/>
        </p:nvSpPr>
        <p:spPr>
          <a:xfrm>
            <a:off x="1897380" y="2286000"/>
            <a:ext cx="1005840" cy="1005840"/>
          </a:xfrm>
          <a:prstGeom prst="ellipse">
            <a:avLst/>
          </a:prstGeom>
          <a:solidFill>
            <a:srgbClr val="2F5B93"/>
          </a:solidFill>
          <a:ln/>
        </p:spPr>
      </p:sp>
      <p:pic>
        <p:nvPicPr>
          <p:cNvPr id="10" name="Image 0" descr="preencoded.png">    </p:cNvPr>
          <p:cNvPicPr>
            <a:picLocks noChangeAspect="1"/>
          </p:cNvPicPr>
          <p:nvPr/>
        </p:nvPicPr>
        <p:blipFill>
          <a:blip r:embed="rId1"/>
          <a:stretch>
            <a:fillRect/>
          </a:stretch>
        </p:blipFill>
        <p:spPr>
          <a:xfrm>
            <a:off x="2158898" y="2547518"/>
            <a:ext cx="482803" cy="482803"/>
          </a:xfrm>
          <a:prstGeom prst="rect">
            <a:avLst/>
          </a:prstGeom>
        </p:spPr>
      </p:pic>
      <p:sp>
        <p:nvSpPr>
          <p:cNvPr id="11" name="Text 8"/>
          <p:cNvSpPr/>
          <p:nvPr/>
        </p:nvSpPr>
        <p:spPr>
          <a:xfrm>
            <a:off x="640080" y="3429000"/>
            <a:ext cx="3520440" cy="274320"/>
          </a:xfrm>
          <a:prstGeom prst="rect">
            <a:avLst/>
          </a:prstGeom>
          <a:noFill/>
          <a:ln/>
        </p:spPr>
        <p:txBody>
          <a:bodyPr wrap="square" rtlCol="0" anchor="ctr"/>
          <a:lstStyle/>
          <a:p>
            <a:pPr algn="ctr" indent="0" marL="0">
              <a:buNone/>
            </a:pPr>
            <a:r>
              <a:rPr lang="en-US" sz="1050" b="1" spc="100" kern="0" dirty="0">
                <a:solidFill>
                  <a:srgbClr val="7AA5D6"/>
                </a:solidFill>
                <a:latin typeface="Apple SD Gothic Neo" pitchFamily="34" charset="0"/>
                <a:ea typeface="Apple SD Gothic Neo" pitchFamily="34" charset="-122"/>
                <a:cs typeface="Apple SD Gothic Neo" pitchFamily="34" charset="-120"/>
              </a:rPr>
              <a:t>REIMAGINE WORK</a:t>
            </a:r>
            <a:endParaRPr lang="en-US" sz="1050" dirty="0"/>
          </a:p>
        </p:txBody>
      </p:sp>
      <p:sp>
        <p:nvSpPr>
          <p:cNvPr id="12" name="Text 9"/>
          <p:cNvSpPr/>
          <p:nvPr/>
        </p:nvSpPr>
        <p:spPr>
          <a:xfrm>
            <a:off x="640080" y="3703320"/>
            <a:ext cx="3520440" cy="457200"/>
          </a:xfrm>
          <a:prstGeom prst="rect">
            <a:avLst/>
          </a:prstGeom>
          <a:noFill/>
          <a:ln/>
        </p:spPr>
        <p:txBody>
          <a:bodyPr wrap="square" rtlCol="0" anchor="ctr"/>
          <a:lstStyle/>
          <a:p>
            <a:pPr algn="ctr" indent="0" marL="0">
              <a:buNone/>
            </a:pPr>
            <a:r>
              <a:rPr lang="en-US" sz="2000" b="1" dirty="0">
                <a:solidFill>
                  <a:srgbClr val="FFFFFF"/>
                </a:solidFill>
                <a:latin typeface="Apple SD Gothic Neo" pitchFamily="34" charset="0"/>
                <a:ea typeface="Apple SD Gothic Neo" pitchFamily="34" charset="-122"/>
                <a:cs typeface="Apple SD Gothic Neo" pitchFamily="34" charset="-120"/>
              </a:rPr>
              <a:t>업무를 재설계</a:t>
            </a:r>
            <a:endParaRPr lang="en-US" sz="2000" dirty="0"/>
          </a:p>
        </p:txBody>
      </p:sp>
      <p:sp>
        <p:nvSpPr>
          <p:cNvPr id="13" name="Text 10"/>
          <p:cNvSpPr/>
          <p:nvPr/>
        </p:nvSpPr>
        <p:spPr>
          <a:xfrm>
            <a:off x="868680" y="4206240"/>
            <a:ext cx="3063240" cy="868680"/>
          </a:xfrm>
          <a:prstGeom prst="rect">
            <a:avLst/>
          </a:prstGeom>
          <a:noFill/>
          <a:ln/>
        </p:spPr>
        <p:txBody>
          <a:bodyPr wrap="square" rtlCol="0" anchor="ctr"/>
          <a:lstStyle/>
          <a:p>
            <a:pPr algn="ctr" indent="0" marL="0">
              <a:lnSpc>
                <a:spcPct val="118000"/>
              </a:lnSpc>
              <a:buNone/>
            </a:pPr>
            <a:r>
              <a:rPr lang="en-US" sz="1150" dirty="0">
                <a:solidFill>
                  <a:srgbClr val="DBE7F6"/>
                </a:solidFill>
                <a:latin typeface="Apple SD Gothic Neo" pitchFamily="34" charset="0"/>
                <a:ea typeface="Apple SD Gothic Neo" pitchFamily="34" charset="-122"/>
                <a:cs typeface="Apple SD Gothic Neo" pitchFamily="34" charset="-120"/>
              </a:rPr>
              <a:t>기존 프로세스에 AI를 얹는 게 아니라, 에이전트 중심으로 업무를 다시 설계</a:t>
            </a:r>
            <a:endParaRPr lang="en-US" sz="1150" dirty="0"/>
          </a:p>
        </p:txBody>
      </p:sp>
      <p:sp>
        <p:nvSpPr>
          <p:cNvPr id="14" name="Shape 11"/>
          <p:cNvSpPr/>
          <p:nvPr/>
        </p:nvSpPr>
        <p:spPr>
          <a:xfrm>
            <a:off x="4343400" y="1920240"/>
            <a:ext cx="3520440" cy="3200400"/>
          </a:xfrm>
          <a:prstGeom prst="roundRect">
            <a:avLst>
              <a:gd name="adj" fmla="val 2571"/>
            </a:avLst>
          </a:prstGeom>
          <a:solidFill>
            <a:srgbClr val="1A3D6D"/>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5" name="Shape 12"/>
          <p:cNvSpPr/>
          <p:nvPr/>
        </p:nvSpPr>
        <p:spPr>
          <a:xfrm>
            <a:off x="5600700" y="2286000"/>
            <a:ext cx="1005840" cy="1005840"/>
          </a:xfrm>
          <a:prstGeom prst="ellipse">
            <a:avLst/>
          </a:prstGeom>
          <a:solidFill>
            <a:srgbClr val="2F5B93"/>
          </a:solidFill>
          <a:ln/>
        </p:spPr>
      </p:sp>
      <p:pic>
        <p:nvPicPr>
          <p:cNvPr id="16" name="Image 1" descr="preencoded.png">    </p:cNvPr>
          <p:cNvPicPr>
            <a:picLocks noChangeAspect="1"/>
          </p:cNvPicPr>
          <p:nvPr/>
        </p:nvPicPr>
        <p:blipFill>
          <a:blip r:embed="rId2"/>
          <a:stretch>
            <a:fillRect/>
          </a:stretch>
        </p:blipFill>
        <p:spPr>
          <a:xfrm>
            <a:off x="5862218" y="2547518"/>
            <a:ext cx="482803" cy="482803"/>
          </a:xfrm>
          <a:prstGeom prst="rect">
            <a:avLst/>
          </a:prstGeom>
        </p:spPr>
      </p:pic>
      <p:sp>
        <p:nvSpPr>
          <p:cNvPr id="17" name="Text 13"/>
          <p:cNvSpPr/>
          <p:nvPr/>
        </p:nvSpPr>
        <p:spPr>
          <a:xfrm>
            <a:off x="4343400" y="3429000"/>
            <a:ext cx="3520440" cy="274320"/>
          </a:xfrm>
          <a:prstGeom prst="rect">
            <a:avLst/>
          </a:prstGeom>
          <a:noFill/>
          <a:ln/>
        </p:spPr>
        <p:txBody>
          <a:bodyPr wrap="square" rtlCol="0" anchor="ctr"/>
          <a:lstStyle/>
          <a:p>
            <a:pPr algn="ctr" indent="0" marL="0">
              <a:buNone/>
            </a:pPr>
            <a:r>
              <a:rPr lang="en-US" sz="1050" b="1" spc="100" kern="0" dirty="0">
                <a:solidFill>
                  <a:srgbClr val="7AA5D6"/>
                </a:solidFill>
                <a:latin typeface="Apple SD Gothic Neo" pitchFamily="34" charset="0"/>
                <a:ea typeface="Apple SD Gothic Neo" pitchFamily="34" charset="-122"/>
                <a:cs typeface="Apple SD Gothic Neo" pitchFamily="34" charset="-120"/>
              </a:rPr>
              <a:t>EMPOWER PEOPLE</a:t>
            </a:r>
            <a:endParaRPr lang="en-US" sz="1050" dirty="0"/>
          </a:p>
        </p:txBody>
      </p:sp>
      <p:sp>
        <p:nvSpPr>
          <p:cNvPr id="18" name="Text 14"/>
          <p:cNvSpPr/>
          <p:nvPr/>
        </p:nvSpPr>
        <p:spPr>
          <a:xfrm>
            <a:off x="4343400" y="3703320"/>
            <a:ext cx="3520440" cy="457200"/>
          </a:xfrm>
          <a:prstGeom prst="rect">
            <a:avLst/>
          </a:prstGeom>
          <a:noFill/>
          <a:ln/>
        </p:spPr>
        <p:txBody>
          <a:bodyPr wrap="square" rtlCol="0" anchor="ctr"/>
          <a:lstStyle/>
          <a:p>
            <a:pPr algn="ctr" indent="0" marL="0">
              <a:buNone/>
            </a:pPr>
            <a:r>
              <a:rPr lang="en-US" sz="2000" b="1" dirty="0">
                <a:solidFill>
                  <a:srgbClr val="FFFFFF"/>
                </a:solidFill>
                <a:latin typeface="Apple SD Gothic Neo" pitchFamily="34" charset="0"/>
                <a:ea typeface="Apple SD Gothic Neo" pitchFamily="34" charset="-122"/>
                <a:cs typeface="Apple SD Gothic Neo" pitchFamily="34" charset="-120"/>
              </a:rPr>
              <a:t>직원을 강화</a:t>
            </a:r>
            <a:endParaRPr lang="en-US" sz="2000" dirty="0"/>
          </a:p>
        </p:txBody>
      </p:sp>
      <p:sp>
        <p:nvSpPr>
          <p:cNvPr id="19" name="Text 15"/>
          <p:cNvSpPr/>
          <p:nvPr/>
        </p:nvSpPr>
        <p:spPr>
          <a:xfrm>
            <a:off x="4572000" y="4206240"/>
            <a:ext cx="3063240" cy="868680"/>
          </a:xfrm>
          <a:prstGeom prst="rect">
            <a:avLst/>
          </a:prstGeom>
          <a:noFill/>
          <a:ln/>
        </p:spPr>
        <p:txBody>
          <a:bodyPr wrap="square" rtlCol="0" anchor="ctr"/>
          <a:lstStyle/>
          <a:p>
            <a:pPr algn="ctr" indent="0" marL="0">
              <a:lnSpc>
                <a:spcPct val="118000"/>
              </a:lnSpc>
              <a:buNone/>
            </a:pPr>
            <a:r>
              <a:rPr lang="en-US" sz="1150" dirty="0">
                <a:solidFill>
                  <a:srgbClr val="DBE7F6"/>
                </a:solidFill>
                <a:latin typeface="Apple SD Gothic Neo" pitchFamily="34" charset="0"/>
                <a:ea typeface="Apple SD Gothic Neo" pitchFamily="34" charset="-122"/>
                <a:cs typeface="Apple SD Gothic Neo" pitchFamily="34" charset="-120"/>
              </a:rPr>
              <a:t>모든 직원이 Copilot으로 더 높은 가치의 일에 집중</a:t>
            </a:r>
            <a:endParaRPr lang="en-US" sz="1150" dirty="0"/>
          </a:p>
        </p:txBody>
      </p:sp>
      <p:sp>
        <p:nvSpPr>
          <p:cNvPr id="20" name="Shape 16"/>
          <p:cNvSpPr/>
          <p:nvPr/>
        </p:nvSpPr>
        <p:spPr>
          <a:xfrm>
            <a:off x="8046720" y="1920240"/>
            <a:ext cx="3520440" cy="3200400"/>
          </a:xfrm>
          <a:prstGeom prst="roundRect">
            <a:avLst>
              <a:gd name="adj" fmla="val 2571"/>
            </a:avLst>
          </a:prstGeom>
          <a:solidFill>
            <a:srgbClr val="1A3D6D"/>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1" name="Shape 17"/>
          <p:cNvSpPr/>
          <p:nvPr/>
        </p:nvSpPr>
        <p:spPr>
          <a:xfrm>
            <a:off x="9304020" y="2286000"/>
            <a:ext cx="1005840" cy="1005840"/>
          </a:xfrm>
          <a:prstGeom prst="ellipse">
            <a:avLst/>
          </a:prstGeom>
          <a:solidFill>
            <a:srgbClr val="2F5B93"/>
          </a:solidFill>
          <a:ln/>
        </p:spPr>
      </p:sp>
      <p:pic>
        <p:nvPicPr>
          <p:cNvPr id="22" name="Image 2" descr="preencoded.png">    </p:cNvPr>
          <p:cNvPicPr>
            <a:picLocks noChangeAspect="1"/>
          </p:cNvPicPr>
          <p:nvPr/>
        </p:nvPicPr>
        <p:blipFill>
          <a:blip r:embed="rId3"/>
          <a:stretch>
            <a:fillRect/>
          </a:stretch>
        </p:blipFill>
        <p:spPr>
          <a:xfrm>
            <a:off x="9565538" y="2547518"/>
            <a:ext cx="482803" cy="482803"/>
          </a:xfrm>
          <a:prstGeom prst="rect">
            <a:avLst/>
          </a:prstGeom>
        </p:spPr>
      </p:pic>
      <p:sp>
        <p:nvSpPr>
          <p:cNvPr id="23" name="Text 18"/>
          <p:cNvSpPr/>
          <p:nvPr/>
        </p:nvSpPr>
        <p:spPr>
          <a:xfrm>
            <a:off x="8046720" y="3429000"/>
            <a:ext cx="3520440" cy="274320"/>
          </a:xfrm>
          <a:prstGeom prst="rect">
            <a:avLst/>
          </a:prstGeom>
          <a:noFill/>
          <a:ln/>
        </p:spPr>
        <p:txBody>
          <a:bodyPr wrap="square" rtlCol="0" anchor="ctr"/>
          <a:lstStyle/>
          <a:p>
            <a:pPr algn="ctr" indent="0" marL="0">
              <a:buNone/>
            </a:pPr>
            <a:r>
              <a:rPr lang="en-US" sz="1050" b="1" spc="100" kern="0" dirty="0">
                <a:solidFill>
                  <a:srgbClr val="7AA5D6"/>
                </a:solidFill>
                <a:latin typeface="Apple SD Gothic Neo" pitchFamily="34" charset="0"/>
                <a:ea typeface="Apple SD Gothic Neo" pitchFamily="34" charset="-122"/>
                <a:cs typeface="Apple SD Gothic Neo" pitchFamily="34" charset="-120"/>
              </a:rPr>
              <a:t>SCALE AGENTS</a:t>
            </a:r>
            <a:endParaRPr lang="en-US" sz="1050" dirty="0"/>
          </a:p>
        </p:txBody>
      </p:sp>
      <p:sp>
        <p:nvSpPr>
          <p:cNvPr id="24" name="Text 19"/>
          <p:cNvSpPr/>
          <p:nvPr/>
        </p:nvSpPr>
        <p:spPr>
          <a:xfrm>
            <a:off x="8046720" y="3703320"/>
            <a:ext cx="3520440" cy="457200"/>
          </a:xfrm>
          <a:prstGeom prst="rect">
            <a:avLst/>
          </a:prstGeom>
          <a:noFill/>
          <a:ln/>
        </p:spPr>
        <p:txBody>
          <a:bodyPr wrap="square" rtlCol="0" anchor="ctr"/>
          <a:lstStyle/>
          <a:p>
            <a:pPr algn="ctr" indent="0" marL="0">
              <a:buNone/>
            </a:pPr>
            <a:r>
              <a:rPr lang="en-US" sz="2000" b="1" dirty="0">
                <a:solidFill>
                  <a:srgbClr val="FFFFFF"/>
                </a:solidFill>
                <a:latin typeface="Apple SD Gothic Neo" pitchFamily="34" charset="0"/>
                <a:ea typeface="Apple SD Gothic Neo" pitchFamily="34" charset="-122"/>
                <a:cs typeface="Apple SD Gothic Neo" pitchFamily="34" charset="-120"/>
              </a:rPr>
              <a:t>에이전트를 확장</a:t>
            </a:r>
            <a:endParaRPr lang="en-US" sz="2000" dirty="0"/>
          </a:p>
        </p:txBody>
      </p:sp>
      <p:sp>
        <p:nvSpPr>
          <p:cNvPr id="25" name="Text 20"/>
          <p:cNvSpPr/>
          <p:nvPr/>
        </p:nvSpPr>
        <p:spPr>
          <a:xfrm>
            <a:off x="8275320" y="4206240"/>
            <a:ext cx="3063240" cy="868680"/>
          </a:xfrm>
          <a:prstGeom prst="rect">
            <a:avLst/>
          </a:prstGeom>
          <a:noFill/>
          <a:ln/>
        </p:spPr>
        <p:txBody>
          <a:bodyPr wrap="square" rtlCol="0" anchor="ctr"/>
          <a:lstStyle/>
          <a:p>
            <a:pPr algn="ctr" indent="0" marL="0">
              <a:lnSpc>
                <a:spcPct val="118000"/>
              </a:lnSpc>
              <a:buNone/>
            </a:pPr>
            <a:r>
              <a:rPr lang="en-US" sz="1150" dirty="0">
                <a:solidFill>
                  <a:srgbClr val="DBE7F6"/>
                </a:solidFill>
                <a:latin typeface="Apple SD Gothic Neo" pitchFamily="34" charset="0"/>
                <a:ea typeface="Apple SD Gothic Neo" pitchFamily="34" charset="-122"/>
                <a:cs typeface="Apple SD Gothic Neo" pitchFamily="34" charset="-120"/>
              </a:rPr>
              <a:t>검증된 에이전트를 전사로 확장하고 안전하게 운영</a:t>
            </a:r>
            <a:endParaRPr lang="en-US" sz="1150" dirty="0"/>
          </a:p>
        </p:txBody>
      </p:sp>
      <p:sp>
        <p:nvSpPr>
          <p:cNvPr id="26" name="Text 21"/>
          <p:cNvSpPr/>
          <p:nvPr/>
        </p:nvSpPr>
        <p:spPr>
          <a:xfrm>
            <a:off x="640080" y="5349240"/>
            <a:ext cx="10972800" cy="457200"/>
          </a:xfrm>
          <a:prstGeom prst="rect">
            <a:avLst/>
          </a:prstGeom>
          <a:noFill/>
          <a:ln/>
        </p:spPr>
        <p:txBody>
          <a:bodyPr wrap="square" rtlCol="0" anchor="ctr"/>
          <a:lstStyle/>
          <a:p>
            <a:pPr algn="ctr" indent="0" marL="0">
              <a:buNone/>
            </a:pPr>
            <a:r>
              <a:rPr lang="en-US" sz="1350" b="1" dirty="0">
                <a:solidFill>
                  <a:srgbClr val="1A3D6D"/>
                </a:solidFill>
                <a:latin typeface="Apple SD Gothic Neo" pitchFamily="34" charset="0"/>
                <a:ea typeface="Apple SD Gothic Neo" pitchFamily="34" charset="-122"/>
                <a:cs typeface="Apple SD Gothic Neo" pitchFamily="34" charset="-120"/>
              </a:rPr>
              <a:t>세 축은 순서가 아니라 동시에 맞물려 돌아갑니다 — 업무·사람·에이전트가 함께 진화합니다.</a:t>
            </a:r>
            <a:endParaRPr lang="en-US" sz="1350" dirty="0"/>
          </a:p>
        </p:txBody>
      </p:sp>
      <p:sp>
        <p:nvSpPr>
          <p:cNvPr id="27" name="Text 22"/>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28" name="Text 23"/>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4F8FB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5. AX 3대 전략</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에이전트 = '디지털 직원'으로 생각하기</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109960" cy="914400"/>
        </p:xfrm>
        <a:graphic>
          <a:graphicData uri="http://schemas.openxmlformats.org/drawingml/2006/table">
            <a:tbl>
              <a:tblPr/>
              <a:tblGrid>
                <a:gridCol w="3200400"/>
                <a:gridCol w="3657600"/>
                <a:gridCol w="4251960"/>
              </a:tblGrid>
              <a:tr h="548640">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직원에게 필요한 것</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에이전트에게 필요한 것</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Azure에서</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r>
              <a:tr h="548640">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업무 지식</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데이터·온톨로지 이해</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Fabric · OneLake · 3개 IQ</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548640">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일하는 도구</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시스템·API 연결</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Foundry Tools · 커넥터</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판단·실행</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모델·추론</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Foundry 모델 카탈로그</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548640">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소속·권한</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ID·접근 통제</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Entra Agent ID</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관리·평가</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성과·안전 관측</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Purview · Defender · 평가</a:t>
                      </a:r>
                      <a:endParaRPr lang="en-US" sz="12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bl>
          </a:graphicData>
        </a:graphic>
      </p:graphicFrame>
      <p:sp>
        <p:nvSpPr>
          <p:cNvPr id="9" name="Text 6"/>
          <p:cNvSpPr/>
          <p:nvPr/>
        </p:nvSpPr>
        <p:spPr>
          <a:xfrm>
            <a:off x="548640" y="5577840"/>
            <a:ext cx="11109960" cy="502920"/>
          </a:xfrm>
          <a:prstGeom prst="rect">
            <a:avLst/>
          </a:prstGeom>
          <a:noFill/>
          <a:ln/>
        </p:spPr>
        <p:txBody>
          <a:bodyPr wrap="square" rtlCol="0" anchor="ctr"/>
          <a:lstStyle/>
          <a:p>
            <a:pPr algn="ctr" indent="0" marL="0">
              <a:buNone/>
            </a:pPr>
            <a:r>
              <a:rPr lang="en-US" sz="1300" b="1" dirty="0">
                <a:solidFill>
                  <a:srgbClr val="1A3D6D"/>
                </a:solidFill>
                <a:latin typeface="Apple SD Gothic Neo" pitchFamily="34" charset="0"/>
                <a:ea typeface="Apple SD Gothic Neo" pitchFamily="34" charset="-122"/>
                <a:cs typeface="Apple SD Gothic Neo" pitchFamily="34" charset="-120"/>
              </a:rPr>
              <a:t>에이전트를 '새로 합류한 직원'처럼 생각하면 필요한 것이 분명해집니다 — 단, 사람의 책임·권한·감사 체계 안에서 운영되며, 그 모두를 Azure가 제공합니다.</a:t>
            </a:r>
            <a:endParaRPr lang="en-US" sz="1300" dirty="0"/>
          </a:p>
        </p:txBody>
      </p:sp>
      <p:sp>
        <p:nvSpPr>
          <p:cNvPr id="10" name="Text 7"/>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11" name="Text 8"/>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547"/>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A3D6D"/>
          </a:solidFill>
          <a:ln/>
        </p:spPr>
      </p:sp>
      <p:sp>
        <p:nvSpPr>
          <p:cNvPr id="3" name="Shape 1"/>
          <p:cNvSpPr/>
          <p:nvPr/>
        </p:nvSpPr>
        <p:spPr>
          <a:xfrm>
            <a:off x="4206240" y="0"/>
            <a:ext cx="45720" cy="6858000"/>
          </a:xfrm>
          <a:prstGeom prst="rect">
            <a:avLst/>
          </a:prstGeom>
          <a:solidFill>
            <a:srgbClr val="2F5B93"/>
          </a:solidFill>
          <a:ln/>
        </p:spPr>
      </p:sp>
      <p:sp>
        <p:nvSpPr>
          <p:cNvPr id="4" name="Shape 2"/>
          <p:cNvSpPr/>
          <p:nvPr/>
        </p:nvSpPr>
        <p:spPr>
          <a:xfrm>
            <a:off x="1371600" y="2468880"/>
            <a:ext cx="1463040" cy="1463040"/>
          </a:xfrm>
          <a:prstGeom prst="ellipse">
            <a:avLst/>
          </a:prstGeom>
          <a:solidFill>
            <a:srgbClr val="2F5B93"/>
          </a:solidFill>
          <a:ln/>
        </p:spPr>
      </p:sp>
      <p:pic>
        <p:nvPicPr>
          <p:cNvPr id="5" name="Image 0" descr="preencoded.png">    </p:cNvPr>
          <p:cNvPicPr>
            <a:picLocks noChangeAspect="1"/>
          </p:cNvPicPr>
          <p:nvPr/>
        </p:nvPicPr>
        <p:blipFill>
          <a:blip r:embed="rId1"/>
          <a:stretch>
            <a:fillRect/>
          </a:stretch>
        </p:blipFill>
        <p:spPr>
          <a:xfrm>
            <a:off x="1751990" y="2849270"/>
            <a:ext cx="702259" cy="702259"/>
          </a:xfrm>
          <a:prstGeom prst="rect">
            <a:avLst/>
          </a:prstGeom>
        </p:spPr>
      </p:pic>
      <p:sp>
        <p:nvSpPr>
          <p:cNvPr id="6" name="Text 3"/>
          <p:cNvSpPr/>
          <p:nvPr/>
        </p:nvSpPr>
        <p:spPr>
          <a:xfrm>
            <a:off x="4754880" y="2331720"/>
            <a:ext cx="6766560" cy="457200"/>
          </a:xfrm>
          <a:prstGeom prst="rect">
            <a:avLst/>
          </a:prstGeom>
          <a:noFill/>
          <a:ln/>
        </p:spPr>
        <p:txBody>
          <a:bodyPr wrap="square" rtlCol="0" anchor="ctr"/>
          <a:lstStyle/>
          <a:p>
            <a:pPr indent="0" marL="0">
              <a:buNone/>
            </a:pPr>
            <a:r>
              <a:rPr lang="en-US" sz="1500" b="1" spc="300" kern="0" dirty="0">
                <a:solidFill>
                  <a:srgbClr val="6FA9CC"/>
                </a:solidFill>
                <a:latin typeface="Apple SD Gothic Neo" pitchFamily="34" charset="0"/>
                <a:ea typeface="Apple SD Gothic Neo" pitchFamily="34" charset="-122"/>
                <a:cs typeface="Apple SD Gothic Neo" pitchFamily="34" charset="-120"/>
              </a:rPr>
              <a:t>PART 3</a:t>
            </a:r>
            <a:endParaRPr lang="en-US" sz="1500" dirty="0"/>
          </a:p>
        </p:txBody>
      </p:sp>
      <p:sp>
        <p:nvSpPr>
          <p:cNvPr id="7" name="Text 4"/>
          <p:cNvSpPr/>
          <p:nvPr/>
        </p:nvSpPr>
        <p:spPr>
          <a:xfrm>
            <a:off x="4709160" y="2743200"/>
            <a:ext cx="7040880" cy="1005840"/>
          </a:xfrm>
          <a:prstGeom prst="rect">
            <a:avLst/>
          </a:prstGeom>
          <a:noFill/>
          <a:ln/>
        </p:spPr>
        <p:txBody>
          <a:bodyPr wrap="square" rtlCol="0" anchor="ctr"/>
          <a:lstStyle/>
          <a:p>
            <a:pPr indent="0" marL="0">
              <a:buNone/>
            </a:pPr>
            <a:r>
              <a:rPr lang="en-US" sz="3400" b="1" dirty="0">
                <a:solidFill>
                  <a:srgbClr val="FFFFFF"/>
                </a:solidFill>
                <a:latin typeface="Apple SD Gothic Neo" pitchFamily="34" charset="0"/>
                <a:ea typeface="Apple SD Gothic Neo" pitchFamily="34" charset="-122"/>
                <a:cs typeface="Apple SD Gothic Neo" pitchFamily="34" charset="-120"/>
              </a:rPr>
              <a:t>Enterprise AI Platform</a:t>
            </a:r>
            <a:endParaRPr lang="en-US" sz="3400" dirty="0"/>
          </a:p>
        </p:txBody>
      </p:sp>
      <p:sp>
        <p:nvSpPr>
          <p:cNvPr id="8" name="Text 5"/>
          <p:cNvSpPr/>
          <p:nvPr/>
        </p:nvSpPr>
        <p:spPr>
          <a:xfrm>
            <a:off x="4754880" y="3794760"/>
            <a:ext cx="6858000" cy="914400"/>
          </a:xfrm>
          <a:prstGeom prst="rect">
            <a:avLst/>
          </a:prstGeom>
          <a:noFill/>
          <a:ln/>
        </p:spPr>
        <p:txBody>
          <a:bodyPr wrap="square" rtlCol="0" anchor="ctr"/>
          <a:lstStyle/>
          <a:p>
            <a:pPr indent="0" marL="0">
              <a:lnSpc>
                <a:spcPct val="125000"/>
              </a:lnSpc>
              <a:buNone/>
            </a:pPr>
            <a:r>
              <a:rPr lang="en-US" sz="1400" dirty="0">
                <a:solidFill>
                  <a:srgbClr val="C7D8EC"/>
                </a:solidFill>
                <a:latin typeface="Apple SD Gothic Neo" pitchFamily="34" charset="0"/>
                <a:ea typeface="Apple SD Gothic Neo" pitchFamily="34" charset="-122"/>
                <a:cs typeface="Apple SD Gothic Neo" pitchFamily="34" charset="-120"/>
              </a:rPr>
              <a:t>6개 완결 서비스 · 6계층 아키텍처 (근거)</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4F8FB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6. 완결 스택의 핵심 서비스</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6개 서비스가 하나의 스택을 완성합니다</a:t>
            </a:r>
            <a:endParaRPr lang="en-US" sz="3000" dirty="0"/>
          </a:p>
        </p:txBody>
      </p:sp>
      <p:sp>
        <p:nvSpPr>
          <p:cNvPr id="8" name="Shape 6"/>
          <p:cNvSpPr/>
          <p:nvPr/>
        </p:nvSpPr>
        <p:spPr>
          <a:xfrm>
            <a:off x="548640" y="1783080"/>
            <a:ext cx="3611880" cy="2103120"/>
          </a:xfrm>
          <a:prstGeom prst="roundRect">
            <a:avLst>
              <a:gd name="adj" fmla="val 391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9" name="Shape 7"/>
          <p:cNvSpPr/>
          <p:nvPr/>
        </p:nvSpPr>
        <p:spPr>
          <a:xfrm>
            <a:off x="822960" y="2057400"/>
            <a:ext cx="731520" cy="731520"/>
          </a:xfrm>
          <a:prstGeom prst="ellipse">
            <a:avLst/>
          </a:prstGeom>
          <a:solidFill>
            <a:srgbClr val="DBE7F6"/>
          </a:solidFill>
          <a:ln/>
        </p:spPr>
      </p:sp>
      <p:pic>
        <p:nvPicPr>
          <p:cNvPr id="10" name="Image 0" descr="preencoded.png">    </p:cNvPr>
          <p:cNvPicPr>
            <a:picLocks noChangeAspect="1"/>
          </p:cNvPicPr>
          <p:nvPr/>
        </p:nvPicPr>
        <p:blipFill>
          <a:blip r:embed="rId1"/>
          <a:stretch>
            <a:fillRect/>
          </a:stretch>
        </p:blipFill>
        <p:spPr>
          <a:xfrm>
            <a:off x="1013155" y="2247595"/>
            <a:ext cx="351130" cy="351130"/>
          </a:xfrm>
          <a:prstGeom prst="rect">
            <a:avLst/>
          </a:prstGeom>
        </p:spPr>
      </p:pic>
      <p:sp>
        <p:nvSpPr>
          <p:cNvPr id="11" name="Shape 8"/>
          <p:cNvSpPr/>
          <p:nvPr/>
        </p:nvSpPr>
        <p:spPr>
          <a:xfrm>
            <a:off x="3200400" y="2167128"/>
            <a:ext cx="658368" cy="274320"/>
          </a:xfrm>
          <a:prstGeom prst="roundRect">
            <a:avLst>
              <a:gd name="adj" fmla="val 50000"/>
            </a:avLst>
          </a:prstGeom>
          <a:solidFill>
            <a:srgbClr val="2E9E6B"/>
          </a:solidFill>
          <a:ln/>
        </p:spPr>
      </p:sp>
      <p:sp>
        <p:nvSpPr>
          <p:cNvPr id="12" name="Text 9"/>
          <p:cNvSpPr/>
          <p:nvPr/>
        </p:nvSpPr>
        <p:spPr>
          <a:xfrm>
            <a:off x="3200400" y="2167128"/>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GA</a:t>
            </a:r>
            <a:endParaRPr lang="en-US" sz="1000" dirty="0"/>
          </a:p>
        </p:txBody>
      </p:sp>
      <p:sp>
        <p:nvSpPr>
          <p:cNvPr id="13" name="Text 10"/>
          <p:cNvSpPr/>
          <p:nvPr/>
        </p:nvSpPr>
        <p:spPr>
          <a:xfrm>
            <a:off x="822960" y="2862072"/>
            <a:ext cx="3154680" cy="256032"/>
          </a:xfrm>
          <a:prstGeom prst="rect">
            <a:avLst/>
          </a:prstGeom>
          <a:noFill/>
          <a:ln/>
        </p:spPr>
        <p:txBody>
          <a:bodyPr wrap="square" rtlCol="0" anchor="ctr"/>
          <a:lstStyle/>
          <a:p>
            <a:pPr indent="0" marL="0">
              <a:buNone/>
            </a:pPr>
            <a:r>
              <a:rPr lang="en-US" sz="950" b="1" spc="100" kern="0" dirty="0">
                <a:solidFill>
                  <a:srgbClr val="2F5B93"/>
                </a:solidFill>
                <a:latin typeface="Apple SD Gothic Neo" pitchFamily="34" charset="0"/>
                <a:ea typeface="Apple SD Gothic Neo" pitchFamily="34" charset="-122"/>
                <a:cs typeface="Apple SD Gothic Neo" pitchFamily="34" charset="-120"/>
              </a:rPr>
              <a:t>데이터 기반</a:t>
            </a:r>
            <a:endParaRPr lang="en-US" sz="950" dirty="0"/>
          </a:p>
        </p:txBody>
      </p:sp>
      <p:sp>
        <p:nvSpPr>
          <p:cNvPr id="14" name="Text 11"/>
          <p:cNvSpPr/>
          <p:nvPr/>
        </p:nvSpPr>
        <p:spPr>
          <a:xfrm>
            <a:off x="822960" y="3081528"/>
            <a:ext cx="3154680" cy="457200"/>
          </a:xfrm>
          <a:prstGeom prst="rect">
            <a:avLst/>
          </a:prstGeom>
          <a:noFill/>
          <a:ln/>
        </p:spPr>
        <p:txBody>
          <a:bodyPr wrap="square" rtlCol="0" anchor="ctr"/>
          <a:lstStyle/>
          <a:p>
            <a:pPr indent="0" marL="0">
              <a:lnSpc>
                <a:spcPct val="95000"/>
              </a:lnSpc>
              <a:buNone/>
            </a:pPr>
            <a:r>
              <a:rPr lang="en-US" sz="1400" b="1" dirty="0">
                <a:solidFill>
                  <a:srgbClr val="0F2547"/>
                </a:solidFill>
                <a:latin typeface="Apple SD Gothic Neo" pitchFamily="34" charset="0"/>
                <a:ea typeface="Apple SD Gothic Neo" pitchFamily="34" charset="-122"/>
                <a:cs typeface="Apple SD Gothic Neo" pitchFamily="34" charset="-120"/>
              </a:rPr>
              <a:t>Microsoft Fabric · OneLake</a:t>
            </a:r>
            <a:endParaRPr lang="en-US" sz="1400" dirty="0"/>
          </a:p>
        </p:txBody>
      </p:sp>
      <p:sp>
        <p:nvSpPr>
          <p:cNvPr id="15" name="Text 12"/>
          <p:cNvSpPr/>
          <p:nvPr/>
        </p:nvSpPr>
        <p:spPr>
          <a:xfrm>
            <a:off x="822960" y="3538728"/>
            <a:ext cx="3154680" cy="365760"/>
          </a:xfrm>
          <a:prstGeom prst="rect">
            <a:avLst/>
          </a:prstGeom>
          <a:noFill/>
          <a:ln/>
        </p:spPr>
        <p:txBody>
          <a:bodyPr wrap="square" rtlCol="0" anchor="ctr"/>
          <a:lstStyle/>
          <a:p>
            <a:pPr indent="0" marL="0">
              <a:lnSpc>
                <a:spcPct val="105000"/>
              </a:lnSpc>
              <a:buNone/>
            </a:pPr>
            <a:r>
              <a:rPr lang="en-US" sz="1000" dirty="0">
                <a:solidFill>
                  <a:srgbClr val="5F708A"/>
                </a:solidFill>
                <a:latin typeface="Apple SD Gothic Neo" pitchFamily="34" charset="0"/>
                <a:ea typeface="Apple SD Gothic Neo" pitchFamily="34" charset="-122"/>
                <a:cs typeface="Apple SD Gothic Neo" pitchFamily="34" charset="-120"/>
              </a:rPr>
              <a:t>흩어진 데이터를 하나의 논리적 레이크로</a:t>
            </a:r>
            <a:endParaRPr lang="en-US" sz="1000" dirty="0"/>
          </a:p>
        </p:txBody>
      </p:sp>
      <p:sp>
        <p:nvSpPr>
          <p:cNvPr id="16" name="Shape 13"/>
          <p:cNvSpPr/>
          <p:nvPr/>
        </p:nvSpPr>
        <p:spPr>
          <a:xfrm>
            <a:off x="4279392" y="1783080"/>
            <a:ext cx="3611880" cy="2103120"/>
          </a:xfrm>
          <a:prstGeom prst="roundRect">
            <a:avLst>
              <a:gd name="adj" fmla="val 391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7" name="Shape 14"/>
          <p:cNvSpPr/>
          <p:nvPr/>
        </p:nvSpPr>
        <p:spPr>
          <a:xfrm>
            <a:off x="4553712" y="2057400"/>
            <a:ext cx="731520" cy="731520"/>
          </a:xfrm>
          <a:prstGeom prst="ellipse">
            <a:avLst/>
          </a:prstGeom>
          <a:solidFill>
            <a:srgbClr val="DBE7F6"/>
          </a:solidFill>
          <a:ln/>
        </p:spPr>
      </p:sp>
      <p:pic>
        <p:nvPicPr>
          <p:cNvPr id="18" name="Image 1" descr="preencoded.png">    </p:cNvPr>
          <p:cNvPicPr>
            <a:picLocks noChangeAspect="1"/>
          </p:cNvPicPr>
          <p:nvPr/>
        </p:nvPicPr>
        <p:blipFill>
          <a:blip r:embed="rId2"/>
          <a:stretch>
            <a:fillRect/>
          </a:stretch>
        </p:blipFill>
        <p:spPr>
          <a:xfrm>
            <a:off x="4743907" y="2247595"/>
            <a:ext cx="351130" cy="351130"/>
          </a:xfrm>
          <a:prstGeom prst="rect">
            <a:avLst/>
          </a:prstGeom>
        </p:spPr>
      </p:pic>
      <p:sp>
        <p:nvSpPr>
          <p:cNvPr id="19" name="Shape 15"/>
          <p:cNvSpPr/>
          <p:nvPr/>
        </p:nvSpPr>
        <p:spPr>
          <a:xfrm>
            <a:off x="6656832" y="2167128"/>
            <a:ext cx="771754" cy="274320"/>
          </a:xfrm>
          <a:prstGeom prst="roundRect">
            <a:avLst>
              <a:gd name="adj" fmla="val 50000"/>
            </a:avLst>
          </a:prstGeom>
          <a:solidFill>
            <a:srgbClr val="F5B841"/>
          </a:solidFill>
          <a:ln/>
        </p:spPr>
      </p:sp>
      <p:sp>
        <p:nvSpPr>
          <p:cNvPr id="20" name="Text 16"/>
          <p:cNvSpPr/>
          <p:nvPr/>
        </p:nvSpPr>
        <p:spPr>
          <a:xfrm>
            <a:off x="6656832" y="2167128"/>
            <a:ext cx="771754" cy="274320"/>
          </a:xfrm>
          <a:prstGeom prst="rect">
            <a:avLst/>
          </a:prstGeom>
          <a:noFill/>
          <a:ln/>
        </p:spPr>
        <p:txBody>
          <a:bodyPr wrap="square" rtlCol="0" anchor="ctr"/>
          <a:lstStyle/>
          <a:p>
            <a:pPr algn="ctr" indent="0" marL="0">
              <a:buNone/>
            </a:pPr>
            <a:r>
              <a:rPr lang="en-US" sz="1000" b="1" dirty="0">
                <a:solidFill>
                  <a:srgbClr val="0F2547"/>
                </a:solidFill>
                <a:latin typeface="Apple SD Gothic Neo" pitchFamily="34" charset="0"/>
                <a:ea typeface="Apple SD Gothic Neo" pitchFamily="34" charset="-122"/>
                <a:cs typeface="Apple SD Gothic Neo" pitchFamily="34" charset="-120"/>
              </a:rPr>
              <a:t>Preview</a:t>
            </a:r>
            <a:endParaRPr lang="en-US" sz="1000" dirty="0"/>
          </a:p>
        </p:txBody>
      </p:sp>
      <p:sp>
        <p:nvSpPr>
          <p:cNvPr id="21" name="Text 17"/>
          <p:cNvSpPr/>
          <p:nvPr/>
        </p:nvSpPr>
        <p:spPr>
          <a:xfrm>
            <a:off x="4553712" y="2862072"/>
            <a:ext cx="3154680" cy="256032"/>
          </a:xfrm>
          <a:prstGeom prst="rect">
            <a:avLst/>
          </a:prstGeom>
          <a:noFill/>
          <a:ln/>
        </p:spPr>
        <p:txBody>
          <a:bodyPr wrap="square" rtlCol="0" anchor="ctr"/>
          <a:lstStyle/>
          <a:p>
            <a:pPr indent="0" marL="0">
              <a:buNone/>
            </a:pPr>
            <a:r>
              <a:rPr lang="en-US" sz="950" b="1" spc="100" kern="0" dirty="0">
                <a:solidFill>
                  <a:srgbClr val="2F5B93"/>
                </a:solidFill>
                <a:latin typeface="Apple SD Gothic Neo" pitchFamily="34" charset="0"/>
                <a:ea typeface="Apple SD Gothic Neo" pitchFamily="34" charset="-122"/>
                <a:cs typeface="Apple SD Gothic Neo" pitchFamily="34" charset="-120"/>
              </a:rPr>
              <a:t>지능 레이어</a:t>
            </a:r>
            <a:endParaRPr lang="en-US" sz="950" dirty="0"/>
          </a:p>
        </p:txBody>
      </p:sp>
      <p:sp>
        <p:nvSpPr>
          <p:cNvPr id="22" name="Text 18"/>
          <p:cNvSpPr/>
          <p:nvPr/>
        </p:nvSpPr>
        <p:spPr>
          <a:xfrm>
            <a:off x="4553712" y="3081528"/>
            <a:ext cx="3154680" cy="457200"/>
          </a:xfrm>
          <a:prstGeom prst="rect">
            <a:avLst/>
          </a:prstGeom>
          <a:noFill/>
          <a:ln/>
        </p:spPr>
        <p:txBody>
          <a:bodyPr wrap="square" rtlCol="0" anchor="ctr"/>
          <a:lstStyle/>
          <a:p>
            <a:pPr indent="0" marL="0">
              <a:lnSpc>
                <a:spcPct val="95000"/>
              </a:lnSpc>
              <a:buNone/>
            </a:pPr>
            <a:r>
              <a:rPr lang="en-US" sz="1400" b="1" dirty="0">
                <a:solidFill>
                  <a:srgbClr val="0F2547"/>
                </a:solidFill>
                <a:latin typeface="Apple SD Gothic Neo" pitchFamily="34" charset="0"/>
                <a:ea typeface="Apple SD Gothic Neo" pitchFamily="34" charset="-122"/>
                <a:cs typeface="Apple SD Gothic Neo" pitchFamily="34" charset="-120"/>
              </a:rPr>
              <a:t>3개의 IQ + Azure AI Search</a:t>
            </a:r>
            <a:endParaRPr lang="en-US" sz="1400" dirty="0"/>
          </a:p>
        </p:txBody>
      </p:sp>
      <p:sp>
        <p:nvSpPr>
          <p:cNvPr id="23" name="Text 19"/>
          <p:cNvSpPr/>
          <p:nvPr/>
        </p:nvSpPr>
        <p:spPr>
          <a:xfrm>
            <a:off x="4553712" y="3538728"/>
            <a:ext cx="3154680" cy="365760"/>
          </a:xfrm>
          <a:prstGeom prst="rect">
            <a:avLst/>
          </a:prstGeom>
          <a:noFill/>
          <a:ln/>
        </p:spPr>
        <p:txBody>
          <a:bodyPr wrap="square" rtlCol="0" anchor="ctr"/>
          <a:lstStyle/>
          <a:p>
            <a:pPr indent="0" marL="0">
              <a:lnSpc>
                <a:spcPct val="105000"/>
              </a:lnSpc>
              <a:buNone/>
            </a:pPr>
            <a:r>
              <a:rPr lang="en-US" sz="1000" dirty="0">
                <a:solidFill>
                  <a:srgbClr val="5F708A"/>
                </a:solidFill>
                <a:latin typeface="Apple SD Gothic Neo" pitchFamily="34" charset="0"/>
                <a:ea typeface="Apple SD Gothic Neo" pitchFamily="34" charset="-122"/>
                <a:cs typeface="Apple SD Gothic Neo" pitchFamily="34" charset="-120"/>
              </a:rPr>
              <a:t>데이터·업무·지식의 의미를 이해</a:t>
            </a:r>
            <a:endParaRPr lang="en-US" sz="1000" dirty="0"/>
          </a:p>
        </p:txBody>
      </p:sp>
      <p:sp>
        <p:nvSpPr>
          <p:cNvPr id="24" name="Shape 20"/>
          <p:cNvSpPr/>
          <p:nvPr/>
        </p:nvSpPr>
        <p:spPr>
          <a:xfrm>
            <a:off x="8010144" y="1783080"/>
            <a:ext cx="3611880" cy="2103120"/>
          </a:xfrm>
          <a:prstGeom prst="roundRect">
            <a:avLst>
              <a:gd name="adj" fmla="val 391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5" name="Shape 21"/>
          <p:cNvSpPr/>
          <p:nvPr/>
        </p:nvSpPr>
        <p:spPr>
          <a:xfrm>
            <a:off x="8284464" y="2057400"/>
            <a:ext cx="731520" cy="731520"/>
          </a:xfrm>
          <a:prstGeom prst="ellipse">
            <a:avLst/>
          </a:prstGeom>
          <a:solidFill>
            <a:srgbClr val="DBE7F6"/>
          </a:solidFill>
          <a:ln/>
        </p:spPr>
      </p:sp>
      <p:pic>
        <p:nvPicPr>
          <p:cNvPr id="26" name="Image 2" descr="preencoded.png">    </p:cNvPr>
          <p:cNvPicPr>
            <a:picLocks noChangeAspect="1"/>
          </p:cNvPicPr>
          <p:nvPr/>
        </p:nvPicPr>
        <p:blipFill>
          <a:blip r:embed="rId3"/>
          <a:stretch>
            <a:fillRect/>
          </a:stretch>
        </p:blipFill>
        <p:spPr>
          <a:xfrm>
            <a:off x="8474659" y="2247595"/>
            <a:ext cx="351130" cy="351130"/>
          </a:xfrm>
          <a:prstGeom prst="rect">
            <a:avLst/>
          </a:prstGeom>
        </p:spPr>
      </p:pic>
      <p:sp>
        <p:nvSpPr>
          <p:cNvPr id="27" name="Shape 22"/>
          <p:cNvSpPr/>
          <p:nvPr/>
        </p:nvSpPr>
        <p:spPr>
          <a:xfrm>
            <a:off x="10661904" y="2167128"/>
            <a:ext cx="658368" cy="274320"/>
          </a:xfrm>
          <a:prstGeom prst="roundRect">
            <a:avLst>
              <a:gd name="adj" fmla="val 50000"/>
            </a:avLst>
          </a:prstGeom>
          <a:solidFill>
            <a:srgbClr val="2E9E6B"/>
          </a:solidFill>
          <a:ln/>
        </p:spPr>
      </p:sp>
      <p:sp>
        <p:nvSpPr>
          <p:cNvPr id="28" name="Text 23"/>
          <p:cNvSpPr/>
          <p:nvPr/>
        </p:nvSpPr>
        <p:spPr>
          <a:xfrm>
            <a:off x="10661904" y="2167128"/>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GA</a:t>
            </a:r>
            <a:endParaRPr lang="en-US" sz="1000" dirty="0"/>
          </a:p>
        </p:txBody>
      </p:sp>
      <p:sp>
        <p:nvSpPr>
          <p:cNvPr id="29" name="Text 24"/>
          <p:cNvSpPr/>
          <p:nvPr/>
        </p:nvSpPr>
        <p:spPr>
          <a:xfrm>
            <a:off x="8284464" y="2862072"/>
            <a:ext cx="3154680" cy="256032"/>
          </a:xfrm>
          <a:prstGeom prst="rect">
            <a:avLst/>
          </a:prstGeom>
          <a:noFill/>
          <a:ln/>
        </p:spPr>
        <p:txBody>
          <a:bodyPr wrap="square" rtlCol="0" anchor="ctr"/>
          <a:lstStyle/>
          <a:p>
            <a:pPr indent="0" marL="0">
              <a:buNone/>
            </a:pPr>
            <a:r>
              <a:rPr lang="en-US" sz="950" b="1" spc="100" kern="0" dirty="0">
                <a:solidFill>
                  <a:srgbClr val="2F5B93"/>
                </a:solidFill>
                <a:latin typeface="Apple SD Gothic Neo" pitchFamily="34" charset="0"/>
                <a:ea typeface="Apple SD Gothic Neo" pitchFamily="34" charset="-122"/>
                <a:cs typeface="Apple SD Gothic Neo" pitchFamily="34" charset="-120"/>
              </a:rPr>
              <a:t>에이전트 개발·운영</a:t>
            </a:r>
            <a:endParaRPr lang="en-US" sz="950" dirty="0"/>
          </a:p>
        </p:txBody>
      </p:sp>
      <p:sp>
        <p:nvSpPr>
          <p:cNvPr id="30" name="Text 25"/>
          <p:cNvSpPr/>
          <p:nvPr/>
        </p:nvSpPr>
        <p:spPr>
          <a:xfrm>
            <a:off x="8284464" y="3081528"/>
            <a:ext cx="3154680" cy="457200"/>
          </a:xfrm>
          <a:prstGeom prst="rect">
            <a:avLst/>
          </a:prstGeom>
          <a:noFill/>
          <a:ln/>
        </p:spPr>
        <p:txBody>
          <a:bodyPr wrap="square" rtlCol="0" anchor="ctr"/>
          <a:lstStyle/>
          <a:p>
            <a:pPr indent="0" marL="0">
              <a:lnSpc>
                <a:spcPct val="95000"/>
              </a:lnSpc>
              <a:buNone/>
            </a:pPr>
            <a:r>
              <a:rPr lang="en-US" sz="1400" b="1" dirty="0">
                <a:solidFill>
                  <a:srgbClr val="0F2547"/>
                </a:solidFill>
                <a:latin typeface="Apple SD Gothic Neo" pitchFamily="34" charset="0"/>
                <a:ea typeface="Apple SD Gothic Neo" pitchFamily="34" charset="-122"/>
                <a:cs typeface="Apple SD Gothic Neo" pitchFamily="34" charset="-120"/>
              </a:rPr>
              <a:t>Microsoft Foundry</a:t>
            </a:r>
            <a:endParaRPr lang="en-US" sz="1400" dirty="0"/>
          </a:p>
        </p:txBody>
      </p:sp>
      <p:sp>
        <p:nvSpPr>
          <p:cNvPr id="31" name="Text 26"/>
          <p:cNvSpPr/>
          <p:nvPr/>
        </p:nvSpPr>
        <p:spPr>
          <a:xfrm>
            <a:off x="8284464" y="3538728"/>
            <a:ext cx="3154680" cy="365760"/>
          </a:xfrm>
          <a:prstGeom prst="rect">
            <a:avLst/>
          </a:prstGeom>
          <a:noFill/>
          <a:ln/>
        </p:spPr>
        <p:txBody>
          <a:bodyPr wrap="square" rtlCol="0" anchor="ctr"/>
          <a:lstStyle/>
          <a:p>
            <a:pPr indent="0" marL="0">
              <a:lnSpc>
                <a:spcPct val="105000"/>
              </a:lnSpc>
              <a:buNone/>
            </a:pPr>
            <a:r>
              <a:rPr lang="en-US" sz="1000" dirty="0">
                <a:solidFill>
                  <a:srgbClr val="5F708A"/>
                </a:solidFill>
                <a:latin typeface="Apple SD Gothic Neo" pitchFamily="34" charset="0"/>
                <a:ea typeface="Apple SD Gothic Neo" pitchFamily="34" charset="-122"/>
                <a:cs typeface="Apple SD Gothic Neo" pitchFamily="34" charset="-120"/>
              </a:rPr>
              <a:t>모델·에이전트·평가·안전을 하나로</a:t>
            </a:r>
            <a:endParaRPr lang="en-US" sz="1000" dirty="0"/>
          </a:p>
        </p:txBody>
      </p:sp>
      <p:sp>
        <p:nvSpPr>
          <p:cNvPr id="32" name="Shape 27"/>
          <p:cNvSpPr/>
          <p:nvPr/>
        </p:nvSpPr>
        <p:spPr>
          <a:xfrm>
            <a:off x="548640" y="3995928"/>
            <a:ext cx="3611880" cy="2103120"/>
          </a:xfrm>
          <a:prstGeom prst="roundRect">
            <a:avLst>
              <a:gd name="adj" fmla="val 391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33" name="Shape 28"/>
          <p:cNvSpPr/>
          <p:nvPr/>
        </p:nvSpPr>
        <p:spPr>
          <a:xfrm>
            <a:off x="822960" y="4270248"/>
            <a:ext cx="731520" cy="731520"/>
          </a:xfrm>
          <a:prstGeom prst="ellipse">
            <a:avLst/>
          </a:prstGeom>
          <a:solidFill>
            <a:srgbClr val="DBE7F6"/>
          </a:solidFill>
          <a:ln/>
        </p:spPr>
      </p:sp>
      <p:pic>
        <p:nvPicPr>
          <p:cNvPr id="34" name="Image 3" descr="preencoded.png">    </p:cNvPr>
          <p:cNvPicPr>
            <a:picLocks noChangeAspect="1"/>
          </p:cNvPicPr>
          <p:nvPr/>
        </p:nvPicPr>
        <p:blipFill>
          <a:blip r:embed="rId4"/>
          <a:stretch>
            <a:fillRect/>
          </a:stretch>
        </p:blipFill>
        <p:spPr>
          <a:xfrm>
            <a:off x="1013155" y="4460443"/>
            <a:ext cx="351130" cy="351130"/>
          </a:xfrm>
          <a:prstGeom prst="rect">
            <a:avLst/>
          </a:prstGeom>
        </p:spPr>
      </p:pic>
      <p:sp>
        <p:nvSpPr>
          <p:cNvPr id="35" name="Shape 29"/>
          <p:cNvSpPr/>
          <p:nvPr/>
        </p:nvSpPr>
        <p:spPr>
          <a:xfrm>
            <a:off x="3200400" y="4379976"/>
            <a:ext cx="658368" cy="274320"/>
          </a:xfrm>
          <a:prstGeom prst="roundRect">
            <a:avLst>
              <a:gd name="adj" fmla="val 50000"/>
            </a:avLst>
          </a:prstGeom>
          <a:solidFill>
            <a:srgbClr val="2E9E6B"/>
          </a:solidFill>
          <a:ln/>
        </p:spPr>
      </p:sp>
      <p:sp>
        <p:nvSpPr>
          <p:cNvPr id="36" name="Text 30"/>
          <p:cNvSpPr/>
          <p:nvPr/>
        </p:nvSpPr>
        <p:spPr>
          <a:xfrm>
            <a:off x="3200400" y="4379976"/>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GA</a:t>
            </a:r>
            <a:endParaRPr lang="en-US" sz="1000" dirty="0"/>
          </a:p>
        </p:txBody>
      </p:sp>
      <p:sp>
        <p:nvSpPr>
          <p:cNvPr id="37" name="Text 31"/>
          <p:cNvSpPr/>
          <p:nvPr/>
        </p:nvSpPr>
        <p:spPr>
          <a:xfrm>
            <a:off x="822960" y="5074920"/>
            <a:ext cx="3154680" cy="256032"/>
          </a:xfrm>
          <a:prstGeom prst="rect">
            <a:avLst/>
          </a:prstGeom>
          <a:noFill/>
          <a:ln/>
        </p:spPr>
        <p:txBody>
          <a:bodyPr wrap="square" rtlCol="0" anchor="ctr"/>
          <a:lstStyle/>
          <a:p>
            <a:pPr indent="0" marL="0">
              <a:buNone/>
            </a:pPr>
            <a:r>
              <a:rPr lang="en-US" sz="950" b="1" spc="100" kern="0" dirty="0">
                <a:solidFill>
                  <a:srgbClr val="2F5B93"/>
                </a:solidFill>
                <a:latin typeface="Apple SD Gothic Neo" pitchFamily="34" charset="0"/>
                <a:ea typeface="Apple SD Gothic Neo" pitchFamily="34" charset="-122"/>
                <a:cs typeface="Apple SD Gothic Neo" pitchFamily="34" charset="-120"/>
              </a:rPr>
              <a:t>현업·IT 에이전트</a:t>
            </a:r>
            <a:endParaRPr lang="en-US" sz="950" dirty="0"/>
          </a:p>
        </p:txBody>
      </p:sp>
      <p:sp>
        <p:nvSpPr>
          <p:cNvPr id="38" name="Text 32"/>
          <p:cNvSpPr/>
          <p:nvPr/>
        </p:nvSpPr>
        <p:spPr>
          <a:xfrm>
            <a:off x="822960" y="5294376"/>
            <a:ext cx="3154680" cy="457200"/>
          </a:xfrm>
          <a:prstGeom prst="rect">
            <a:avLst/>
          </a:prstGeom>
          <a:noFill/>
          <a:ln/>
        </p:spPr>
        <p:txBody>
          <a:bodyPr wrap="square" rtlCol="0" anchor="ctr"/>
          <a:lstStyle/>
          <a:p>
            <a:pPr indent="0" marL="0">
              <a:lnSpc>
                <a:spcPct val="95000"/>
              </a:lnSpc>
              <a:buNone/>
            </a:pPr>
            <a:r>
              <a:rPr lang="en-US" sz="1400" b="1" dirty="0">
                <a:solidFill>
                  <a:srgbClr val="0F2547"/>
                </a:solidFill>
                <a:latin typeface="Apple SD Gothic Neo" pitchFamily="34" charset="0"/>
                <a:ea typeface="Apple SD Gothic Neo" pitchFamily="34" charset="-122"/>
                <a:cs typeface="Apple SD Gothic Neo" pitchFamily="34" charset="-120"/>
              </a:rPr>
              <a:t>Copilot Studio</a:t>
            </a:r>
            <a:endParaRPr lang="en-US" sz="1400" dirty="0"/>
          </a:p>
        </p:txBody>
      </p:sp>
      <p:sp>
        <p:nvSpPr>
          <p:cNvPr id="39" name="Text 33"/>
          <p:cNvSpPr/>
          <p:nvPr/>
        </p:nvSpPr>
        <p:spPr>
          <a:xfrm>
            <a:off x="822960" y="5751576"/>
            <a:ext cx="3154680" cy="365760"/>
          </a:xfrm>
          <a:prstGeom prst="rect">
            <a:avLst/>
          </a:prstGeom>
          <a:noFill/>
          <a:ln/>
        </p:spPr>
        <p:txBody>
          <a:bodyPr wrap="square" rtlCol="0" anchor="ctr"/>
          <a:lstStyle/>
          <a:p>
            <a:pPr indent="0" marL="0">
              <a:lnSpc>
                <a:spcPct val="105000"/>
              </a:lnSpc>
              <a:buNone/>
            </a:pPr>
            <a:r>
              <a:rPr lang="en-US" sz="1000" dirty="0">
                <a:solidFill>
                  <a:srgbClr val="5F708A"/>
                </a:solidFill>
                <a:latin typeface="Apple SD Gothic Neo" pitchFamily="34" charset="0"/>
                <a:ea typeface="Apple SD Gothic Neo" pitchFamily="34" charset="-122"/>
                <a:cs typeface="Apple SD Gothic Neo" pitchFamily="34" charset="-120"/>
              </a:rPr>
              <a:t>코드 없이 업무 에이전트 제작</a:t>
            </a:r>
            <a:endParaRPr lang="en-US" sz="1000" dirty="0"/>
          </a:p>
        </p:txBody>
      </p:sp>
      <p:sp>
        <p:nvSpPr>
          <p:cNvPr id="40" name="Shape 34"/>
          <p:cNvSpPr/>
          <p:nvPr/>
        </p:nvSpPr>
        <p:spPr>
          <a:xfrm>
            <a:off x="4279392" y="3995928"/>
            <a:ext cx="3611880" cy="2103120"/>
          </a:xfrm>
          <a:prstGeom prst="roundRect">
            <a:avLst>
              <a:gd name="adj" fmla="val 391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41" name="Shape 35"/>
          <p:cNvSpPr/>
          <p:nvPr/>
        </p:nvSpPr>
        <p:spPr>
          <a:xfrm>
            <a:off x="4553712" y="4270248"/>
            <a:ext cx="731520" cy="731520"/>
          </a:xfrm>
          <a:prstGeom prst="ellipse">
            <a:avLst/>
          </a:prstGeom>
          <a:solidFill>
            <a:srgbClr val="DBE7F6"/>
          </a:solidFill>
          <a:ln/>
        </p:spPr>
      </p:sp>
      <p:pic>
        <p:nvPicPr>
          <p:cNvPr id="42" name="Image 4" descr="preencoded.png">    </p:cNvPr>
          <p:cNvPicPr>
            <a:picLocks noChangeAspect="1"/>
          </p:cNvPicPr>
          <p:nvPr/>
        </p:nvPicPr>
        <p:blipFill>
          <a:blip r:embed="rId5"/>
          <a:stretch>
            <a:fillRect/>
          </a:stretch>
        </p:blipFill>
        <p:spPr>
          <a:xfrm>
            <a:off x="4743907" y="4460443"/>
            <a:ext cx="351130" cy="351130"/>
          </a:xfrm>
          <a:prstGeom prst="rect">
            <a:avLst/>
          </a:prstGeom>
        </p:spPr>
      </p:pic>
      <p:sp>
        <p:nvSpPr>
          <p:cNvPr id="43" name="Shape 36"/>
          <p:cNvSpPr/>
          <p:nvPr/>
        </p:nvSpPr>
        <p:spPr>
          <a:xfrm>
            <a:off x="6931152" y="4379976"/>
            <a:ext cx="658368" cy="274320"/>
          </a:xfrm>
          <a:prstGeom prst="roundRect">
            <a:avLst>
              <a:gd name="adj" fmla="val 50000"/>
            </a:avLst>
          </a:prstGeom>
          <a:solidFill>
            <a:srgbClr val="2E9E6B"/>
          </a:solidFill>
          <a:ln/>
        </p:spPr>
      </p:sp>
      <p:sp>
        <p:nvSpPr>
          <p:cNvPr id="44" name="Text 37"/>
          <p:cNvSpPr/>
          <p:nvPr/>
        </p:nvSpPr>
        <p:spPr>
          <a:xfrm>
            <a:off x="6931152" y="4379976"/>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GA</a:t>
            </a:r>
            <a:endParaRPr lang="en-US" sz="1000" dirty="0"/>
          </a:p>
        </p:txBody>
      </p:sp>
      <p:sp>
        <p:nvSpPr>
          <p:cNvPr id="45" name="Text 38"/>
          <p:cNvSpPr/>
          <p:nvPr/>
        </p:nvSpPr>
        <p:spPr>
          <a:xfrm>
            <a:off x="4553712" y="5074920"/>
            <a:ext cx="3154680" cy="256032"/>
          </a:xfrm>
          <a:prstGeom prst="rect">
            <a:avLst/>
          </a:prstGeom>
          <a:noFill/>
          <a:ln/>
        </p:spPr>
        <p:txBody>
          <a:bodyPr wrap="square" rtlCol="0" anchor="ctr"/>
          <a:lstStyle/>
          <a:p>
            <a:pPr indent="0" marL="0">
              <a:buNone/>
            </a:pPr>
            <a:r>
              <a:rPr lang="en-US" sz="950" b="1" spc="100" kern="0" dirty="0">
                <a:solidFill>
                  <a:srgbClr val="2F5B93"/>
                </a:solidFill>
                <a:latin typeface="Apple SD Gothic Neo" pitchFamily="34" charset="0"/>
                <a:ea typeface="Apple SD Gothic Neo" pitchFamily="34" charset="-122"/>
                <a:cs typeface="Apple SD Gothic Neo" pitchFamily="34" charset="-120"/>
              </a:rPr>
              <a:t>업무 현장 통합</a:t>
            </a:r>
            <a:endParaRPr lang="en-US" sz="950" dirty="0"/>
          </a:p>
        </p:txBody>
      </p:sp>
      <p:sp>
        <p:nvSpPr>
          <p:cNvPr id="46" name="Text 39"/>
          <p:cNvSpPr/>
          <p:nvPr/>
        </p:nvSpPr>
        <p:spPr>
          <a:xfrm>
            <a:off x="4553712" y="5294376"/>
            <a:ext cx="3154680" cy="457200"/>
          </a:xfrm>
          <a:prstGeom prst="rect">
            <a:avLst/>
          </a:prstGeom>
          <a:noFill/>
          <a:ln/>
        </p:spPr>
        <p:txBody>
          <a:bodyPr wrap="square" rtlCol="0" anchor="ctr"/>
          <a:lstStyle/>
          <a:p>
            <a:pPr indent="0" marL="0">
              <a:lnSpc>
                <a:spcPct val="95000"/>
              </a:lnSpc>
              <a:buNone/>
            </a:pPr>
            <a:r>
              <a:rPr lang="en-US" sz="1400" b="1" dirty="0">
                <a:solidFill>
                  <a:srgbClr val="0F2547"/>
                </a:solidFill>
                <a:latin typeface="Apple SD Gothic Neo" pitchFamily="34" charset="0"/>
                <a:ea typeface="Apple SD Gothic Neo" pitchFamily="34" charset="-122"/>
                <a:cs typeface="Apple SD Gothic Neo" pitchFamily="34" charset="-120"/>
              </a:rPr>
              <a:t>Microsoft 365 · Agent 365</a:t>
            </a:r>
            <a:endParaRPr lang="en-US" sz="1400" dirty="0"/>
          </a:p>
        </p:txBody>
      </p:sp>
      <p:sp>
        <p:nvSpPr>
          <p:cNvPr id="47" name="Text 40"/>
          <p:cNvSpPr/>
          <p:nvPr/>
        </p:nvSpPr>
        <p:spPr>
          <a:xfrm>
            <a:off x="4553712" y="5751576"/>
            <a:ext cx="3154680" cy="365760"/>
          </a:xfrm>
          <a:prstGeom prst="rect">
            <a:avLst/>
          </a:prstGeom>
          <a:noFill/>
          <a:ln/>
        </p:spPr>
        <p:txBody>
          <a:bodyPr wrap="square" rtlCol="0" anchor="ctr"/>
          <a:lstStyle/>
          <a:p>
            <a:pPr indent="0" marL="0">
              <a:lnSpc>
                <a:spcPct val="105000"/>
              </a:lnSpc>
              <a:buNone/>
            </a:pPr>
            <a:r>
              <a:rPr lang="en-US" sz="1000" dirty="0">
                <a:solidFill>
                  <a:srgbClr val="5F708A"/>
                </a:solidFill>
                <a:latin typeface="Apple SD Gothic Neo" pitchFamily="34" charset="0"/>
                <a:ea typeface="Apple SD Gothic Neo" pitchFamily="34" charset="-122"/>
                <a:cs typeface="Apple SD Gothic Neo" pitchFamily="34" charset="-120"/>
              </a:rPr>
              <a:t>일하는 곳에서 바로 에이전트 활용</a:t>
            </a:r>
            <a:endParaRPr lang="en-US" sz="1000" dirty="0"/>
          </a:p>
        </p:txBody>
      </p:sp>
      <p:sp>
        <p:nvSpPr>
          <p:cNvPr id="48" name="Shape 41"/>
          <p:cNvSpPr/>
          <p:nvPr/>
        </p:nvSpPr>
        <p:spPr>
          <a:xfrm>
            <a:off x="8010144" y="3995928"/>
            <a:ext cx="3611880" cy="2103120"/>
          </a:xfrm>
          <a:prstGeom prst="roundRect">
            <a:avLst>
              <a:gd name="adj" fmla="val 391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49" name="Shape 42"/>
          <p:cNvSpPr/>
          <p:nvPr/>
        </p:nvSpPr>
        <p:spPr>
          <a:xfrm>
            <a:off x="8284464" y="4270248"/>
            <a:ext cx="731520" cy="731520"/>
          </a:xfrm>
          <a:prstGeom prst="ellipse">
            <a:avLst/>
          </a:prstGeom>
          <a:solidFill>
            <a:srgbClr val="DBE7F6"/>
          </a:solidFill>
          <a:ln/>
        </p:spPr>
      </p:sp>
      <p:pic>
        <p:nvPicPr>
          <p:cNvPr id="50" name="Image 5" descr="preencoded.png">    </p:cNvPr>
          <p:cNvPicPr>
            <a:picLocks noChangeAspect="1"/>
          </p:cNvPicPr>
          <p:nvPr/>
        </p:nvPicPr>
        <p:blipFill>
          <a:blip r:embed="rId6"/>
          <a:stretch>
            <a:fillRect/>
          </a:stretch>
        </p:blipFill>
        <p:spPr>
          <a:xfrm>
            <a:off x="8474659" y="4460443"/>
            <a:ext cx="351130" cy="351130"/>
          </a:xfrm>
          <a:prstGeom prst="rect">
            <a:avLst/>
          </a:prstGeom>
        </p:spPr>
      </p:pic>
      <p:sp>
        <p:nvSpPr>
          <p:cNvPr id="51" name="Shape 43"/>
          <p:cNvSpPr/>
          <p:nvPr/>
        </p:nvSpPr>
        <p:spPr>
          <a:xfrm>
            <a:off x="10661904" y="4379976"/>
            <a:ext cx="658368" cy="274320"/>
          </a:xfrm>
          <a:prstGeom prst="roundRect">
            <a:avLst>
              <a:gd name="adj" fmla="val 50000"/>
            </a:avLst>
          </a:prstGeom>
          <a:solidFill>
            <a:srgbClr val="2E9E6B"/>
          </a:solidFill>
          <a:ln/>
        </p:spPr>
      </p:sp>
      <p:sp>
        <p:nvSpPr>
          <p:cNvPr id="52" name="Text 44"/>
          <p:cNvSpPr/>
          <p:nvPr/>
        </p:nvSpPr>
        <p:spPr>
          <a:xfrm>
            <a:off x="10661904" y="4379976"/>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GA</a:t>
            </a:r>
            <a:endParaRPr lang="en-US" sz="1000" dirty="0"/>
          </a:p>
        </p:txBody>
      </p:sp>
      <p:sp>
        <p:nvSpPr>
          <p:cNvPr id="53" name="Text 45"/>
          <p:cNvSpPr/>
          <p:nvPr/>
        </p:nvSpPr>
        <p:spPr>
          <a:xfrm>
            <a:off x="8284464" y="5074920"/>
            <a:ext cx="3154680" cy="256032"/>
          </a:xfrm>
          <a:prstGeom prst="rect">
            <a:avLst/>
          </a:prstGeom>
          <a:noFill/>
          <a:ln/>
        </p:spPr>
        <p:txBody>
          <a:bodyPr wrap="square" rtlCol="0" anchor="ctr"/>
          <a:lstStyle/>
          <a:p>
            <a:pPr indent="0" marL="0">
              <a:buNone/>
            </a:pPr>
            <a:r>
              <a:rPr lang="en-US" sz="950" b="1" spc="100" kern="0" dirty="0">
                <a:solidFill>
                  <a:srgbClr val="2F5B93"/>
                </a:solidFill>
                <a:latin typeface="Apple SD Gothic Neo" pitchFamily="34" charset="0"/>
                <a:ea typeface="Apple SD Gothic Neo" pitchFamily="34" charset="-122"/>
                <a:cs typeface="Apple SD Gothic Neo" pitchFamily="34" charset="-120"/>
              </a:rPr>
              <a:t>개발 생태계</a:t>
            </a:r>
            <a:endParaRPr lang="en-US" sz="950" dirty="0"/>
          </a:p>
        </p:txBody>
      </p:sp>
      <p:sp>
        <p:nvSpPr>
          <p:cNvPr id="54" name="Text 46"/>
          <p:cNvSpPr/>
          <p:nvPr/>
        </p:nvSpPr>
        <p:spPr>
          <a:xfrm>
            <a:off x="8284464" y="5294376"/>
            <a:ext cx="3154680" cy="457200"/>
          </a:xfrm>
          <a:prstGeom prst="rect">
            <a:avLst/>
          </a:prstGeom>
          <a:noFill/>
          <a:ln/>
        </p:spPr>
        <p:txBody>
          <a:bodyPr wrap="square" rtlCol="0" anchor="ctr"/>
          <a:lstStyle/>
          <a:p>
            <a:pPr indent="0" marL="0">
              <a:lnSpc>
                <a:spcPct val="95000"/>
              </a:lnSpc>
              <a:buNone/>
            </a:pPr>
            <a:r>
              <a:rPr lang="en-US" sz="1400" b="1" dirty="0">
                <a:solidFill>
                  <a:srgbClr val="0F2547"/>
                </a:solidFill>
                <a:latin typeface="Apple SD Gothic Neo" pitchFamily="34" charset="0"/>
                <a:ea typeface="Apple SD Gothic Neo" pitchFamily="34" charset="-122"/>
                <a:cs typeface="Apple SD Gothic Neo" pitchFamily="34" charset="-120"/>
              </a:rPr>
              <a:t>GitHub Copilot</a:t>
            </a:r>
            <a:endParaRPr lang="en-US" sz="1400" dirty="0"/>
          </a:p>
        </p:txBody>
      </p:sp>
      <p:sp>
        <p:nvSpPr>
          <p:cNvPr id="55" name="Text 47"/>
          <p:cNvSpPr/>
          <p:nvPr/>
        </p:nvSpPr>
        <p:spPr>
          <a:xfrm>
            <a:off x="8284464" y="5751576"/>
            <a:ext cx="3154680" cy="365760"/>
          </a:xfrm>
          <a:prstGeom prst="rect">
            <a:avLst/>
          </a:prstGeom>
          <a:noFill/>
          <a:ln/>
        </p:spPr>
        <p:txBody>
          <a:bodyPr wrap="square" rtlCol="0" anchor="ctr"/>
          <a:lstStyle/>
          <a:p>
            <a:pPr indent="0" marL="0">
              <a:lnSpc>
                <a:spcPct val="105000"/>
              </a:lnSpc>
              <a:buNone/>
            </a:pPr>
            <a:r>
              <a:rPr lang="en-US" sz="1000" dirty="0">
                <a:solidFill>
                  <a:srgbClr val="5F708A"/>
                </a:solidFill>
                <a:latin typeface="Apple SD Gothic Neo" pitchFamily="34" charset="0"/>
                <a:ea typeface="Apple SD Gothic Neo" pitchFamily="34" charset="-122"/>
                <a:cs typeface="Apple SD Gothic Neo" pitchFamily="34" charset="-120"/>
              </a:rPr>
              <a:t>에이전트를 만드는 개발자 생산성</a:t>
            </a:r>
            <a:endParaRPr lang="en-US" sz="1000" dirty="0"/>
          </a:p>
        </p:txBody>
      </p:sp>
      <p:sp>
        <p:nvSpPr>
          <p:cNvPr id="56" name="Text 48"/>
          <p:cNvSpPr/>
          <p:nvPr/>
        </p:nvSpPr>
        <p:spPr>
          <a:xfrm>
            <a:off x="548640" y="6199632"/>
            <a:ext cx="11109960" cy="274320"/>
          </a:xfrm>
          <a:prstGeom prst="rect">
            <a:avLst/>
          </a:prstGeom>
          <a:noFill/>
          <a:ln/>
        </p:spPr>
        <p:txBody>
          <a:bodyPr wrap="square" rtlCol="0" anchor="ctr"/>
          <a:lstStyle/>
          <a:p>
            <a:pPr indent="0" marL="0">
              <a:buNone/>
            </a:pPr>
            <a:r>
              <a:rPr lang="en-US" sz="850" dirty="0">
                <a:solidFill>
                  <a:srgbClr val="5F708A"/>
                </a:solidFill>
                <a:latin typeface="Apple SD Gothic Neo" pitchFamily="34" charset="0"/>
                <a:ea typeface="Apple SD Gothic Neo" pitchFamily="34" charset="-122"/>
                <a:cs typeface="Apple SD Gothic Neo" pitchFamily="34" charset="-120"/>
              </a:rPr>
              <a:t>Fabric IQ · Work IQ · Foundry IQ는 Preview 단계 — 발표 시점 GA·한국 리전 재확인 권장</a:t>
            </a:r>
            <a:endParaRPr lang="en-US" sz="850" dirty="0"/>
          </a:p>
        </p:txBody>
      </p:sp>
      <p:sp>
        <p:nvSpPr>
          <p:cNvPr id="57" name="Text 49"/>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58" name="Text 50"/>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4F8FB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6-① 데이터 기반</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Microsoft Fabric · OneLake</a:t>
            </a:r>
            <a:endParaRPr lang="en-US" sz="3000" dirty="0"/>
          </a:p>
        </p:txBody>
      </p:sp>
      <p:sp>
        <p:nvSpPr>
          <p:cNvPr id="8" name="Shape 6"/>
          <p:cNvSpPr/>
          <p:nvPr/>
        </p:nvSpPr>
        <p:spPr>
          <a:xfrm>
            <a:off x="9966960" y="457200"/>
            <a:ext cx="1280160" cy="1280160"/>
          </a:xfrm>
          <a:prstGeom prst="ellipse">
            <a:avLst/>
          </a:prstGeom>
          <a:solidFill>
            <a:srgbClr val="DBE7F6"/>
          </a:solidFill>
          <a:ln/>
        </p:spPr>
      </p:sp>
      <p:pic>
        <p:nvPicPr>
          <p:cNvPr id="9" name="Image 0" descr="preencoded.png">    </p:cNvPr>
          <p:cNvPicPr>
            <a:picLocks noChangeAspect="1"/>
          </p:cNvPicPr>
          <p:nvPr/>
        </p:nvPicPr>
        <p:blipFill>
          <a:blip r:embed="rId1"/>
          <a:stretch>
            <a:fillRect/>
          </a:stretch>
        </p:blipFill>
        <p:spPr>
          <a:xfrm>
            <a:off x="10299802" y="790042"/>
            <a:ext cx="614477" cy="614477"/>
          </a:xfrm>
          <a:prstGeom prst="rect">
            <a:avLst/>
          </a:prstGeom>
        </p:spPr>
      </p:pic>
      <p:sp>
        <p:nvSpPr>
          <p:cNvPr id="10" name="Text 7"/>
          <p:cNvSpPr/>
          <p:nvPr/>
        </p:nvSpPr>
        <p:spPr>
          <a:xfrm>
            <a:off x="548640" y="1783080"/>
            <a:ext cx="9144000" cy="822960"/>
          </a:xfrm>
          <a:prstGeom prst="rect">
            <a:avLst/>
          </a:prstGeom>
          <a:noFill/>
          <a:ln/>
        </p:spPr>
        <p:txBody>
          <a:bodyPr wrap="square" rtlCol="0" anchor="ctr"/>
          <a:lstStyle/>
          <a:p>
            <a:pPr indent="0" marL="0">
              <a:lnSpc>
                <a:spcPct val="125000"/>
              </a:lnSpc>
              <a:buNone/>
            </a:pPr>
            <a:r>
              <a:rPr lang="en-US" sz="1350" dirty="0">
                <a:solidFill>
                  <a:srgbClr val="1B2A41"/>
                </a:solidFill>
                <a:latin typeface="Apple SD Gothic Neo" pitchFamily="34" charset="0"/>
                <a:ea typeface="Apple SD Gothic Neo" pitchFamily="34" charset="-122"/>
                <a:cs typeface="Apple SD Gothic Neo" pitchFamily="34" charset="-120"/>
              </a:rPr>
              <a:t>흩어진 데이터를 하나의 논리적 레이크(OneLake)로 통합합니다. 복사·이동 없이 있는 자리에서 연결(Shortcut)하고, AI가 바로 쓸 수 있는 형태로 정돈합니다.</a:t>
            </a:r>
            <a:endParaRPr lang="en-US" sz="1350" dirty="0"/>
          </a:p>
        </p:txBody>
      </p:sp>
      <p:sp>
        <p:nvSpPr>
          <p:cNvPr id="11" name="Shape 8"/>
          <p:cNvSpPr/>
          <p:nvPr/>
        </p:nvSpPr>
        <p:spPr>
          <a:xfrm>
            <a:off x="548640" y="2743200"/>
            <a:ext cx="11109960" cy="603504"/>
          </a:xfrm>
          <a:prstGeom prst="roundRect">
            <a:avLst>
              <a:gd name="adj" fmla="val 13636"/>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2" name="Text 9"/>
          <p:cNvSpPr/>
          <p:nvPr/>
        </p:nvSpPr>
        <p:spPr>
          <a:xfrm>
            <a:off x="777240" y="2816352"/>
            <a:ext cx="2743200" cy="457200"/>
          </a:xfrm>
          <a:prstGeom prst="rect">
            <a:avLst/>
          </a:prstGeom>
          <a:noFill/>
          <a:ln/>
        </p:spPr>
        <p:txBody>
          <a:bodyPr wrap="square" rtlCol="0" anchor="ctr"/>
          <a:lstStyle/>
          <a:p>
            <a:pPr indent="0" marL="0">
              <a:buNone/>
            </a:pPr>
            <a:r>
              <a:rPr lang="en-US" sz="1400" b="1" dirty="0">
                <a:solidFill>
                  <a:srgbClr val="1A3D6D"/>
                </a:solidFill>
                <a:latin typeface="Apple SD Gothic Neo" pitchFamily="34" charset="0"/>
                <a:ea typeface="Apple SD Gothic Neo" pitchFamily="34" charset="-122"/>
                <a:cs typeface="Apple SD Gothic Neo" pitchFamily="34" charset="-120"/>
              </a:rPr>
              <a:t>OneLake</a:t>
            </a:r>
            <a:endParaRPr lang="en-US" sz="1400" dirty="0"/>
          </a:p>
        </p:txBody>
      </p:sp>
      <p:sp>
        <p:nvSpPr>
          <p:cNvPr id="13" name="Shape 10"/>
          <p:cNvSpPr/>
          <p:nvPr/>
        </p:nvSpPr>
        <p:spPr>
          <a:xfrm>
            <a:off x="3611880" y="2871216"/>
            <a:ext cx="18288" cy="347472"/>
          </a:xfrm>
          <a:prstGeom prst="rect">
            <a:avLst/>
          </a:prstGeom>
          <a:solidFill>
            <a:srgbClr val="D4E0F0"/>
          </a:solidFill>
          <a:ln/>
        </p:spPr>
      </p:sp>
      <p:sp>
        <p:nvSpPr>
          <p:cNvPr id="14" name="Text 11"/>
          <p:cNvSpPr/>
          <p:nvPr/>
        </p:nvSpPr>
        <p:spPr>
          <a:xfrm>
            <a:off x="3840480" y="2816352"/>
            <a:ext cx="7635240" cy="457200"/>
          </a:xfrm>
          <a:prstGeom prst="rect">
            <a:avLst/>
          </a:prstGeom>
          <a:noFill/>
          <a:ln/>
        </p:spPr>
        <p:txBody>
          <a:bodyPr wrap="square" rtlCol="0" anchor="ctr"/>
          <a:lstStyle/>
          <a:p>
            <a:pPr indent="0" marL="0">
              <a:lnSpc>
                <a:spcPct val="105000"/>
              </a:lnSpc>
              <a:buNone/>
            </a:pPr>
            <a:r>
              <a:rPr lang="en-US" sz="1200" dirty="0">
                <a:solidFill>
                  <a:srgbClr val="1B2A41"/>
                </a:solidFill>
                <a:latin typeface="Apple SD Gothic Neo" pitchFamily="34" charset="0"/>
                <a:ea typeface="Apple SD Gothic Neo" pitchFamily="34" charset="-122"/>
                <a:cs typeface="Apple SD Gothic Neo" pitchFamily="34" charset="-120"/>
              </a:rPr>
              <a:t>조직 전체의 단일 논리 데이터 레이크 — 원본은 그대로, 논리적으로 하나로</a:t>
            </a:r>
            <a:endParaRPr lang="en-US" sz="1200" dirty="0"/>
          </a:p>
        </p:txBody>
      </p:sp>
      <p:sp>
        <p:nvSpPr>
          <p:cNvPr id="15" name="Shape 12"/>
          <p:cNvSpPr/>
          <p:nvPr/>
        </p:nvSpPr>
        <p:spPr>
          <a:xfrm>
            <a:off x="548640" y="3401568"/>
            <a:ext cx="11109960" cy="603504"/>
          </a:xfrm>
          <a:prstGeom prst="roundRect">
            <a:avLst>
              <a:gd name="adj" fmla="val 13636"/>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6" name="Text 13"/>
          <p:cNvSpPr/>
          <p:nvPr/>
        </p:nvSpPr>
        <p:spPr>
          <a:xfrm>
            <a:off x="777240" y="3474720"/>
            <a:ext cx="2743200" cy="457200"/>
          </a:xfrm>
          <a:prstGeom prst="rect">
            <a:avLst/>
          </a:prstGeom>
          <a:noFill/>
          <a:ln/>
        </p:spPr>
        <p:txBody>
          <a:bodyPr wrap="square" rtlCol="0" anchor="ctr"/>
          <a:lstStyle/>
          <a:p>
            <a:pPr indent="0" marL="0">
              <a:buNone/>
            </a:pPr>
            <a:r>
              <a:rPr lang="en-US" sz="1400" b="1" dirty="0">
                <a:solidFill>
                  <a:srgbClr val="1A3D6D"/>
                </a:solidFill>
                <a:latin typeface="Apple SD Gothic Neo" pitchFamily="34" charset="0"/>
                <a:ea typeface="Apple SD Gothic Neo" pitchFamily="34" charset="-122"/>
                <a:cs typeface="Apple SD Gothic Neo" pitchFamily="34" charset="-120"/>
              </a:rPr>
              <a:t>Shortcut</a:t>
            </a:r>
            <a:endParaRPr lang="en-US" sz="1400" dirty="0"/>
          </a:p>
        </p:txBody>
      </p:sp>
      <p:sp>
        <p:nvSpPr>
          <p:cNvPr id="17" name="Shape 14"/>
          <p:cNvSpPr/>
          <p:nvPr/>
        </p:nvSpPr>
        <p:spPr>
          <a:xfrm>
            <a:off x="3611880" y="3529584"/>
            <a:ext cx="18288" cy="347472"/>
          </a:xfrm>
          <a:prstGeom prst="rect">
            <a:avLst/>
          </a:prstGeom>
          <a:solidFill>
            <a:srgbClr val="D4E0F0"/>
          </a:solidFill>
          <a:ln/>
        </p:spPr>
      </p:sp>
      <p:sp>
        <p:nvSpPr>
          <p:cNvPr id="18" name="Text 15"/>
          <p:cNvSpPr/>
          <p:nvPr/>
        </p:nvSpPr>
        <p:spPr>
          <a:xfrm>
            <a:off x="3840480" y="3474720"/>
            <a:ext cx="7635240" cy="457200"/>
          </a:xfrm>
          <a:prstGeom prst="rect">
            <a:avLst/>
          </a:prstGeom>
          <a:noFill/>
          <a:ln/>
        </p:spPr>
        <p:txBody>
          <a:bodyPr wrap="square" rtlCol="0" anchor="ctr"/>
          <a:lstStyle/>
          <a:p>
            <a:pPr indent="0" marL="0">
              <a:lnSpc>
                <a:spcPct val="105000"/>
              </a:lnSpc>
              <a:buNone/>
            </a:pPr>
            <a:r>
              <a:rPr lang="en-US" sz="1200" dirty="0">
                <a:solidFill>
                  <a:srgbClr val="1B2A41"/>
                </a:solidFill>
                <a:latin typeface="Apple SD Gothic Neo" pitchFamily="34" charset="0"/>
                <a:ea typeface="Apple SD Gothic Neo" pitchFamily="34" charset="-122"/>
                <a:cs typeface="Apple SD Gothic Neo" pitchFamily="34" charset="-120"/>
              </a:rPr>
              <a:t>복사 없이 외부 스토리지·소스를 연결 (기존 투자 보호)</a:t>
            </a:r>
            <a:endParaRPr lang="en-US" sz="1200" dirty="0"/>
          </a:p>
        </p:txBody>
      </p:sp>
      <p:sp>
        <p:nvSpPr>
          <p:cNvPr id="19" name="Shape 16"/>
          <p:cNvSpPr/>
          <p:nvPr/>
        </p:nvSpPr>
        <p:spPr>
          <a:xfrm>
            <a:off x="548640" y="4059936"/>
            <a:ext cx="11109960" cy="603504"/>
          </a:xfrm>
          <a:prstGeom prst="roundRect">
            <a:avLst>
              <a:gd name="adj" fmla="val 13636"/>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0" name="Text 17"/>
          <p:cNvSpPr/>
          <p:nvPr/>
        </p:nvSpPr>
        <p:spPr>
          <a:xfrm>
            <a:off x="777240" y="4133088"/>
            <a:ext cx="2743200" cy="457200"/>
          </a:xfrm>
          <a:prstGeom prst="rect">
            <a:avLst/>
          </a:prstGeom>
          <a:noFill/>
          <a:ln/>
        </p:spPr>
        <p:txBody>
          <a:bodyPr wrap="square" rtlCol="0" anchor="ctr"/>
          <a:lstStyle/>
          <a:p>
            <a:pPr indent="0" marL="0">
              <a:buNone/>
            </a:pPr>
            <a:r>
              <a:rPr lang="en-US" sz="1400" b="1" dirty="0">
                <a:solidFill>
                  <a:srgbClr val="1A3D6D"/>
                </a:solidFill>
                <a:latin typeface="Apple SD Gothic Neo" pitchFamily="34" charset="0"/>
                <a:ea typeface="Apple SD Gothic Neo" pitchFamily="34" charset="-122"/>
                <a:cs typeface="Apple SD Gothic Neo" pitchFamily="34" charset="-120"/>
              </a:rPr>
              <a:t>100+ 커넥터</a:t>
            </a:r>
            <a:endParaRPr lang="en-US" sz="1400" dirty="0"/>
          </a:p>
        </p:txBody>
      </p:sp>
      <p:sp>
        <p:nvSpPr>
          <p:cNvPr id="21" name="Shape 18"/>
          <p:cNvSpPr/>
          <p:nvPr/>
        </p:nvSpPr>
        <p:spPr>
          <a:xfrm>
            <a:off x="3611880" y="4187952"/>
            <a:ext cx="18288" cy="347472"/>
          </a:xfrm>
          <a:prstGeom prst="rect">
            <a:avLst/>
          </a:prstGeom>
          <a:solidFill>
            <a:srgbClr val="D4E0F0"/>
          </a:solidFill>
          <a:ln/>
        </p:spPr>
      </p:sp>
      <p:sp>
        <p:nvSpPr>
          <p:cNvPr id="22" name="Text 19"/>
          <p:cNvSpPr/>
          <p:nvPr/>
        </p:nvSpPr>
        <p:spPr>
          <a:xfrm>
            <a:off x="3840480" y="4133088"/>
            <a:ext cx="7635240" cy="457200"/>
          </a:xfrm>
          <a:prstGeom prst="rect">
            <a:avLst/>
          </a:prstGeom>
          <a:noFill/>
          <a:ln/>
        </p:spPr>
        <p:txBody>
          <a:bodyPr wrap="square" rtlCol="0" anchor="ctr"/>
          <a:lstStyle/>
          <a:p>
            <a:pPr indent="0" marL="0">
              <a:lnSpc>
                <a:spcPct val="105000"/>
              </a:lnSpc>
              <a:buNone/>
            </a:pPr>
            <a:r>
              <a:rPr lang="en-US" sz="1200" dirty="0">
                <a:solidFill>
                  <a:srgbClr val="1B2A41"/>
                </a:solidFill>
                <a:latin typeface="Apple SD Gothic Neo" pitchFamily="34" charset="0"/>
                <a:ea typeface="Apple SD Gothic Neo" pitchFamily="34" charset="-122"/>
                <a:cs typeface="Apple SD Gothic Neo" pitchFamily="34" charset="-120"/>
              </a:rPr>
              <a:t>Azure Data Factory로 다양한 소스를 자동 수집·정제</a:t>
            </a:r>
            <a:endParaRPr lang="en-US" sz="1200" dirty="0"/>
          </a:p>
        </p:txBody>
      </p:sp>
      <p:sp>
        <p:nvSpPr>
          <p:cNvPr id="23" name="Shape 20"/>
          <p:cNvSpPr/>
          <p:nvPr/>
        </p:nvSpPr>
        <p:spPr>
          <a:xfrm>
            <a:off x="548640" y="4718304"/>
            <a:ext cx="11109960" cy="603504"/>
          </a:xfrm>
          <a:prstGeom prst="roundRect">
            <a:avLst>
              <a:gd name="adj" fmla="val 13636"/>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4" name="Text 21"/>
          <p:cNvSpPr/>
          <p:nvPr/>
        </p:nvSpPr>
        <p:spPr>
          <a:xfrm>
            <a:off x="777240" y="4791456"/>
            <a:ext cx="2743200" cy="457200"/>
          </a:xfrm>
          <a:prstGeom prst="rect">
            <a:avLst/>
          </a:prstGeom>
          <a:noFill/>
          <a:ln/>
        </p:spPr>
        <p:txBody>
          <a:bodyPr wrap="square" rtlCol="0" anchor="ctr"/>
          <a:lstStyle/>
          <a:p>
            <a:pPr indent="0" marL="0">
              <a:buNone/>
            </a:pPr>
            <a:r>
              <a:rPr lang="en-US" sz="1400" b="1" dirty="0">
                <a:solidFill>
                  <a:srgbClr val="1A3D6D"/>
                </a:solidFill>
                <a:latin typeface="Apple SD Gothic Neo" pitchFamily="34" charset="0"/>
                <a:ea typeface="Apple SD Gothic Neo" pitchFamily="34" charset="-122"/>
                <a:cs typeface="Apple SD Gothic Neo" pitchFamily="34" charset="-120"/>
              </a:rPr>
              <a:t>개방형 포맷</a:t>
            </a:r>
            <a:endParaRPr lang="en-US" sz="1400" dirty="0"/>
          </a:p>
        </p:txBody>
      </p:sp>
      <p:sp>
        <p:nvSpPr>
          <p:cNvPr id="25" name="Shape 22"/>
          <p:cNvSpPr/>
          <p:nvPr/>
        </p:nvSpPr>
        <p:spPr>
          <a:xfrm>
            <a:off x="3611880" y="4846320"/>
            <a:ext cx="18288" cy="347472"/>
          </a:xfrm>
          <a:prstGeom prst="rect">
            <a:avLst/>
          </a:prstGeom>
          <a:solidFill>
            <a:srgbClr val="D4E0F0"/>
          </a:solidFill>
          <a:ln/>
        </p:spPr>
      </p:sp>
      <p:sp>
        <p:nvSpPr>
          <p:cNvPr id="26" name="Text 23"/>
          <p:cNvSpPr/>
          <p:nvPr/>
        </p:nvSpPr>
        <p:spPr>
          <a:xfrm>
            <a:off x="3840480" y="4791456"/>
            <a:ext cx="7635240" cy="457200"/>
          </a:xfrm>
          <a:prstGeom prst="rect">
            <a:avLst/>
          </a:prstGeom>
          <a:noFill/>
          <a:ln/>
        </p:spPr>
        <p:txBody>
          <a:bodyPr wrap="square" rtlCol="0" anchor="ctr"/>
          <a:lstStyle/>
          <a:p>
            <a:pPr indent="0" marL="0">
              <a:lnSpc>
                <a:spcPct val="105000"/>
              </a:lnSpc>
              <a:buNone/>
            </a:pPr>
            <a:r>
              <a:rPr lang="en-US" sz="1200" dirty="0">
                <a:solidFill>
                  <a:srgbClr val="1B2A41"/>
                </a:solidFill>
                <a:latin typeface="Apple SD Gothic Neo" pitchFamily="34" charset="0"/>
                <a:ea typeface="Apple SD Gothic Neo" pitchFamily="34" charset="-122"/>
                <a:cs typeface="Apple SD Gothic Neo" pitchFamily="34" charset="-120"/>
              </a:rPr>
              <a:t>Delta·Parquet 기반 — 특정 벤더에 잠기지 않음</a:t>
            </a:r>
            <a:endParaRPr lang="en-US" sz="1200" dirty="0"/>
          </a:p>
        </p:txBody>
      </p:sp>
      <p:sp>
        <p:nvSpPr>
          <p:cNvPr id="27" name="Shape 24"/>
          <p:cNvSpPr/>
          <p:nvPr/>
        </p:nvSpPr>
        <p:spPr>
          <a:xfrm>
            <a:off x="548640" y="5440680"/>
            <a:ext cx="658368" cy="274320"/>
          </a:xfrm>
          <a:prstGeom prst="roundRect">
            <a:avLst>
              <a:gd name="adj" fmla="val 50000"/>
            </a:avLst>
          </a:prstGeom>
          <a:solidFill>
            <a:srgbClr val="2E9E6B"/>
          </a:solidFill>
          <a:ln/>
        </p:spPr>
      </p:sp>
      <p:sp>
        <p:nvSpPr>
          <p:cNvPr id="28" name="Text 25"/>
          <p:cNvSpPr/>
          <p:nvPr/>
        </p:nvSpPr>
        <p:spPr>
          <a:xfrm>
            <a:off x="548640" y="5440680"/>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GA</a:t>
            </a:r>
            <a:endParaRPr lang="en-US" sz="1000" dirty="0"/>
          </a:p>
        </p:txBody>
      </p:sp>
      <p:sp>
        <p:nvSpPr>
          <p:cNvPr id="29" name="Text 26"/>
          <p:cNvSpPr/>
          <p:nvPr/>
        </p:nvSpPr>
        <p:spPr>
          <a:xfrm>
            <a:off x="1280160" y="5394960"/>
            <a:ext cx="10058400" cy="365760"/>
          </a:xfrm>
          <a:prstGeom prst="rect">
            <a:avLst/>
          </a:prstGeom>
          <a:noFill/>
          <a:ln/>
        </p:spPr>
        <p:txBody>
          <a:bodyPr wrap="square" rtlCol="0" anchor="ctr"/>
          <a:lstStyle/>
          <a:p>
            <a:pPr indent="0" marL="0">
              <a:buNone/>
            </a:pPr>
            <a:r>
              <a:rPr lang="en-US" sz="1250" b="1" dirty="0">
                <a:solidFill>
                  <a:srgbClr val="1A3D6D"/>
                </a:solidFill>
                <a:latin typeface="Apple SD Gothic Neo" pitchFamily="34" charset="0"/>
                <a:ea typeface="Apple SD Gothic Neo" pitchFamily="34" charset="-122"/>
                <a:cs typeface="Apple SD Gothic Neo" pitchFamily="34" charset="-120"/>
              </a:rPr>
              <a:t>데이터를 옮기지 않고도 AI가 쓸 수 있게 — 이것이 시작점입니다.</a:t>
            </a:r>
            <a:endParaRPr lang="en-US" sz="1250" dirty="0"/>
          </a:p>
        </p:txBody>
      </p:sp>
      <p:sp>
        <p:nvSpPr>
          <p:cNvPr id="30" name="Text 27"/>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31" name="Text 28"/>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4F8FB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6-② 지능 레이어</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3개의 IQ가 합쳐져 '비즈니스를 아는 지능'이 됩니다</a:t>
            </a:r>
            <a:endParaRPr lang="en-US" sz="3000" dirty="0"/>
          </a:p>
        </p:txBody>
      </p:sp>
      <p:sp>
        <p:nvSpPr>
          <p:cNvPr id="8" name="Shape 6"/>
          <p:cNvSpPr/>
          <p:nvPr/>
        </p:nvSpPr>
        <p:spPr>
          <a:xfrm>
            <a:off x="640080" y="1691640"/>
            <a:ext cx="3383280" cy="1874520"/>
          </a:xfrm>
          <a:prstGeom prst="roundRect">
            <a:avLst>
              <a:gd name="adj" fmla="val 4390"/>
            </a:avLst>
          </a:prstGeom>
          <a:solidFill>
            <a:srgbClr val="1A3D6D"/>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9" name="Text 7"/>
          <p:cNvSpPr/>
          <p:nvPr/>
        </p:nvSpPr>
        <p:spPr>
          <a:xfrm>
            <a:off x="640080" y="1947672"/>
            <a:ext cx="3383280" cy="411480"/>
          </a:xfrm>
          <a:prstGeom prst="rect">
            <a:avLst/>
          </a:prstGeom>
          <a:noFill/>
          <a:ln/>
        </p:spPr>
        <p:txBody>
          <a:bodyPr wrap="square" rtlCol="0" anchor="ctr"/>
          <a:lstStyle/>
          <a:p>
            <a:pPr algn="ctr" indent="0" marL="0">
              <a:buNone/>
            </a:pPr>
            <a:r>
              <a:rPr lang="en-US" sz="1900" b="1" dirty="0">
                <a:solidFill>
                  <a:srgbClr val="FFFFFF"/>
                </a:solidFill>
                <a:latin typeface="Apple SD Gothic Neo" pitchFamily="34" charset="0"/>
                <a:ea typeface="Apple SD Gothic Neo" pitchFamily="34" charset="-122"/>
                <a:cs typeface="Apple SD Gothic Neo" pitchFamily="34" charset="-120"/>
              </a:rPr>
              <a:t>Fabric IQ</a:t>
            </a:r>
            <a:endParaRPr lang="en-US" sz="1900" dirty="0"/>
          </a:p>
        </p:txBody>
      </p:sp>
      <p:sp>
        <p:nvSpPr>
          <p:cNvPr id="10" name="Text 8"/>
          <p:cNvSpPr/>
          <p:nvPr/>
        </p:nvSpPr>
        <p:spPr>
          <a:xfrm>
            <a:off x="640080" y="2368296"/>
            <a:ext cx="3383280" cy="292608"/>
          </a:xfrm>
          <a:prstGeom prst="rect">
            <a:avLst/>
          </a:prstGeom>
          <a:noFill/>
          <a:ln/>
        </p:spPr>
        <p:txBody>
          <a:bodyPr wrap="square" rtlCol="0" anchor="ctr"/>
          <a:lstStyle/>
          <a:p>
            <a:pPr algn="ctr" indent="0" marL="0">
              <a:buNone/>
            </a:pPr>
            <a:r>
              <a:rPr lang="en-US" sz="1200" b="1" dirty="0">
                <a:solidFill>
                  <a:srgbClr val="7AA5D6"/>
                </a:solidFill>
                <a:latin typeface="Apple SD Gothic Neo" pitchFamily="34" charset="0"/>
                <a:ea typeface="Apple SD Gothic Neo" pitchFamily="34" charset="-122"/>
                <a:cs typeface="Apple SD Gothic Neo" pitchFamily="34" charset="-120"/>
              </a:rPr>
              <a:t>데이터의 의미</a:t>
            </a:r>
            <a:endParaRPr lang="en-US" sz="1200" dirty="0"/>
          </a:p>
        </p:txBody>
      </p:sp>
      <p:sp>
        <p:nvSpPr>
          <p:cNvPr id="11" name="Text 9"/>
          <p:cNvSpPr/>
          <p:nvPr/>
        </p:nvSpPr>
        <p:spPr>
          <a:xfrm>
            <a:off x="868680" y="2679192"/>
            <a:ext cx="2926080" cy="548640"/>
          </a:xfrm>
          <a:prstGeom prst="rect">
            <a:avLst/>
          </a:prstGeom>
          <a:noFill/>
          <a:ln/>
        </p:spPr>
        <p:txBody>
          <a:bodyPr wrap="square" rtlCol="0" anchor="ctr"/>
          <a:lstStyle/>
          <a:p>
            <a:pPr algn="ctr" indent="0" marL="0">
              <a:lnSpc>
                <a:spcPct val="112000"/>
              </a:lnSpc>
              <a:buNone/>
            </a:pPr>
            <a:r>
              <a:rPr lang="en-US" sz="1100" dirty="0">
                <a:solidFill>
                  <a:srgbClr val="DBE7F6"/>
                </a:solidFill>
                <a:latin typeface="Apple SD Gothic Neo" pitchFamily="34" charset="0"/>
                <a:ea typeface="Apple SD Gothic Neo" pitchFamily="34" charset="-122"/>
                <a:cs typeface="Apple SD Gothic Neo" pitchFamily="34" charset="-120"/>
              </a:rPr>
              <a:t>테이블·컬럼이 '무엇을 뜻하는지' 이해</a:t>
            </a:r>
            <a:endParaRPr lang="en-US" sz="1100" dirty="0"/>
          </a:p>
        </p:txBody>
      </p:sp>
      <p:sp>
        <p:nvSpPr>
          <p:cNvPr id="12" name="Shape 10"/>
          <p:cNvSpPr/>
          <p:nvPr/>
        </p:nvSpPr>
        <p:spPr>
          <a:xfrm>
            <a:off x="1714500" y="3172968"/>
            <a:ext cx="771754" cy="274320"/>
          </a:xfrm>
          <a:prstGeom prst="roundRect">
            <a:avLst>
              <a:gd name="adj" fmla="val 50000"/>
            </a:avLst>
          </a:prstGeom>
          <a:solidFill>
            <a:srgbClr val="F5B841"/>
          </a:solidFill>
          <a:ln/>
        </p:spPr>
      </p:sp>
      <p:sp>
        <p:nvSpPr>
          <p:cNvPr id="13" name="Text 11"/>
          <p:cNvSpPr/>
          <p:nvPr/>
        </p:nvSpPr>
        <p:spPr>
          <a:xfrm>
            <a:off x="1714500" y="3172968"/>
            <a:ext cx="771754" cy="274320"/>
          </a:xfrm>
          <a:prstGeom prst="rect">
            <a:avLst/>
          </a:prstGeom>
          <a:noFill/>
          <a:ln/>
        </p:spPr>
        <p:txBody>
          <a:bodyPr wrap="square" rtlCol="0" anchor="ctr"/>
          <a:lstStyle/>
          <a:p>
            <a:pPr algn="ctr" indent="0" marL="0">
              <a:buNone/>
            </a:pPr>
            <a:r>
              <a:rPr lang="en-US" sz="1000" b="1" dirty="0">
                <a:solidFill>
                  <a:srgbClr val="0F2547"/>
                </a:solidFill>
                <a:latin typeface="Apple SD Gothic Neo" pitchFamily="34" charset="0"/>
                <a:ea typeface="Apple SD Gothic Neo" pitchFamily="34" charset="-122"/>
                <a:cs typeface="Apple SD Gothic Neo" pitchFamily="34" charset="-120"/>
              </a:rPr>
              <a:t>Preview</a:t>
            </a:r>
            <a:endParaRPr lang="en-US" sz="1000" dirty="0"/>
          </a:p>
        </p:txBody>
      </p:sp>
      <p:sp>
        <p:nvSpPr>
          <p:cNvPr id="14" name="Text 12"/>
          <p:cNvSpPr/>
          <p:nvPr/>
        </p:nvSpPr>
        <p:spPr>
          <a:xfrm>
            <a:off x="3995928" y="2194560"/>
            <a:ext cx="347472" cy="822960"/>
          </a:xfrm>
          <a:prstGeom prst="rect">
            <a:avLst/>
          </a:prstGeom>
          <a:noFill/>
          <a:ln/>
        </p:spPr>
        <p:txBody>
          <a:bodyPr wrap="square" rtlCol="0" anchor="ctr"/>
          <a:lstStyle/>
          <a:p>
            <a:pPr algn="ctr" indent="0" marL="0">
              <a:buNone/>
            </a:pPr>
            <a:r>
              <a:rPr lang="en-US" sz="3000" b="1" dirty="0">
                <a:solidFill>
                  <a:srgbClr val="2F5B93"/>
                </a:solidFill>
                <a:latin typeface="Apple SD Gothic Neo" pitchFamily="34" charset="0"/>
                <a:ea typeface="Apple SD Gothic Neo" pitchFamily="34" charset="-122"/>
                <a:cs typeface="Apple SD Gothic Neo" pitchFamily="34" charset="-120"/>
              </a:rPr>
              <a:t>+</a:t>
            </a:r>
            <a:endParaRPr lang="en-US" sz="3000" dirty="0"/>
          </a:p>
        </p:txBody>
      </p:sp>
      <p:sp>
        <p:nvSpPr>
          <p:cNvPr id="15" name="Shape 13"/>
          <p:cNvSpPr/>
          <p:nvPr/>
        </p:nvSpPr>
        <p:spPr>
          <a:xfrm>
            <a:off x="4343400" y="1691640"/>
            <a:ext cx="3383280" cy="1874520"/>
          </a:xfrm>
          <a:prstGeom prst="roundRect">
            <a:avLst>
              <a:gd name="adj" fmla="val 4390"/>
            </a:avLst>
          </a:prstGeom>
          <a:solidFill>
            <a:srgbClr val="1A3D6D"/>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6" name="Text 14"/>
          <p:cNvSpPr/>
          <p:nvPr/>
        </p:nvSpPr>
        <p:spPr>
          <a:xfrm>
            <a:off x="4343400" y="1947672"/>
            <a:ext cx="3383280" cy="411480"/>
          </a:xfrm>
          <a:prstGeom prst="rect">
            <a:avLst/>
          </a:prstGeom>
          <a:noFill/>
          <a:ln/>
        </p:spPr>
        <p:txBody>
          <a:bodyPr wrap="square" rtlCol="0" anchor="ctr"/>
          <a:lstStyle/>
          <a:p>
            <a:pPr algn="ctr" indent="0" marL="0">
              <a:buNone/>
            </a:pPr>
            <a:r>
              <a:rPr lang="en-US" sz="1900" b="1" dirty="0">
                <a:solidFill>
                  <a:srgbClr val="FFFFFF"/>
                </a:solidFill>
                <a:latin typeface="Apple SD Gothic Neo" pitchFamily="34" charset="0"/>
                <a:ea typeface="Apple SD Gothic Neo" pitchFamily="34" charset="-122"/>
                <a:cs typeface="Apple SD Gothic Neo" pitchFamily="34" charset="-120"/>
              </a:rPr>
              <a:t>Work IQ</a:t>
            </a:r>
            <a:endParaRPr lang="en-US" sz="1900" dirty="0"/>
          </a:p>
        </p:txBody>
      </p:sp>
      <p:sp>
        <p:nvSpPr>
          <p:cNvPr id="17" name="Text 15"/>
          <p:cNvSpPr/>
          <p:nvPr/>
        </p:nvSpPr>
        <p:spPr>
          <a:xfrm>
            <a:off x="4343400" y="2368296"/>
            <a:ext cx="3383280" cy="292608"/>
          </a:xfrm>
          <a:prstGeom prst="rect">
            <a:avLst/>
          </a:prstGeom>
          <a:noFill/>
          <a:ln/>
        </p:spPr>
        <p:txBody>
          <a:bodyPr wrap="square" rtlCol="0" anchor="ctr"/>
          <a:lstStyle/>
          <a:p>
            <a:pPr algn="ctr" indent="0" marL="0">
              <a:buNone/>
            </a:pPr>
            <a:r>
              <a:rPr lang="en-US" sz="1200" b="1" dirty="0">
                <a:solidFill>
                  <a:srgbClr val="7AA5D6"/>
                </a:solidFill>
                <a:latin typeface="Apple SD Gothic Neo" pitchFamily="34" charset="0"/>
                <a:ea typeface="Apple SD Gothic Neo" pitchFamily="34" charset="-122"/>
                <a:cs typeface="Apple SD Gothic Neo" pitchFamily="34" charset="-120"/>
              </a:rPr>
              <a:t>일의 맥락</a:t>
            </a:r>
            <a:endParaRPr lang="en-US" sz="1200" dirty="0"/>
          </a:p>
        </p:txBody>
      </p:sp>
      <p:sp>
        <p:nvSpPr>
          <p:cNvPr id="18" name="Text 16"/>
          <p:cNvSpPr/>
          <p:nvPr/>
        </p:nvSpPr>
        <p:spPr>
          <a:xfrm>
            <a:off x="4572000" y="2679192"/>
            <a:ext cx="2926080" cy="548640"/>
          </a:xfrm>
          <a:prstGeom prst="rect">
            <a:avLst/>
          </a:prstGeom>
          <a:noFill/>
          <a:ln/>
        </p:spPr>
        <p:txBody>
          <a:bodyPr wrap="square" rtlCol="0" anchor="ctr"/>
          <a:lstStyle/>
          <a:p>
            <a:pPr algn="ctr" indent="0" marL="0">
              <a:lnSpc>
                <a:spcPct val="112000"/>
              </a:lnSpc>
              <a:buNone/>
            </a:pPr>
            <a:r>
              <a:rPr lang="en-US" sz="1100" dirty="0">
                <a:solidFill>
                  <a:srgbClr val="DBE7F6"/>
                </a:solidFill>
                <a:latin typeface="Apple SD Gothic Neo" pitchFamily="34" charset="0"/>
                <a:ea typeface="Apple SD Gothic Neo" pitchFamily="34" charset="-122"/>
                <a:cs typeface="Apple SD Gothic Neo" pitchFamily="34" charset="-120"/>
              </a:rPr>
              <a:t>M365 속 업무·협업의 흐름을 이해</a:t>
            </a:r>
            <a:endParaRPr lang="en-US" sz="1100" dirty="0"/>
          </a:p>
        </p:txBody>
      </p:sp>
      <p:sp>
        <p:nvSpPr>
          <p:cNvPr id="19" name="Shape 17"/>
          <p:cNvSpPr/>
          <p:nvPr/>
        </p:nvSpPr>
        <p:spPr>
          <a:xfrm>
            <a:off x="5417820" y="3172968"/>
            <a:ext cx="771754" cy="274320"/>
          </a:xfrm>
          <a:prstGeom prst="roundRect">
            <a:avLst>
              <a:gd name="adj" fmla="val 50000"/>
            </a:avLst>
          </a:prstGeom>
          <a:solidFill>
            <a:srgbClr val="F5B841"/>
          </a:solidFill>
          <a:ln/>
        </p:spPr>
      </p:sp>
      <p:sp>
        <p:nvSpPr>
          <p:cNvPr id="20" name="Text 18"/>
          <p:cNvSpPr/>
          <p:nvPr/>
        </p:nvSpPr>
        <p:spPr>
          <a:xfrm>
            <a:off x="5417820" y="3172968"/>
            <a:ext cx="771754" cy="274320"/>
          </a:xfrm>
          <a:prstGeom prst="rect">
            <a:avLst/>
          </a:prstGeom>
          <a:noFill/>
          <a:ln/>
        </p:spPr>
        <p:txBody>
          <a:bodyPr wrap="square" rtlCol="0" anchor="ctr"/>
          <a:lstStyle/>
          <a:p>
            <a:pPr algn="ctr" indent="0" marL="0">
              <a:buNone/>
            </a:pPr>
            <a:r>
              <a:rPr lang="en-US" sz="1000" b="1" dirty="0">
                <a:solidFill>
                  <a:srgbClr val="0F2547"/>
                </a:solidFill>
                <a:latin typeface="Apple SD Gothic Neo" pitchFamily="34" charset="0"/>
                <a:ea typeface="Apple SD Gothic Neo" pitchFamily="34" charset="-122"/>
                <a:cs typeface="Apple SD Gothic Neo" pitchFamily="34" charset="-120"/>
              </a:rPr>
              <a:t>Preview</a:t>
            </a:r>
            <a:endParaRPr lang="en-US" sz="1000" dirty="0"/>
          </a:p>
        </p:txBody>
      </p:sp>
      <p:sp>
        <p:nvSpPr>
          <p:cNvPr id="21" name="Text 19"/>
          <p:cNvSpPr/>
          <p:nvPr/>
        </p:nvSpPr>
        <p:spPr>
          <a:xfrm>
            <a:off x="7699248" y="2194560"/>
            <a:ext cx="347472" cy="822960"/>
          </a:xfrm>
          <a:prstGeom prst="rect">
            <a:avLst/>
          </a:prstGeom>
          <a:noFill/>
          <a:ln/>
        </p:spPr>
        <p:txBody>
          <a:bodyPr wrap="square" rtlCol="0" anchor="ctr"/>
          <a:lstStyle/>
          <a:p>
            <a:pPr algn="ctr" indent="0" marL="0">
              <a:buNone/>
            </a:pPr>
            <a:r>
              <a:rPr lang="en-US" sz="3000" b="1" dirty="0">
                <a:solidFill>
                  <a:srgbClr val="2F5B93"/>
                </a:solidFill>
                <a:latin typeface="Apple SD Gothic Neo" pitchFamily="34" charset="0"/>
                <a:ea typeface="Apple SD Gothic Neo" pitchFamily="34" charset="-122"/>
                <a:cs typeface="Apple SD Gothic Neo" pitchFamily="34" charset="-120"/>
              </a:rPr>
              <a:t>+</a:t>
            </a:r>
            <a:endParaRPr lang="en-US" sz="3000" dirty="0"/>
          </a:p>
        </p:txBody>
      </p:sp>
      <p:sp>
        <p:nvSpPr>
          <p:cNvPr id="22" name="Shape 20"/>
          <p:cNvSpPr/>
          <p:nvPr/>
        </p:nvSpPr>
        <p:spPr>
          <a:xfrm>
            <a:off x="8046720" y="1691640"/>
            <a:ext cx="3383280" cy="1874520"/>
          </a:xfrm>
          <a:prstGeom prst="roundRect">
            <a:avLst>
              <a:gd name="adj" fmla="val 4390"/>
            </a:avLst>
          </a:prstGeom>
          <a:solidFill>
            <a:srgbClr val="1A3D6D"/>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3" name="Text 21"/>
          <p:cNvSpPr/>
          <p:nvPr/>
        </p:nvSpPr>
        <p:spPr>
          <a:xfrm>
            <a:off x="8046720" y="1947672"/>
            <a:ext cx="3383280" cy="411480"/>
          </a:xfrm>
          <a:prstGeom prst="rect">
            <a:avLst/>
          </a:prstGeom>
          <a:noFill/>
          <a:ln/>
        </p:spPr>
        <p:txBody>
          <a:bodyPr wrap="square" rtlCol="0" anchor="ctr"/>
          <a:lstStyle/>
          <a:p>
            <a:pPr algn="ctr" indent="0" marL="0">
              <a:buNone/>
            </a:pPr>
            <a:r>
              <a:rPr lang="en-US" sz="1900" b="1" dirty="0">
                <a:solidFill>
                  <a:srgbClr val="FFFFFF"/>
                </a:solidFill>
                <a:latin typeface="Apple SD Gothic Neo" pitchFamily="34" charset="0"/>
                <a:ea typeface="Apple SD Gothic Neo" pitchFamily="34" charset="-122"/>
                <a:cs typeface="Apple SD Gothic Neo" pitchFamily="34" charset="-120"/>
              </a:rPr>
              <a:t>Foundry IQ</a:t>
            </a:r>
            <a:endParaRPr lang="en-US" sz="1900" dirty="0"/>
          </a:p>
        </p:txBody>
      </p:sp>
      <p:sp>
        <p:nvSpPr>
          <p:cNvPr id="24" name="Text 22"/>
          <p:cNvSpPr/>
          <p:nvPr/>
        </p:nvSpPr>
        <p:spPr>
          <a:xfrm>
            <a:off x="8046720" y="2368296"/>
            <a:ext cx="3383280" cy="292608"/>
          </a:xfrm>
          <a:prstGeom prst="rect">
            <a:avLst/>
          </a:prstGeom>
          <a:noFill/>
          <a:ln/>
        </p:spPr>
        <p:txBody>
          <a:bodyPr wrap="square" rtlCol="0" anchor="ctr"/>
          <a:lstStyle/>
          <a:p>
            <a:pPr algn="ctr" indent="0" marL="0">
              <a:buNone/>
            </a:pPr>
            <a:r>
              <a:rPr lang="en-US" sz="1200" b="1" dirty="0">
                <a:solidFill>
                  <a:srgbClr val="7AA5D6"/>
                </a:solidFill>
                <a:latin typeface="Apple SD Gothic Neo" pitchFamily="34" charset="0"/>
                <a:ea typeface="Apple SD Gothic Neo" pitchFamily="34" charset="-122"/>
                <a:cs typeface="Apple SD Gothic Neo" pitchFamily="34" charset="-120"/>
              </a:rPr>
              <a:t>에이전트 지식</a:t>
            </a:r>
            <a:endParaRPr lang="en-US" sz="1200" dirty="0"/>
          </a:p>
        </p:txBody>
      </p:sp>
      <p:sp>
        <p:nvSpPr>
          <p:cNvPr id="25" name="Text 23"/>
          <p:cNvSpPr/>
          <p:nvPr/>
        </p:nvSpPr>
        <p:spPr>
          <a:xfrm>
            <a:off x="8275320" y="2679192"/>
            <a:ext cx="2926080" cy="548640"/>
          </a:xfrm>
          <a:prstGeom prst="rect">
            <a:avLst/>
          </a:prstGeom>
          <a:noFill/>
          <a:ln/>
        </p:spPr>
        <p:txBody>
          <a:bodyPr wrap="square" rtlCol="0" anchor="ctr"/>
          <a:lstStyle/>
          <a:p>
            <a:pPr algn="ctr" indent="0" marL="0">
              <a:lnSpc>
                <a:spcPct val="112000"/>
              </a:lnSpc>
              <a:buNone/>
            </a:pPr>
            <a:r>
              <a:rPr lang="en-US" sz="1100" dirty="0">
                <a:solidFill>
                  <a:srgbClr val="DBE7F6"/>
                </a:solidFill>
                <a:latin typeface="Apple SD Gothic Neo" pitchFamily="34" charset="0"/>
                <a:ea typeface="Apple SD Gothic Neo" pitchFamily="34" charset="-122"/>
                <a:cs typeface="Apple SD Gothic Neo" pitchFamily="34" charset="-120"/>
              </a:rPr>
              <a:t>에이전트가 참조할 지식을 관리</a:t>
            </a:r>
            <a:endParaRPr lang="en-US" sz="1100" dirty="0"/>
          </a:p>
        </p:txBody>
      </p:sp>
      <p:sp>
        <p:nvSpPr>
          <p:cNvPr id="26" name="Shape 24"/>
          <p:cNvSpPr/>
          <p:nvPr/>
        </p:nvSpPr>
        <p:spPr>
          <a:xfrm>
            <a:off x="9121140" y="3172968"/>
            <a:ext cx="771754" cy="274320"/>
          </a:xfrm>
          <a:prstGeom prst="roundRect">
            <a:avLst>
              <a:gd name="adj" fmla="val 50000"/>
            </a:avLst>
          </a:prstGeom>
          <a:solidFill>
            <a:srgbClr val="F5B841"/>
          </a:solidFill>
          <a:ln/>
        </p:spPr>
      </p:sp>
      <p:sp>
        <p:nvSpPr>
          <p:cNvPr id="27" name="Text 25"/>
          <p:cNvSpPr/>
          <p:nvPr/>
        </p:nvSpPr>
        <p:spPr>
          <a:xfrm>
            <a:off x="9121140" y="3172968"/>
            <a:ext cx="771754" cy="274320"/>
          </a:xfrm>
          <a:prstGeom prst="rect">
            <a:avLst/>
          </a:prstGeom>
          <a:noFill/>
          <a:ln/>
        </p:spPr>
        <p:txBody>
          <a:bodyPr wrap="square" rtlCol="0" anchor="ctr"/>
          <a:lstStyle/>
          <a:p>
            <a:pPr algn="ctr" indent="0" marL="0">
              <a:buNone/>
            </a:pPr>
            <a:r>
              <a:rPr lang="en-US" sz="1000" b="1" dirty="0">
                <a:solidFill>
                  <a:srgbClr val="0F2547"/>
                </a:solidFill>
                <a:latin typeface="Apple SD Gothic Neo" pitchFamily="34" charset="0"/>
                <a:ea typeface="Apple SD Gothic Neo" pitchFamily="34" charset="-122"/>
                <a:cs typeface="Apple SD Gothic Neo" pitchFamily="34" charset="-120"/>
              </a:rPr>
              <a:t>Preview</a:t>
            </a:r>
            <a:endParaRPr lang="en-US" sz="1000" dirty="0"/>
          </a:p>
        </p:txBody>
      </p:sp>
      <p:sp>
        <p:nvSpPr>
          <p:cNvPr id="28" name="Shape 26"/>
          <p:cNvSpPr/>
          <p:nvPr/>
        </p:nvSpPr>
        <p:spPr>
          <a:xfrm>
            <a:off x="640080" y="3950208"/>
            <a:ext cx="10789920" cy="896112"/>
          </a:xfrm>
          <a:prstGeom prst="roundRect">
            <a:avLst>
              <a:gd name="adj" fmla="val 9184"/>
            </a:avLst>
          </a:prstGeom>
          <a:solidFill>
            <a:srgbClr val="EEF4FB"/>
          </a:solidFill>
          <a:ln w="12700">
            <a:solidFill>
              <a:srgbClr val="7AA5D6"/>
            </a:solidFill>
            <a:prstDash val="solid"/>
          </a:ln>
          <a:effectLst>
            <a:outerShdw sx="100000" sy="100000" kx="0" ky="0" algn="bl" rotWithShape="0" blurRad="76200" dist="25400" dir="5400000">
              <a:srgbClr val="1A2A44">
                <a:alpha val="14000"/>
              </a:srgbClr>
            </a:outerShdw>
          </a:effectLst>
        </p:spPr>
      </p:sp>
      <p:sp>
        <p:nvSpPr>
          <p:cNvPr id="29" name="Shape 27"/>
          <p:cNvSpPr/>
          <p:nvPr/>
        </p:nvSpPr>
        <p:spPr>
          <a:xfrm>
            <a:off x="868680" y="4160520"/>
            <a:ext cx="502920" cy="502920"/>
          </a:xfrm>
          <a:prstGeom prst="ellipse">
            <a:avLst/>
          </a:prstGeom>
          <a:solidFill>
            <a:srgbClr val="FFFFFF"/>
          </a:solidFill>
          <a:ln/>
        </p:spPr>
      </p:sp>
      <p:pic>
        <p:nvPicPr>
          <p:cNvPr id="30" name="Image 0" descr="preencoded.png">    </p:cNvPr>
          <p:cNvPicPr>
            <a:picLocks noChangeAspect="1"/>
          </p:cNvPicPr>
          <p:nvPr/>
        </p:nvPicPr>
        <p:blipFill>
          <a:blip r:embed="rId1"/>
          <a:stretch>
            <a:fillRect/>
          </a:stretch>
        </p:blipFill>
        <p:spPr>
          <a:xfrm>
            <a:off x="999439" y="4291279"/>
            <a:ext cx="241402" cy="241402"/>
          </a:xfrm>
          <a:prstGeom prst="rect">
            <a:avLst/>
          </a:prstGeom>
        </p:spPr>
      </p:pic>
      <p:sp>
        <p:nvSpPr>
          <p:cNvPr id="31" name="Text 28"/>
          <p:cNvSpPr/>
          <p:nvPr/>
        </p:nvSpPr>
        <p:spPr>
          <a:xfrm>
            <a:off x="1554480" y="3950208"/>
            <a:ext cx="9692640" cy="896112"/>
          </a:xfrm>
          <a:prstGeom prst="rect">
            <a:avLst/>
          </a:prstGeom>
          <a:noFill/>
          <a:ln/>
        </p:spPr>
        <p:txBody>
          <a:bodyPr wrap="square" rtlCol="0" anchor="ctr"/>
          <a:lstStyle/>
          <a:p>
            <a:pPr indent="0" marL="0">
              <a:buNone/>
            </a:pPr>
            <a:r>
              <a:rPr lang="en-US" sz="1500" b="1" dirty="0">
                <a:solidFill>
                  <a:srgbClr val="1A3D6D"/>
                </a:solidFill>
                <a:latin typeface="Apple SD Gothic Neo" pitchFamily="34" charset="0"/>
                <a:ea typeface="Apple SD Gothic Neo" pitchFamily="34" charset="-122"/>
                <a:cs typeface="Apple SD Gothic Neo" pitchFamily="34" charset="-120"/>
              </a:rPr>
              <a:t>= 비즈니스를 이해하는 지능  </a:t>
            </a:r>
            <a:pPr indent="0" marL="0">
              <a:buNone/>
            </a:pPr>
            <a:r>
              <a:rPr lang="en-US" sz="1250" dirty="0">
                <a:solidFill>
                  <a:srgbClr val="1B2A41"/>
                </a:solidFill>
                <a:latin typeface="Apple SD Gothic Neo" pitchFamily="34" charset="0"/>
                <a:ea typeface="Apple SD Gothic Neo" pitchFamily="34" charset="-122"/>
                <a:cs typeface="Apple SD Gothic Neo" pitchFamily="34" charset="-120"/>
              </a:rPr>
              <a:t>— '데이터 + 업무 + 지식'을 모두 아는 하나의 지능</a:t>
            </a:r>
            <a:endParaRPr lang="en-US" sz="1500" dirty="0"/>
          </a:p>
        </p:txBody>
      </p:sp>
      <p:sp>
        <p:nvSpPr>
          <p:cNvPr id="32" name="Shape 29"/>
          <p:cNvSpPr/>
          <p:nvPr/>
        </p:nvSpPr>
        <p:spPr>
          <a:xfrm>
            <a:off x="640080" y="5029200"/>
            <a:ext cx="10789920" cy="896112"/>
          </a:xfrm>
          <a:prstGeom prst="roundRect">
            <a:avLst>
              <a:gd name="adj" fmla="val 9184"/>
            </a:avLst>
          </a:prstGeom>
          <a:solidFill>
            <a:srgbClr val="1A3D6D"/>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33" name="Shape 30"/>
          <p:cNvSpPr/>
          <p:nvPr/>
        </p:nvSpPr>
        <p:spPr>
          <a:xfrm>
            <a:off x="868680" y="5239512"/>
            <a:ext cx="502920" cy="502920"/>
          </a:xfrm>
          <a:prstGeom prst="ellipse">
            <a:avLst/>
          </a:prstGeom>
          <a:solidFill>
            <a:srgbClr val="2F5B93"/>
          </a:solidFill>
          <a:ln/>
        </p:spPr>
      </p:sp>
      <p:pic>
        <p:nvPicPr>
          <p:cNvPr id="34" name="Image 1" descr="preencoded.png">    </p:cNvPr>
          <p:cNvPicPr>
            <a:picLocks noChangeAspect="1"/>
          </p:cNvPicPr>
          <p:nvPr/>
        </p:nvPicPr>
        <p:blipFill>
          <a:blip r:embed="rId2"/>
          <a:stretch>
            <a:fillRect/>
          </a:stretch>
        </p:blipFill>
        <p:spPr>
          <a:xfrm>
            <a:off x="999439" y="5370271"/>
            <a:ext cx="241402" cy="241402"/>
          </a:xfrm>
          <a:prstGeom prst="rect">
            <a:avLst/>
          </a:prstGeom>
        </p:spPr>
      </p:pic>
      <p:sp>
        <p:nvSpPr>
          <p:cNvPr id="35" name="Text 31"/>
          <p:cNvSpPr/>
          <p:nvPr/>
        </p:nvSpPr>
        <p:spPr>
          <a:xfrm>
            <a:off x="1554480" y="5138928"/>
            <a:ext cx="9692640" cy="320040"/>
          </a:xfrm>
          <a:prstGeom prst="rect">
            <a:avLst/>
          </a:prstGeom>
          <a:noFill/>
          <a:ln/>
        </p:spPr>
        <p:txBody>
          <a:bodyPr wrap="square" rtlCol="0" anchor="ct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Azure AI Search </a:t>
            </a:r>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GA</a:t>
            </a:r>
            <a:endParaRPr lang="en-US" sz="1400" dirty="0"/>
          </a:p>
        </p:txBody>
      </p:sp>
      <p:sp>
        <p:nvSpPr>
          <p:cNvPr id="36" name="Text 32"/>
          <p:cNvSpPr/>
          <p:nvPr/>
        </p:nvSpPr>
        <p:spPr>
          <a:xfrm>
            <a:off x="1554480" y="5468112"/>
            <a:ext cx="9692640" cy="365760"/>
          </a:xfrm>
          <a:prstGeom prst="rect">
            <a:avLst/>
          </a:prstGeom>
          <a:noFill/>
          <a:ln/>
        </p:spPr>
        <p:txBody>
          <a:bodyPr wrap="square" rtlCol="0" anchor="ctr"/>
          <a:lstStyle/>
          <a:p>
            <a:pPr indent="0" marL="0">
              <a:buNone/>
            </a:pPr>
            <a:r>
              <a:rPr lang="en-US" sz="1150" dirty="0">
                <a:solidFill>
                  <a:srgbClr val="DBE7F6"/>
                </a:solidFill>
                <a:latin typeface="Apple SD Gothic Neo" pitchFamily="34" charset="0"/>
                <a:ea typeface="Apple SD Gothic Neo" pitchFamily="34" charset="-122"/>
                <a:cs typeface="Apple SD Gothic Neo" pitchFamily="34" charset="-120"/>
              </a:rPr>
              <a:t>세 IQ를 뒷받침하는 검색·검색증강(RAG) 엔진 — 에이전트가 정확한 근거를 찾도록 합니다.</a:t>
            </a:r>
            <a:endParaRPr lang="en-US" sz="1150" dirty="0"/>
          </a:p>
        </p:txBody>
      </p:sp>
      <p:sp>
        <p:nvSpPr>
          <p:cNvPr id="37" name="Text 33"/>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38" name="Text 34"/>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4F8FB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6-③ 에이전트 개발·운영</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Microsoft Foundry</a:t>
            </a:r>
            <a:endParaRPr lang="en-US" sz="3000" dirty="0"/>
          </a:p>
        </p:txBody>
      </p:sp>
      <p:sp>
        <p:nvSpPr>
          <p:cNvPr id="8" name="Text 6"/>
          <p:cNvSpPr/>
          <p:nvPr/>
        </p:nvSpPr>
        <p:spPr>
          <a:xfrm>
            <a:off x="548640" y="1783080"/>
            <a:ext cx="11109960" cy="548640"/>
          </a:xfrm>
          <a:prstGeom prst="rect">
            <a:avLst/>
          </a:prstGeom>
          <a:noFill/>
          <a:ln/>
        </p:spPr>
        <p:txBody>
          <a:bodyPr wrap="square" rtlCol="0" anchor="ctr"/>
          <a:lstStyle/>
          <a:p>
            <a:pPr indent="0" marL="0">
              <a:lnSpc>
                <a:spcPct val="120000"/>
              </a:lnSpc>
              <a:buNone/>
            </a:pPr>
            <a:r>
              <a:rPr lang="en-US" sz="1350" dirty="0">
                <a:solidFill>
                  <a:srgbClr val="1B2A41"/>
                </a:solidFill>
                <a:latin typeface="Apple SD Gothic Neo" pitchFamily="34" charset="0"/>
                <a:ea typeface="Apple SD Gothic Neo" pitchFamily="34" charset="-122"/>
                <a:cs typeface="Apple SD Gothic Neo" pitchFamily="34" charset="-120"/>
              </a:rPr>
              <a:t>AI 앱과 에이전트를 만들고 운영하는 통합 플랫폼. '실험'이 아니라 '운영'을 전제로 설계되었습니다.</a:t>
            </a:r>
            <a:endParaRPr lang="en-US" sz="1350" dirty="0"/>
          </a:p>
        </p:txBody>
      </p:sp>
      <p:sp>
        <p:nvSpPr>
          <p:cNvPr id="9" name="Shape 7"/>
          <p:cNvSpPr/>
          <p:nvPr/>
        </p:nvSpPr>
        <p:spPr>
          <a:xfrm>
            <a:off x="548640" y="2468880"/>
            <a:ext cx="5486400" cy="1600200"/>
          </a:xfrm>
          <a:prstGeom prst="roundRect">
            <a:avLst>
              <a:gd name="adj" fmla="val 514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0" name="Shape 8"/>
          <p:cNvSpPr/>
          <p:nvPr/>
        </p:nvSpPr>
        <p:spPr>
          <a:xfrm>
            <a:off x="804672" y="2834640"/>
            <a:ext cx="868680" cy="868680"/>
          </a:xfrm>
          <a:prstGeom prst="ellipse">
            <a:avLst/>
          </a:prstGeom>
          <a:solidFill>
            <a:srgbClr val="DBE7F6"/>
          </a:solidFill>
          <a:ln/>
        </p:spPr>
      </p:sp>
      <p:pic>
        <p:nvPicPr>
          <p:cNvPr id="11" name="Image 0" descr="preencoded.png">    </p:cNvPr>
          <p:cNvPicPr>
            <a:picLocks noChangeAspect="1"/>
          </p:cNvPicPr>
          <p:nvPr/>
        </p:nvPicPr>
        <p:blipFill>
          <a:blip r:embed="rId1"/>
          <a:stretch>
            <a:fillRect/>
          </a:stretch>
        </p:blipFill>
        <p:spPr>
          <a:xfrm>
            <a:off x="1030529" y="3060497"/>
            <a:ext cx="416966" cy="416966"/>
          </a:xfrm>
          <a:prstGeom prst="rect">
            <a:avLst/>
          </a:prstGeom>
        </p:spPr>
      </p:pic>
      <p:sp>
        <p:nvSpPr>
          <p:cNvPr id="12" name="Shape 9"/>
          <p:cNvSpPr/>
          <p:nvPr/>
        </p:nvSpPr>
        <p:spPr>
          <a:xfrm>
            <a:off x="5394960" y="2724912"/>
            <a:ext cx="384048" cy="384048"/>
          </a:xfrm>
          <a:prstGeom prst="roundRect">
            <a:avLst>
              <a:gd name="adj" fmla="val 23810"/>
            </a:avLst>
          </a:prstGeom>
          <a:solidFill>
            <a:srgbClr val="7AA5D6"/>
          </a:solidFill>
          <a:ln/>
        </p:spPr>
      </p:sp>
      <p:sp>
        <p:nvSpPr>
          <p:cNvPr id="13" name="Text 10"/>
          <p:cNvSpPr/>
          <p:nvPr/>
        </p:nvSpPr>
        <p:spPr>
          <a:xfrm>
            <a:off x="5394960" y="2724912"/>
            <a:ext cx="384048" cy="384048"/>
          </a:xfrm>
          <a:prstGeom prst="rect">
            <a:avLst/>
          </a:prstGeom>
          <a:noFill/>
          <a:ln/>
        </p:spPr>
        <p:txBody>
          <a:bodyPr wrap="square"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1</a:t>
            </a:r>
            <a:endParaRPr lang="en-US" sz="1300" dirty="0"/>
          </a:p>
        </p:txBody>
      </p:sp>
      <p:sp>
        <p:nvSpPr>
          <p:cNvPr id="14" name="Text 11"/>
          <p:cNvSpPr/>
          <p:nvPr/>
        </p:nvSpPr>
        <p:spPr>
          <a:xfrm>
            <a:off x="1828800" y="2724912"/>
            <a:ext cx="3657600" cy="365760"/>
          </a:xfrm>
          <a:prstGeom prst="rect">
            <a:avLst/>
          </a:prstGeom>
          <a:noFill/>
          <a:ln/>
        </p:spPr>
        <p:txBody>
          <a:bodyPr wrap="square" rtlCol="0" anchor="ctr"/>
          <a:lstStyle/>
          <a:p>
            <a:pPr indent="0" marL="0">
              <a:buNone/>
            </a:pPr>
            <a:r>
              <a:rPr lang="en-US" sz="1600" b="1" dirty="0">
                <a:solidFill>
                  <a:srgbClr val="0F2547"/>
                </a:solidFill>
                <a:latin typeface="Apple SD Gothic Neo" pitchFamily="34" charset="0"/>
                <a:ea typeface="Apple SD Gothic Neo" pitchFamily="34" charset="-122"/>
                <a:cs typeface="Apple SD Gothic Neo" pitchFamily="34" charset="-120"/>
              </a:rPr>
              <a:t>모델 카탈로그</a:t>
            </a:r>
            <a:endParaRPr lang="en-US" sz="1600" dirty="0"/>
          </a:p>
        </p:txBody>
      </p:sp>
      <p:sp>
        <p:nvSpPr>
          <p:cNvPr id="15" name="Text 12"/>
          <p:cNvSpPr/>
          <p:nvPr/>
        </p:nvSpPr>
        <p:spPr>
          <a:xfrm>
            <a:off x="1828800" y="3127248"/>
            <a:ext cx="3931920" cy="777240"/>
          </a:xfrm>
          <a:prstGeom prst="rect">
            <a:avLst/>
          </a:prstGeom>
          <a:noFill/>
          <a:ln/>
        </p:spPr>
        <p:txBody>
          <a:bodyPr wrap="square" rtlCol="0" anchor="t"/>
          <a:lstStyle/>
          <a:p>
            <a:pPr indent="0" marL="0">
              <a:lnSpc>
                <a:spcPct val="115000"/>
              </a:lnSpc>
              <a:buNone/>
            </a:pPr>
            <a:r>
              <a:rPr lang="en-US" sz="1150" dirty="0">
                <a:solidFill>
                  <a:srgbClr val="5F708A"/>
                </a:solidFill>
                <a:latin typeface="Apple SD Gothic Neo" pitchFamily="34" charset="0"/>
                <a:ea typeface="Apple SD Gothic Neo" pitchFamily="34" charset="-122"/>
                <a:cs typeface="Apple SD Gothic Neo" pitchFamily="34" charset="-120"/>
              </a:rPr>
              <a:t>OpenAI 프론티어 모델부터 오픈 모델까지 — 선택의 자유</a:t>
            </a:r>
            <a:endParaRPr lang="en-US" sz="1150" dirty="0"/>
          </a:p>
        </p:txBody>
      </p:sp>
      <p:sp>
        <p:nvSpPr>
          <p:cNvPr id="16" name="Shape 13"/>
          <p:cNvSpPr/>
          <p:nvPr/>
        </p:nvSpPr>
        <p:spPr>
          <a:xfrm>
            <a:off x="6172200" y="2468880"/>
            <a:ext cx="5486400" cy="1600200"/>
          </a:xfrm>
          <a:prstGeom prst="roundRect">
            <a:avLst>
              <a:gd name="adj" fmla="val 514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7" name="Shape 14"/>
          <p:cNvSpPr/>
          <p:nvPr/>
        </p:nvSpPr>
        <p:spPr>
          <a:xfrm>
            <a:off x="6428232" y="2834640"/>
            <a:ext cx="868680" cy="868680"/>
          </a:xfrm>
          <a:prstGeom prst="ellipse">
            <a:avLst/>
          </a:prstGeom>
          <a:solidFill>
            <a:srgbClr val="DBE7F6"/>
          </a:solidFill>
          <a:ln/>
        </p:spPr>
      </p:sp>
      <p:pic>
        <p:nvPicPr>
          <p:cNvPr id="18" name="Image 1" descr="preencoded.png">    </p:cNvPr>
          <p:cNvPicPr>
            <a:picLocks noChangeAspect="1"/>
          </p:cNvPicPr>
          <p:nvPr/>
        </p:nvPicPr>
        <p:blipFill>
          <a:blip r:embed="rId2"/>
          <a:stretch>
            <a:fillRect/>
          </a:stretch>
        </p:blipFill>
        <p:spPr>
          <a:xfrm>
            <a:off x="6654089" y="3060497"/>
            <a:ext cx="416966" cy="416966"/>
          </a:xfrm>
          <a:prstGeom prst="rect">
            <a:avLst/>
          </a:prstGeom>
        </p:spPr>
      </p:pic>
      <p:sp>
        <p:nvSpPr>
          <p:cNvPr id="19" name="Shape 15"/>
          <p:cNvSpPr/>
          <p:nvPr/>
        </p:nvSpPr>
        <p:spPr>
          <a:xfrm>
            <a:off x="11018520" y="2724912"/>
            <a:ext cx="384048" cy="384048"/>
          </a:xfrm>
          <a:prstGeom prst="roundRect">
            <a:avLst>
              <a:gd name="adj" fmla="val 23810"/>
            </a:avLst>
          </a:prstGeom>
          <a:solidFill>
            <a:srgbClr val="7AA5D6"/>
          </a:solidFill>
          <a:ln/>
        </p:spPr>
      </p:sp>
      <p:sp>
        <p:nvSpPr>
          <p:cNvPr id="20" name="Text 16"/>
          <p:cNvSpPr/>
          <p:nvPr/>
        </p:nvSpPr>
        <p:spPr>
          <a:xfrm>
            <a:off x="11018520" y="2724912"/>
            <a:ext cx="384048" cy="384048"/>
          </a:xfrm>
          <a:prstGeom prst="rect">
            <a:avLst/>
          </a:prstGeom>
          <a:noFill/>
          <a:ln/>
        </p:spPr>
        <p:txBody>
          <a:bodyPr wrap="square"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2</a:t>
            </a:r>
            <a:endParaRPr lang="en-US" sz="1300" dirty="0"/>
          </a:p>
        </p:txBody>
      </p:sp>
      <p:sp>
        <p:nvSpPr>
          <p:cNvPr id="21" name="Text 17"/>
          <p:cNvSpPr/>
          <p:nvPr/>
        </p:nvSpPr>
        <p:spPr>
          <a:xfrm>
            <a:off x="7452360" y="2724912"/>
            <a:ext cx="3657600" cy="365760"/>
          </a:xfrm>
          <a:prstGeom prst="rect">
            <a:avLst/>
          </a:prstGeom>
          <a:noFill/>
          <a:ln/>
        </p:spPr>
        <p:txBody>
          <a:bodyPr wrap="square" rtlCol="0" anchor="ctr"/>
          <a:lstStyle/>
          <a:p>
            <a:pPr indent="0" marL="0">
              <a:buNone/>
            </a:pPr>
            <a:r>
              <a:rPr lang="en-US" sz="1600" b="1" dirty="0">
                <a:solidFill>
                  <a:srgbClr val="0F2547"/>
                </a:solidFill>
                <a:latin typeface="Apple SD Gothic Neo" pitchFamily="34" charset="0"/>
                <a:ea typeface="Apple SD Gothic Neo" pitchFamily="34" charset="-122"/>
                <a:cs typeface="Apple SD Gothic Neo" pitchFamily="34" charset="-120"/>
              </a:rPr>
              <a:t>에이전트 개발</a:t>
            </a:r>
            <a:endParaRPr lang="en-US" sz="1600" dirty="0"/>
          </a:p>
        </p:txBody>
      </p:sp>
      <p:sp>
        <p:nvSpPr>
          <p:cNvPr id="22" name="Text 18"/>
          <p:cNvSpPr/>
          <p:nvPr/>
        </p:nvSpPr>
        <p:spPr>
          <a:xfrm>
            <a:off x="7452360" y="3127248"/>
            <a:ext cx="3931920" cy="777240"/>
          </a:xfrm>
          <a:prstGeom prst="rect">
            <a:avLst/>
          </a:prstGeom>
          <a:noFill/>
          <a:ln/>
        </p:spPr>
        <p:txBody>
          <a:bodyPr wrap="square" rtlCol="0" anchor="t"/>
          <a:lstStyle/>
          <a:p>
            <a:pPr indent="0" marL="0">
              <a:lnSpc>
                <a:spcPct val="115000"/>
              </a:lnSpc>
              <a:buNone/>
            </a:pPr>
            <a:r>
              <a:rPr lang="en-US" sz="1150" dirty="0">
                <a:solidFill>
                  <a:srgbClr val="5F708A"/>
                </a:solidFill>
                <a:latin typeface="Apple SD Gothic Neo" pitchFamily="34" charset="0"/>
                <a:ea typeface="Apple SD Gothic Neo" pitchFamily="34" charset="-122"/>
                <a:cs typeface="Apple SD Gothic Neo" pitchFamily="34" charset="-120"/>
              </a:rPr>
              <a:t>Foundry Agent Service로 에이전트를 만들고 배포</a:t>
            </a:r>
            <a:endParaRPr lang="en-US" sz="1150" dirty="0"/>
          </a:p>
        </p:txBody>
      </p:sp>
      <p:sp>
        <p:nvSpPr>
          <p:cNvPr id="23" name="Shape 19"/>
          <p:cNvSpPr/>
          <p:nvPr/>
        </p:nvSpPr>
        <p:spPr>
          <a:xfrm>
            <a:off x="548640" y="4206240"/>
            <a:ext cx="5486400" cy="1600200"/>
          </a:xfrm>
          <a:prstGeom prst="roundRect">
            <a:avLst>
              <a:gd name="adj" fmla="val 514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4" name="Shape 20"/>
          <p:cNvSpPr/>
          <p:nvPr/>
        </p:nvSpPr>
        <p:spPr>
          <a:xfrm>
            <a:off x="804672" y="4572000"/>
            <a:ext cx="868680" cy="868680"/>
          </a:xfrm>
          <a:prstGeom prst="ellipse">
            <a:avLst/>
          </a:prstGeom>
          <a:solidFill>
            <a:srgbClr val="DBE7F6"/>
          </a:solidFill>
          <a:ln/>
        </p:spPr>
      </p:sp>
      <p:pic>
        <p:nvPicPr>
          <p:cNvPr id="25" name="Image 2" descr="preencoded.png">    </p:cNvPr>
          <p:cNvPicPr>
            <a:picLocks noChangeAspect="1"/>
          </p:cNvPicPr>
          <p:nvPr/>
        </p:nvPicPr>
        <p:blipFill>
          <a:blip r:embed="rId3"/>
          <a:stretch>
            <a:fillRect/>
          </a:stretch>
        </p:blipFill>
        <p:spPr>
          <a:xfrm>
            <a:off x="1030529" y="4797857"/>
            <a:ext cx="416966" cy="416966"/>
          </a:xfrm>
          <a:prstGeom prst="rect">
            <a:avLst/>
          </a:prstGeom>
        </p:spPr>
      </p:pic>
      <p:sp>
        <p:nvSpPr>
          <p:cNvPr id="26" name="Shape 21"/>
          <p:cNvSpPr/>
          <p:nvPr/>
        </p:nvSpPr>
        <p:spPr>
          <a:xfrm>
            <a:off x="5394960" y="4462272"/>
            <a:ext cx="384048" cy="384048"/>
          </a:xfrm>
          <a:prstGeom prst="roundRect">
            <a:avLst>
              <a:gd name="adj" fmla="val 23810"/>
            </a:avLst>
          </a:prstGeom>
          <a:solidFill>
            <a:srgbClr val="7AA5D6"/>
          </a:solidFill>
          <a:ln/>
        </p:spPr>
      </p:sp>
      <p:sp>
        <p:nvSpPr>
          <p:cNvPr id="27" name="Text 22"/>
          <p:cNvSpPr/>
          <p:nvPr/>
        </p:nvSpPr>
        <p:spPr>
          <a:xfrm>
            <a:off x="5394960" y="4462272"/>
            <a:ext cx="384048" cy="384048"/>
          </a:xfrm>
          <a:prstGeom prst="rect">
            <a:avLst/>
          </a:prstGeom>
          <a:noFill/>
          <a:ln/>
        </p:spPr>
        <p:txBody>
          <a:bodyPr wrap="square"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3</a:t>
            </a:r>
            <a:endParaRPr lang="en-US" sz="1300" dirty="0"/>
          </a:p>
        </p:txBody>
      </p:sp>
      <p:sp>
        <p:nvSpPr>
          <p:cNvPr id="28" name="Text 23"/>
          <p:cNvSpPr/>
          <p:nvPr/>
        </p:nvSpPr>
        <p:spPr>
          <a:xfrm>
            <a:off x="1828800" y="4462272"/>
            <a:ext cx="3657600" cy="365760"/>
          </a:xfrm>
          <a:prstGeom prst="rect">
            <a:avLst/>
          </a:prstGeom>
          <a:noFill/>
          <a:ln/>
        </p:spPr>
        <p:txBody>
          <a:bodyPr wrap="square" rtlCol="0" anchor="ctr"/>
          <a:lstStyle/>
          <a:p>
            <a:pPr indent="0" marL="0">
              <a:buNone/>
            </a:pPr>
            <a:r>
              <a:rPr lang="en-US" sz="1600" b="1" dirty="0">
                <a:solidFill>
                  <a:srgbClr val="0F2547"/>
                </a:solidFill>
                <a:latin typeface="Apple SD Gothic Neo" pitchFamily="34" charset="0"/>
                <a:ea typeface="Apple SD Gothic Neo" pitchFamily="34" charset="-122"/>
                <a:cs typeface="Apple SD Gothic Neo" pitchFamily="34" charset="-120"/>
              </a:rPr>
              <a:t>평가 · 관측</a:t>
            </a:r>
            <a:endParaRPr lang="en-US" sz="1600" dirty="0"/>
          </a:p>
        </p:txBody>
      </p:sp>
      <p:sp>
        <p:nvSpPr>
          <p:cNvPr id="29" name="Text 24"/>
          <p:cNvSpPr/>
          <p:nvPr/>
        </p:nvSpPr>
        <p:spPr>
          <a:xfrm>
            <a:off x="1828800" y="4864608"/>
            <a:ext cx="3931920" cy="777240"/>
          </a:xfrm>
          <a:prstGeom prst="rect">
            <a:avLst/>
          </a:prstGeom>
          <a:noFill/>
          <a:ln/>
        </p:spPr>
        <p:txBody>
          <a:bodyPr wrap="square" rtlCol="0" anchor="t"/>
          <a:lstStyle/>
          <a:p>
            <a:pPr indent="0" marL="0">
              <a:lnSpc>
                <a:spcPct val="115000"/>
              </a:lnSpc>
              <a:buNone/>
            </a:pPr>
            <a:r>
              <a:rPr lang="en-US" sz="1150" dirty="0">
                <a:solidFill>
                  <a:srgbClr val="5F708A"/>
                </a:solidFill>
                <a:latin typeface="Apple SD Gothic Neo" pitchFamily="34" charset="0"/>
                <a:ea typeface="Apple SD Gothic Neo" pitchFamily="34" charset="-122"/>
                <a:cs typeface="Apple SD Gothic Neo" pitchFamily="34" charset="-120"/>
              </a:rPr>
              <a:t>품질·안전을 지속 측정하는 평가·Observability</a:t>
            </a:r>
            <a:endParaRPr lang="en-US" sz="1150" dirty="0"/>
          </a:p>
        </p:txBody>
      </p:sp>
      <p:sp>
        <p:nvSpPr>
          <p:cNvPr id="30" name="Shape 25"/>
          <p:cNvSpPr/>
          <p:nvPr/>
        </p:nvSpPr>
        <p:spPr>
          <a:xfrm>
            <a:off x="6172200" y="4206240"/>
            <a:ext cx="5486400" cy="1600200"/>
          </a:xfrm>
          <a:prstGeom prst="roundRect">
            <a:avLst>
              <a:gd name="adj" fmla="val 514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31" name="Shape 26"/>
          <p:cNvSpPr/>
          <p:nvPr/>
        </p:nvSpPr>
        <p:spPr>
          <a:xfrm>
            <a:off x="6428232" y="4572000"/>
            <a:ext cx="868680" cy="868680"/>
          </a:xfrm>
          <a:prstGeom prst="ellipse">
            <a:avLst/>
          </a:prstGeom>
          <a:solidFill>
            <a:srgbClr val="DBE7F6"/>
          </a:solidFill>
          <a:ln/>
        </p:spPr>
      </p:sp>
      <p:pic>
        <p:nvPicPr>
          <p:cNvPr id="32" name="Image 3" descr="preencoded.png">    </p:cNvPr>
          <p:cNvPicPr>
            <a:picLocks noChangeAspect="1"/>
          </p:cNvPicPr>
          <p:nvPr/>
        </p:nvPicPr>
        <p:blipFill>
          <a:blip r:embed="rId4"/>
          <a:stretch>
            <a:fillRect/>
          </a:stretch>
        </p:blipFill>
        <p:spPr>
          <a:xfrm>
            <a:off x="6654089" y="4797857"/>
            <a:ext cx="416966" cy="416966"/>
          </a:xfrm>
          <a:prstGeom prst="rect">
            <a:avLst/>
          </a:prstGeom>
        </p:spPr>
      </p:pic>
      <p:sp>
        <p:nvSpPr>
          <p:cNvPr id="33" name="Shape 27"/>
          <p:cNvSpPr/>
          <p:nvPr/>
        </p:nvSpPr>
        <p:spPr>
          <a:xfrm>
            <a:off x="11018520" y="4462272"/>
            <a:ext cx="384048" cy="384048"/>
          </a:xfrm>
          <a:prstGeom prst="roundRect">
            <a:avLst>
              <a:gd name="adj" fmla="val 23810"/>
            </a:avLst>
          </a:prstGeom>
          <a:solidFill>
            <a:srgbClr val="7AA5D6"/>
          </a:solidFill>
          <a:ln/>
        </p:spPr>
      </p:sp>
      <p:sp>
        <p:nvSpPr>
          <p:cNvPr id="34" name="Text 28"/>
          <p:cNvSpPr/>
          <p:nvPr/>
        </p:nvSpPr>
        <p:spPr>
          <a:xfrm>
            <a:off x="11018520" y="4462272"/>
            <a:ext cx="384048" cy="384048"/>
          </a:xfrm>
          <a:prstGeom prst="rect">
            <a:avLst/>
          </a:prstGeom>
          <a:noFill/>
          <a:ln/>
        </p:spPr>
        <p:txBody>
          <a:bodyPr wrap="square"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4</a:t>
            </a:r>
            <a:endParaRPr lang="en-US" sz="1300" dirty="0"/>
          </a:p>
        </p:txBody>
      </p:sp>
      <p:sp>
        <p:nvSpPr>
          <p:cNvPr id="35" name="Text 29"/>
          <p:cNvSpPr/>
          <p:nvPr/>
        </p:nvSpPr>
        <p:spPr>
          <a:xfrm>
            <a:off x="7452360" y="4462272"/>
            <a:ext cx="3657600" cy="365760"/>
          </a:xfrm>
          <a:prstGeom prst="rect">
            <a:avLst/>
          </a:prstGeom>
          <a:noFill/>
          <a:ln/>
        </p:spPr>
        <p:txBody>
          <a:bodyPr wrap="square" rtlCol="0" anchor="ctr"/>
          <a:lstStyle/>
          <a:p>
            <a:pPr indent="0" marL="0">
              <a:buNone/>
            </a:pPr>
            <a:r>
              <a:rPr lang="en-US" sz="1600" b="1" dirty="0">
                <a:solidFill>
                  <a:srgbClr val="0F2547"/>
                </a:solidFill>
                <a:latin typeface="Apple SD Gothic Neo" pitchFamily="34" charset="0"/>
                <a:ea typeface="Apple SD Gothic Neo" pitchFamily="34" charset="-122"/>
                <a:cs typeface="Apple SD Gothic Neo" pitchFamily="34" charset="-120"/>
              </a:rPr>
              <a:t>안전 · 거버넌스</a:t>
            </a:r>
            <a:endParaRPr lang="en-US" sz="1600" dirty="0"/>
          </a:p>
        </p:txBody>
      </p:sp>
      <p:sp>
        <p:nvSpPr>
          <p:cNvPr id="36" name="Text 30"/>
          <p:cNvSpPr/>
          <p:nvPr/>
        </p:nvSpPr>
        <p:spPr>
          <a:xfrm>
            <a:off x="7452360" y="4864608"/>
            <a:ext cx="3931920" cy="777240"/>
          </a:xfrm>
          <a:prstGeom prst="rect">
            <a:avLst/>
          </a:prstGeom>
          <a:noFill/>
          <a:ln/>
        </p:spPr>
        <p:txBody>
          <a:bodyPr wrap="square" rtlCol="0" anchor="t"/>
          <a:lstStyle/>
          <a:p>
            <a:pPr indent="0" marL="0">
              <a:lnSpc>
                <a:spcPct val="115000"/>
              </a:lnSpc>
              <a:buNone/>
            </a:pPr>
            <a:r>
              <a:rPr lang="en-US" sz="1150" dirty="0">
                <a:solidFill>
                  <a:srgbClr val="5F708A"/>
                </a:solidFill>
                <a:latin typeface="Apple SD Gothic Neo" pitchFamily="34" charset="0"/>
                <a:ea typeface="Apple SD Gothic Neo" pitchFamily="34" charset="-122"/>
                <a:cs typeface="Apple SD Gothic Neo" pitchFamily="34" charset="-120"/>
              </a:rPr>
              <a:t>Content Safety로 안전 가드레일 내장</a:t>
            </a:r>
            <a:endParaRPr lang="en-US" sz="1150" dirty="0"/>
          </a:p>
        </p:txBody>
      </p:sp>
      <p:sp>
        <p:nvSpPr>
          <p:cNvPr id="37" name="Shape 31"/>
          <p:cNvSpPr/>
          <p:nvPr/>
        </p:nvSpPr>
        <p:spPr>
          <a:xfrm>
            <a:off x="548640" y="5943600"/>
            <a:ext cx="658368" cy="274320"/>
          </a:xfrm>
          <a:prstGeom prst="roundRect">
            <a:avLst>
              <a:gd name="adj" fmla="val 50000"/>
            </a:avLst>
          </a:prstGeom>
          <a:solidFill>
            <a:srgbClr val="2E9E6B"/>
          </a:solidFill>
          <a:ln/>
        </p:spPr>
      </p:sp>
      <p:sp>
        <p:nvSpPr>
          <p:cNvPr id="38" name="Text 32"/>
          <p:cNvSpPr/>
          <p:nvPr/>
        </p:nvSpPr>
        <p:spPr>
          <a:xfrm>
            <a:off x="548640" y="5943600"/>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GA</a:t>
            </a:r>
            <a:endParaRPr lang="en-US" sz="1000" dirty="0"/>
          </a:p>
        </p:txBody>
      </p:sp>
      <p:sp>
        <p:nvSpPr>
          <p:cNvPr id="39" name="Text 33"/>
          <p:cNvSpPr/>
          <p:nvPr/>
        </p:nvSpPr>
        <p:spPr>
          <a:xfrm>
            <a:off x="1280160" y="5897880"/>
            <a:ext cx="10058400" cy="365760"/>
          </a:xfrm>
          <a:prstGeom prst="rect">
            <a:avLst/>
          </a:prstGeom>
          <a:noFill/>
          <a:ln/>
        </p:spPr>
        <p:txBody>
          <a:bodyPr wrap="square" rtlCol="0" anchor="ctr"/>
          <a:lstStyle/>
          <a:p>
            <a:pPr indent="0" marL="0">
              <a:buNone/>
            </a:pPr>
            <a:r>
              <a:rPr lang="en-US" sz="1250" b="1" dirty="0">
                <a:solidFill>
                  <a:srgbClr val="1A3D6D"/>
                </a:solidFill>
                <a:latin typeface="Apple SD Gothic Neo" pitchFamily="34" charset="0"/>
                <a:ea typeface="Apple SD Gothic Neo" pitchFamily="34" charset="-122"/>
                <a:cs typeface="Apple SD Gothic Neo" pitchFamily="34" charset="-120"/>
              </a:rPr>
              <a:t>모델 선택 → 개발 → 평가 → 안전을 한 곳에서 — 에이전트를 '운영'하는 공장.</a:t>
            </a:r>
            <a:endParaRPr lang="en-US" sz="1250" dirty="0"/>
          </a:p>
        </p:txBody>
      </p:sp>
      <p:sp>
        <p:nvSpPr>
          <p:cNvPr id="40" name="Text 34"/>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41" name="Text 35"/>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4F8FB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6-④⑤⑥ 만들고 · 일하고 · 개발한다</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Copilot Studio · Microsoft 365 · GitHub Copilot</a:t>
            </a:r>
            <a:endParaRPr lang="en-US" sz="3000" dirty="0"/>
          </a:p>
        </p:txBody>
      </p:sp>
      <p:sp>
        <p:nvSpPr>
          <p:cNvPr id="8" name="Shape 6"/>
          <p:cNvSpPr/>
          <p:nvPr/>
        </p:nvSpPr>
        <p:spPr>
          <a:xfrm>
            <a:off x="548640" y="1828800"/>
            <a:ext cx="3611880" cy="4023360"/>
          </a:xfrm>
          <a:prstGeom prst="roundRect">
            <a:avLst>
              <a:gd name="adj" fmla="val 2278"/>
            </a:avLst>
          </a:prstGeom>
          <a:solidFill>
            <a:srgbClr val="1A3D6D"/>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9" name="Shape 7"/>
          <p:cNvSpPr/>
          <p:nvPr/>
        </p:nvSpPr>
        <p:spPr>
          <a:xfrm>
            <a:off x="1897380" y="2148840"/>
            <a:ext cx="914400" cy="914400"/>
          </a:xfrm>
          <a:prstGeom prst="ellipse">
            <a:avLst/>
          </a:prstGeom>
          <a:solidFill>
            <a:srgbClr val="2F5B93"/>
          </a:solidFill>
          <a:ln/>
        </p:spPr>
      </p:sp>
      <p:pic>
        <p:nvPicPr>
          <p:cNvPr id="10" name="Image 0" descr="preencoded.png">    </p:cNvPr>
          <p:cNvPicPr>
            <a:picLocks noChangeAspect="1"/>
          </p:cNvPicPr>
          <p:nvPr/>
        </p:nvPicPr>
        <p:blipFill>
          <a:blip r:embed="rId1"/>
          <a:stretch>
            <a:fillRect/>
          </a:stretch>
        </p:blipFill>
        <p:spPr>
          <a:xfrm>
            <a:off x="2135124" y="2386584"/>
            <a:ext cx="438912" cy="438912"/>
          </a:xfrm>
          <a:prstGeom prst="rect">
            <a:avLst/>
          </a:prstGeom>
        </p:spPr>
      </p:pic>
      <p:sp>
        <p:nvSpPr>
          <p:cNvPr id="11" name="Text 8"/>
          <p:cNvSpPr/>
          <p:nvPr/>
        </p:nvSpPr>
        <p:spPr>
          <a:xfrm>
            <a:off x="548640" y="3154680"/>
            <a:ext cx="3611880" cy="384048"/>
          </a:xfrm>
          <a:prstGeom prst="rect">
            <a:avLst/>
          </a:prstGeom>
          <a:noFill/>
          <a:ln/>
        </p:spPr>
        <p:txBody>
          <a:bodyPr wrap="square" rtlCol="0" anchor="ctr"/>
          <a:lstStyle/>
          <a:p>
            <a:pPr algn="ct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④ Copilot Studio</a:t>
            </a:r>
            <a:endParaRPr lang="en-US" sz="1600" dirty="0"/>
          </a:p>
        </p:txBody>
      </p:sp>
      <p:sp>
        <p:nvSpPr>
          <p:cNvPr id="12" name="Text 9"/>
          <p:cNvSpPr/>
          <p:nvPr/>
        </p:nvSpPr>
        <p:spPr>
          <a:xfrm>
            <a:off x="685800" y="3547872"/>
            <a:ext cx="3337560" cy="457200"/>
          </a:xfrm>
          <a:prstGeom prst="rect">
            <a:avLst/>
          </a:prstGeom>
          <a:noFill/>
          <a:ln/>
        </p:spPr>
        <p:txBody>
          <a:bodyPr wrap="square" rtlCol="0" anchor="ctr"/>
          <a:lstStyle/>
          <a:p>
            <a:pPr algn="ctr" indent="0" marL="0">
              <a:lnSpc>
                <a:spcPct val="110000"/>
              </a:lnSpc>
              <a:buNone/>
            </a:pPr>
            <a:r>
              <a:rPr lang="en-US" sz="1100" dirty="0">
                <a:solidFill>
                  <a:srgbClr val="7AA5D6"/>
                </a:solidFill>
                <a:latin typeface="Apple SD Gothic Neo" pitchFamily="34" charset="0"/>
                <a:ea typeface="Apple SD Gothic Neo" pitchFamily="34" charset="-122"/>
                <a:cs typeface="Apple SD Gothic Neo" pitchFamily="34" charset="-120"/>
              </a:rPr>
              <a:t>현업·IT를 위한 에이전트 빌더</a:t>
            </a:r>
            <a:endParaRPr lang="en-US" sz="1100" dirty="0"/>
          </a:p>
        </p:txBody>
      </p:sp>
      <p:sp>
        <p:nvSpPr>
          <p:cNvPr id="13" name="Text 10"/>
          <p:cNvSpPr/>
          <p:nvPr/>
        </p:nvSpPr>
        <p:spPr>
          <a:xfrm>
            <a:off x="841248" y="4114800"/>
            <a:ext cx="3108960" cy="1280160"/>
          </a:xfrm>
          <a:prstGeom prst="rect">
            <a:avLst/>
          </a:prstGeom>
          <a:noFill/>
          <a:ln/>
        </p:spPr>
        <p:txBody>
          <a:bodyPr wrap="square" rtlCol="0" anchor="t"/>
          <a:lstStyle/>
          <a:p>
            <a:pPr marL="152400" indent="-152400">
              <a:lnSpc>
                <a:spcPct val="110000"/>
              </a:lnSpc>
              <a:spcAft>
                <a:spcPts val="600"/>
              </a:spcAft>
              <a:buSzPct val="100000"/>
              <a:buChar char="•"/>
            </a:pPr>
            <a:r>
              <a:rPr lang="en-US" sz="1100" dirty="0">
                <a:solidFill>
                  <a:srgbClr val="DBE7F6"/>
                </a:solidFill>
                <a:latin typeface="Apple SD Gothic Neo" pitchFamily="34" charset="0"/>
                <a:ea typeface="Apple SD Gothic Neo" pitchFamily="34" charset="-122"/>
                <a:cs typeface="Apple SD Gothic Neo" pitchFamily="34" charset="-120"/>
              </a:rPr>
              <a:t>코드 없이 업무 에이전트 제작</a:t>
            </a:r>
            <a:endParaRPr lang="en-US" sz="1100" dirty="0"/>
          </a:p>
          <a:p>
            <a:pPr marL="152400" indent="-152400">
              <a:lnSpc>
                <a:spcPct val="110000"/>
              </a:lnSpc>
              <a:spcAft>
                <a:spcPts val="600"/>
              </a:spcAft>
              <a:buSzPct val="100000"/>
              <a:buChar char="•"/>
            </a:pPr>
            <a:r>
              <a:rPr lang="en-US" sz="1100" dirty="0">
                <a:solidFill>
                  <a:srgbClr val="DBE7F6"/>
                </a:solidFill>
                <a:latin typeface="Apple SD Gothic Neo" pitchFamily="34" charset="0"/>
                <a:ea typeface="Apple SD Gothic Neo" pitchFamily="34" charset="-122"/>
                <a:cs typeface="Apple SD Gothic Neo" pitchFamily="34" charset="-120"/>
              </a:rPr>
              <a:t>M365·Teams로 바로 게시 (GA)</a:t>
            </a:r>
            <a:endParaRPr lang="en-US" sz="1100" dirty="0"/>
          </a:p>
          <a:p>
            <a:pPr marL="152400" indent="-152400">
              <a:lnSpc>
                <a:spcPct val="110000"/>
              </a:lnSpc>
              <a:spcAft>
                <a:spcPts val="600"/>
              </a:spcAft>
              <a:buSzPct val="100000"/>
              <a:buChar char="•"/>
            </a:pPr>
            <a:r>
              <a:rPr lang="en-US" sz="1100" dirty="0">
                <a:solidFill>
                  <a:srgbClr val="DBE7F6"/>
                </a:solidFill>
                <a:latin typeface="Apple SD Gothic Neo" pitchFamily="34" charset="0"/>
                <a:ea typeface="Apple SD Gothic Neo" pitchFamily="34" charset="-122"/>
                <a:cs typeface="Apple SD Gothic Neo" pitchFamily="34" charset="-120"/>
              </a:rPr>
              <a:t>Foundry와 상호운용</a:t>
            </a:r>
            <a:endParaRPr lang="en-US" sz="1100" dirty="0"/>
          </a:p>
        </p:txBody>
      </p:sp>
      <p:sp>
        <p:nvSpPr>
          <p:cNvPr id="14" name="Shape 11"/>
          <p:cNvSpPr/>
          <p:nvPr/>
        </p:nvSpPr>
        <p:spPr>
          <a:xfrm>
            <a:off x="2034540" y="5504688"/>
            <a:ext cx="658368" cy="274320"/>
          </a:xfrm>
          <a:prstGeom prst="roundRect">
            <a:avLst>
              <a:gd name="adj" fmla="val 50000"/>
            </a:avLst>
          </a:prstGeom>
          <a:solidFill>
            <a:srgbClr val="2E9E6B"/>
          </a:solidFill>
          <a:ln/>
        </p:spPr>
      </p:sp>
      <p:sp>
        <p:nvSpPr>
          <p:cNvPr id="15" name="Text 12"/>
          <p:cNvSpPr/>
          <p:nvPr/>
        </p:nvSpPr>
        <p:spPr>
          <a:xfrm>
            <a:off x="2034540" y="5504688"/>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GA</a:t>
            </a:r>
            <a:endParaRPr lang="en-US" sz="1000" dirty="0"/>
          </a:p>
        </p:txBody>
      </p:sp>
      <p:sp>
        <p:nvSpPr>
          <p:cNvPr id="16" name="Shape 13"/>
          <p:cNvSpPr/>
          <p:nvPr/>
        </p:nvSpPr>
        <p:spPr>
          <a:xfrm>
            <a:off x="4279392" y="1828800"/>
            <a:ext cx="3611880" cy="4023360"/>
          </a:xfrm>
          <a:prstGeom prst="roundRect">
            <a:avLst>
              <a:gd name="adj" fmla="val 2278"/>
            </a:avLst>
          </a:prstGeom>
          <a:solidFill>
            <a:srgbClr val="1A3D6D"/>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7" name="Shape 14"/>
          <p:cNvSpPr/>
          <p:nvPr/>
        </p:nvSpPr>
        <p:spPr>
          <a:xfrm>
            <a:off x="5628132" y="2148840"/>
            <a:ext cx="914400" cy="914400"/>
          </a:xfrm>
          <a:prstGeom prst="ellipse">
            <a:avLst/>
          </a:prstGeom>
          <a:solidFill>
            <a:srgbClr val="2F5B93"/>
          </a:solidFill>
          <a:ln/>
        </p:spPr>
      </p:sp>
      <p:pic>
        <p:nvPicPr>
          <p:cNvPr id="18" name="Image 1" descr="preencoded.png">    </p:cNvPr>
          <p:cNvPicPr>
            <a:picLocks noChangeAspect="1"/>
          </p:cNvPicPr>
          <p:nvPr/>
        </p:nvPicPr>
        <p:blipFill>
          <a:blip r:embed="rId2"/>
          <a:stretch>
            <a:fillRect/>
          </a:stretch>
        </p:blipFill>
        <p:spPr>
          <a:xfrm>
            <a:off x="5865876" y="2386584"/>
            <a:ext cx="438912" cy="438912"/>
          </a:xfrm>
          <a:prstGeom prst="rect">
            <a:avLst/>
          </a:prstGeom>
        </p:spPr>
      </p:pic>
      <p:sp>
        <p:nvSpPr>
          <p:cNvPr id="19" name="Text 15"/>
          <p:cNvSpPr/>
          <p:nvPr/>
        </p:nvSpPr>
        <p:spPr>
          <a:xfrm>
            <a:off x="4279392" y="3154680"/>
            <a:ext cx="3611880" cy="384048"/>
          </a:xfrm>
          <a:prstGeom prst="rect">
            <a:avLst/>
          </a:prstGeom>
          <a:noFill/>
          <a:ln/>
        </p:spPr>
        <p:txBody>
          <a:bodyPr wrap="square" rtlCol="0" anchor="ctr"/>
          <a:lstStyle/>
          <a:p>
            <a:pPr algn="ct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⑤ M365 · Agent 365</a:t>
            </a:r>
            <a:endParaRPr lang="en-US" sz="1600" dirty="0"/>
          </a:p>
        </p:txBody>
      </p:sp>
      <p:sp>
        <p:nvSpPr>
          <p:cNvPr id="20" name="Text 16"/>
          <p:cNvSpPr/>
          <p:nvPr/>
        </p:nvSpPr>
        <p:spPr>
          <a:xfrm>
            <a:off x="4416552" y="3547872"/>
            <a:ext cx="3337560" cy="457200"/>
          </a:xfrm>
          <a:prstGeom prst="rect">
            <a:avLst/>
          </a:prstGeom>
          <a:noFill/>
          <a:ln/>
        </p:spPr>
        <p:txBody>
          <a:bodyPr wrap="square" rtlCol="0" anchor="ctr"/>
          <a:lstStyle/>
          <a:p>
            <a:pPr algn="ctr" indent="0" marL="0">
              <a:lnSpc>
                <a:spcPct val="110000"/>
              </a:lnSpc>
              <a:buNone/>
            </a:pPr>
            <a:r>
              <a:rPr lang="en-US" sz="1100" dirty="0">
                <a:solidFill>
                  <a:srgbClr val="7AA5D6"/>
                </a:solidFill>
                <a:latin typeface="Apple SD Gothic Neo" pitchFamily="34" charset="0"/>
                <a:ea typeface="Apple SD Gothic Neo" pitchFamily="34" charset="-122"/>
                <a:cs typeface="Apple SD Gothic Neo" pitchFamily="34" charset="-120"/>
              </a:rPr>
              <a:t>일하는 현장의 에이전트</a:t>
            </a:r>
            <a:endParaRPr lang="en-US" sz="1100" dirty="0"/>
          </a:p>
        </p:txBody>
      </p:sp>
      <p:sp>
        <p:nvSpPr>
          <p:cNvPr id="21" name="Text 17"/>
          <p:cNvSpPr/>
          <p:nvPr/>
        </p:nvSpPr>
        <p:spPr>
          <a:xfrm>
            <a:off x="4572000" y="4114800"/>
            <a:ext cx="3108960" cy="1280160"/>
          </a:xfrm>
          <a:prstGeom prst="rect">
            <a:avLst/>
          </a:prstGeom>
          <a:noFill/>
          <a:ln/>
        </p:spPr>
        <p:txBody>
          <a:bodyPr wrap="square" rtlCol="0" anchor="t"/>
          <a:lstStyle/>
          <a:p>
            <a:pPr marL="152400" indent="-152400">
              <a:lnSpc>
                <a:spcPct val="110000"/>
              </a:lnSpc>
              <a:spcAft>
                <a:spcPts val="600"/>
              </a:spcAft>
              <a:buSzPct val="100000"/>
              <a:buChar char="•"/>
            </a:pPr>
            <a:r>
              <a:rPr lang="en-US" sz="1100" dirty="0">
                <a:solidFill>
                  <a:srgbClr val="DBE7F6"/>
                </a:solidFill>
                <a:latin typeface="Apple SD Gothic Neo" pitchFamily="34" charset="0"/>
                <a:ea typeface="Apple SD Gothic Neo" pitchFamily="34" charset="-122"/>
                <a:cs typeface="Apple SD Gothic Neo" pitchFamily="34" charset="-120"/>
              </a:rPr>
              <a:t>Teams·Outlook 등 업무 흐름 안에서</a:t>
            </a:r>
            <a:endParaRPr lang="en-US" sz="1100" dirty="0"/>
          </a:p>
          <a:p>
            <a:pPr marL="152400" indent="-152400">
              <a:lnSpc>
                <a:spcPct val="110000"/>
              </a:lnSpc>
              <a:spcAft>
                <a:spcPts val="600"/>
              </a:spcAft>
              <a:buSzPct val="100000"/>
              <a:buChar char="•"/>
            </a:pPr>
            <a:r>
              <a:rPr lang="en-US" sz="1100" dirty="0">
                <a:solidFill>
                  <a:srgbClr val="DBE7F6"/>
                </a:solidFill>
                <a:latin typeface="Apple SD Gothic Neo" pitchFamily="34" charset="0"/>
                <a:ea typeface="Apple SD Gothic Neo" pitchFamily="34" charset="-122"/>
                <a:cs typeface="Apple SD Gothic Neo" pitchFamily="34" charset="-120"/>
              </a:rPr>
              <a:t>Agent 365로 에이전트를 관리·운영</a:t>
            </a:r>
            <a:endParaRPr lang="en-US" sz="1100" dirty="0"/>
          </a:p>
          <a:p>
            <a:pPr marL="152400" indent="-152400">
              <a:lnSpc>
                <a:spcPct val="110000"/>
              </a:lnSpc>
              <a:spcAft>
                <a:spcPts val="600"/>
              </a:spcAft>
              <a:buSzPct val="100000"/>
              <a:buChar char="•"/>
            </a:pPr>
            <a:r>
              <a:rPr lang="en-US" sz="1100" dirty="0">
                <a:solidFill>
                  <a:srgbClr val="DBE7F6"/>
                </a:solidFill>
                <a:latin typeface="Apple SD Gothic Neo" pitchFamily="34" charset="0"/>
                <a:ea typeface="Apple SD Gothic Neo" pitchFamily="34" charset="-122"/>
                <a:cs typeface="Apple SD Gothic Neo" pitchFamily="34" charset="-120"/>
              </a:rPr>
              <a:t>Entra·Purview로 통제</a:t>
            </a:r>
            <a:endParaRPr lang="en-US" sz="1100" dirty="0"/>
          </a:p>
        </p:txBody>
      </p:sp>
      <p:sp>
        <p:nvSpPr>
          <p:cNvPr id="22" name="Shape 18"/>
          <p:cNvSpPr/>
          <p:nvPr/>
        </p:nvSpPr>
        <p:spPr>
          <a:xfrm>
            <a:off x="5765292" y="5504688"/>
            <a:ext cx="658368" cy="274320"/>
          </a:xfrm>
          <a:prstGeom prst="roundRect">
            <a:avLst>
              <a:gd name="adj" fmla="val 50000"/>
            </a:avLst>
          </a:prstGeom>
          <a:solidFill>
            <a:srgbClr val="2E9E6B"/>
          </a:solidFill>
          <a:ln/>
        </p:spPr>
      </p:sp>
      <p:sp>
        <p:nvSpPr>
          <p:cNvPr id="23" name="Text 19"/>
          <p:cNvSpPr/>
          <p:nvPr/>
        </p:nvSpPr>
        <p:spPr>
          <a:xfrm>
            <a:off x="5765292" y="5504688"/>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GA</a:t>
            </a:r>
            <a:endParaRPr lang="en-US" sz="1000" dirty="0"/>
          </a:p>
        </p:txBody>
      </p:sp>
      <p:sp>
        <p:nvSpPr>
          <p:cNvPr id="24" name="Shape 20"/>
          <p:cNvSpPr/>
          <p:nvPr/>
        </p:nvSpPr>
        <p:spPr>
          <a:xfrm>
            <a:off x="8010144" y="1828800"/>
            <a:ext cx="3611880" cy="4023360"/>
          </a:xfrm>
          <a:prstGeom prst="roundRect">
            <a:avLst>
              <a:gd name="adj" fmla="val 2278"/>
            </a:avLst>
          </a:prstGeom>
          <a:solidFill>
            <a:srgbClr val="1A3D6D"/>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5" name="Shape 21"/>
          <p:cNvSpPr/>
          <p:nvPr/>
        </p:nvSpPr>
        <p:spPr>
          <a:xfrm>
            <a:off x="9358884" y="2148840"/>
            <a:ext cx="914400" cy="914400"/>
          </a:xfrm>
          <a:prstGeom prst="ellipse">
            <a:avLst/>
          </a:prstGeom>
          <a:solidFill>
            <a:srgbClr val="2F5B93"/>
          </a:solidFill>
          <a:ln/>
        </p:spPr>
      </p:sp>
      <p:pic>
        <p:nvPicPr>
          <p:cNvPr id="26" name="Image 2" descr="preencoded.png">    </p:cNvPr>
          <p:cNvPicPr>
            <a:picLocks noChangeAspect="1"/>
          </p:cNvPicPr>
          <p:nvPr/>
        </p:nvPicPr>
        <p:blipFill>
          <a:blip r:embed="rId3"/>
          <a:stretch>
            <a:fillRect/>
          </a:stretch>
        </p:blipFill>
        <p:spPr>
          <a:xfrm>
            <a:off x="9596628" y="2386584"/>
            <a:ext cx="438912" cy="438912"/>
          </a:xfrm>
          <a:prstGeom prst="rect">
            <a:avLst/>
          </a:prstGeom>
        </p:spPr>
      </p:pic>
      <p:sp>
        <p:nvSpPr>
          <p:cNvPr id="27" name="Text 22"/>
          <p:cNvSpPr/>
          <p:nvPr/>
        </p:nvSpPr>
        <p:spPr>
          <a:xfrm>
            <a:off x="8010144" y="3154680"/>
            <a:ext cx="3611880" cy="384048"/>
          </a:xfrm>
          <a:prstGeom prst="rect">
            <a:avLst/>
          </a:prstGeom>
          <a:noFill/>
          <a:ln/>
        </p:spPr>
        <p:txBody>
          <a:bodyPr wrap="square" rtlCol="0" anchor="ctr"/>
          <a:lstStyle/>
          <a:p>
            <a:pPr algn="ct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⑥ GitHub Copilot</a:t>
            </a:r>
            <a:endParaRPr lang="en-US" sz="1600" dirty="0"/>
          </a:p>
        </p:txBody>
      </p:sp>
      <p:sp>
        <p:nvSpPr>
          <p:cNvPr id="28" name="Text 23"/>
          <p:cNvSpPr/>
          <p:nvPr/>
        </p:nvSpPr>
        <p:spPr>
          <a:xfrm>
            <a:off x="8147304" y="3547872"/>
            <a:ext cx="3337560" cy="457200"/>
          </a:xfrm>
          <a:prstGeom prst="rect">
            <a:avLst/>
          </a:prstGeom>
          <a:noFill/>
          <a:ln/>
        </p:spPr>
        <p:txBody>
          <a:bodyPr wrap="square" rtlCol="0" anchor="ctr"/>
          <a:lstStyle/>
          <a:p>
            <a:pPr algn="ctr" indent="0" marL="0">
              <a:lnSpc>
                <a:spcPct val="110000"/>
              </a:lnSpc>
              <a:buNone/>
            </a:pPr>
            <a:r>
              <a:rPr lang="en-US" sz="1100" dirty="0">
                <a:solidFill>
                  <a:srgbClr val="7AA5D6"/>
                </a:solidFill>
                <a:latin typeface="Apple SD Gothic Neo" pitchFamily="34" charset="0"/>
                <a:ea typeface="Apple SD Gothic Neo" pitchFamily="34" charset="-122"/>
                <a:cs typeface="Apple SD Gothic Neo" pitchFamily="34" charset="-120"/>
              </a:rPr>
              <a:t>에이전트를 만드는 생산성</a:t>
            </a:r>
            <a:endParaRPr lang="en-US" sz="1100" dirty="0"/>
          </a:p>
        </p:txBody>
      </p:sp>
      <p:sp>
        <p:nvSpPr>
          <p:cNvPr id="29" name="Text 24"/>
          <p:cNvSpPr/>
          <p:nvPr/>
        </p:nvSpPr>
        <p:spPr>
          <a:xfrm>
            <a:off x="8302752" y="4114800"/>
            <a:ext cx="3108960" cy="1280160"/>
          </a:xfrm>
          <a:prstGeom prst="rect">
            <a:avLst/>
          </a:prstGeom>
          <a:noFill/>
          <a:ln/>
        </p:spPr>
        <p:txBody>
          <a:bodyPr wrap="square" rtlCol="0" anchor="t"/>
          <a:lstStyle/>
          <a:p>
            <a:pPr marL="152400" indent="-152400">
              <a:lnSpc>
                <a:spcPct val="110000"/>
              </a:lnSpc>
              <a:spcAft>
                <a:spcPts val="600"/>
              </a:spcAft>
              <a:buSzPct val="100000"/>
              <a:buChar char="•"/>
            </a:pPr>
            <a:r>
              <a:rPr lang="en-US" sz="1100" dirty="0">
                <a:solidFill>
                  <a:srgbClr val="DBE7F6"/>
                </a:solidFill>
                <a:latin typeface="Apple SD Gothic Neo" pitchFamily="34" charset="0"/>
                <a:ea typeface="Apple SD Gothic Neo" pitchFamily="34" charset="-122"/>
                <a:cs typeface="Apple SD Gothic Neo" pitchFamily="34" charset="-120"/>
              </a:rPr>
              <a:t>세계 최대 개발 생태계</a:t>
            </a:r>
            <a:endParaRPr lang="en-US" sz="1100" dirty="0"/>
          </a:p>
          <a:p>
            <a:pPr marL="152400" indent="-152400">
              <a:lnSpc>
                <a:spcPct val="110000"/>
              </a:lnSpc>
              <a:spcAft>
                <a:spcPts val="600"/>
              </a:spcAft>
              <a:buSzPct val="100000"/>
              <a:buChar char="•"/>
            </a:pPr>
            <a:r>
              <a:rPr lang="en-US" sz="1100" dirty="0">
                <a:solidFill>
                  <a:srgbClr val="DBE7F6"/>
                </a:solidFill>
                <a:latin typeface="Apple SD Gothic Neo" pitchFamily="34" charset="0"/>
                <a:ea typeface="Apple SD Gothic Neo" pitchFamily="34" charset="-122"/>
                <a:cs typeface="Apple SD Gothic Neo" pitchFamily="34" charset="-120"/>
              </a:rPr>
              <a:t>코딩 에이전트로 개발 가속</a:t>
            </a:r>
            <a:endParaRPr lang="en-US" sz="1100" dirty="0"/>
          </a:p>
          <a:p>
            <a:pPr marL="152400" indent="-152400">
              <a:lnSpc>
                <a:spcPct val="110000"/>
              </a:lnSpc>
              <a:spcAft>
                <a:spcPts val="600"/>
              </a:spcAft>
              <a:buSzPct val="100000"/>
              <a:buChar char="•"/>
            </a:pPr>
            <a:r>
              <a:rPr lang="en-US" sz="1100" dirty="0">
                <a:solidFill>
                  <a:srgbClr val="DBE7F6"/>
                </a:solidFill>
                <a:latin typeface="Apple SD Gothic Neo" pitchFamily="34" charset="0"/>
                <a:ea typeface="Apple SD Gothic Neo" pitchFamily="34" charset="-122"/>
                <a:cs typeface="Apple SD Gothic Neo" pitchFamily="34" charset="-120"/>
              </a:rPr>
              <a:t>Foundry와 함께 앱·에이전트 구축</a:t>
            </a:r>
            <a:endParaRPr lang="en-US" sz="1100" dirty="0"/>
          </a:p>
        </p:txBody>
      </p:sp>
      <p:sp>
        <p:nvSpPr>
          <p:cNvPr id="30" name="Shape 25"/>
          <p:cNvSpPr/>
          <p:nvPr/>
        </p:nvSpPr>
        <p:spPr>
          <a:xfrm>
            <a:off x="9496044" y="5504688"/>
            <a:ext cx="658368" cy="274320"/>
          </a:xfrm>
          <a:prstGeom prst="roundRect">
            <a:avLst>
              <a:gd name="adj" fmla="val 50000"/>
            </a:avLst>
          </a:prstGeom>
          <a:solidFill>
            <a:srgbClr val="2E9E6B"/>
          </a:solidFill>
          <a:ln/>
        </p:spPr>
      </p:sp>
      <p:sp>
        <p:nvSpPr>
          <p:cNvPr id="31" name="Text 26"/>
          <p:cNvSpPr/>
          <p:nvPr/>
        </p:nvSpPr>
        <p:spPr>
          <a:xfrm>
            <a:off x="9496044" y="5504688"/>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GA</a:t>
            </a:r>
            <a:endParaRPr lang="en-US" sz="1000" dirty="0"/>
          </a:p>
        </p:txBody>
      </p:sp>
      <p:sp>
        <p:nvSpPr>
          <p:cNvPr id="32" name="Text 27"/>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33" name="Text 28"/>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20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4F8FB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7. ENTERPRISE AI PLATFORM</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한눈에 보는 6계층 아키텍처</a:t>
            </a:r>
            <a:endParaRPr lang="en-US" sz="3000" dirty="0"/>
          </a:p>
        </p:txBody>
      </p:sp>
      <p:sp>
        <p:nvSpPr>
          <p:cNvPr id="8" name="Shape 6"/>
          <p:cNvSpPr/>
          <p:nvPr/>
        </p:nvSpPr>
        <p:spPr>
          <a:xfrm>
            <a:off x="1188720" y="1691640"/>
            <a:ext cx="8229600" cy="658368"/>
          </a:xfrm>
          <a:prstGeom prst="roundRect">
            <a:avLst>
              <a:gd name="adj" fmla="val 8333"/>
            </a:avLst>
          </a:prstGeom>
          <a:solidFill>
            <a:srgbClr val="2F5B93"/>
          </a:solidFill>
          <a:ln/>
          <a:effectLst>
            <a:outerShdw sx="100000" sy="100000" kx="0" ky="0" algn="bl" rotWithShape="0" blurRad="63500" dist="25400" dir="5400000">
              <a:srgbClr val="1A2A44">
                <a:alpha val="12000"/>
              </a:srgbClr>
            </a:outerShdw>
          </a:effectLst>
        </p:spPr>
      </p:sp>
      <p:pic>
        <p:nvPicPr>
          <p:cNvPr id="9" name="Image 0" descr="preencoded.png">    </p:cNvPr>
          <p:cNvPicPr>
            <a:picLocks noChangeAspect="1"/>
          </p:cNvPicPr>
          <p:nvPr/>
        </p:nvPicPr>
        <p:blipFill>
          <a:blip r:embed="rId1"/>
          <a:stretch>
            <a:fillRect/>
          </a:stretch>
        </p:blipFill>
        <p:spPr>
          <a:xfrm>
            <a:off x="1417320" y="1837944"/>
            <a:ext cx="365760" cy="365760"/>
          </a:xfrm>
          <a:prstGeom prst="rect">
            <a:avLst/>
          </a:prstGeom>
        </p:spPr>
      </p:pic>
      <p:sp>
        <p:nvSpPr>
          <p:cNvPr id="10" name="Text 7"/>
          <p:cNvSpPr/>
          <p:nvPr/>
        </p:nvSpPr>
        <p:spPr>
          <a:xfrm>
            <a:off x="1965960" y="1746504"/>
            <a:ext cx="2926080" cy="548640"/>
          </a:xfrm>
          <a:prstGeom prst="rect">
            <a:avLst/>
          </a:prstGeom>
          <a:noFill/>
          <a:ln/>
        </p:spPr>
        <p:txBody>
          <a:bodyPr wrap="square" rtlCol="0" anchor="ct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Experience</a:t>
            </a:r>
            <a:endParaRPr lang="en-US" sz="1400" dirty="0"/>
          </a:p>
        </p:txBody>
      </p:sp>
      <p:sp>
        <p:nvSpPr>
          <p:cNvPr id="11" name="Text 8"/>
          <p:cNvSpPr/>
          <p:nvPr/>
        </p:nvSpPr>
        <p:spPr>
          <a:xfrm>
            <a:off x="4937760" y="1746504"/>
            <a:ext cx="4343400" cy="548640"/>
          </a:xfrm>
          <a:prstGeom prst="rect">
            <a:avLst/>
          </a:prstGeom>
          <a:noFill/>
          <a:ln/>
        </p:spPr>
        <p:txBody>
          <a:bodyPr wrap="square" rtlCol="0" anchor="ctr"/>
          <a:lstStyle/>
          <a:p>
            <a:pPr algn="r" indent="0" marL="0">
              <a:buNone/>
            </a:pPr>
            <a:r>
              <a:rPr lang="en-US" sz="1050" dirty="0">
                <a:solidFill>
                  <a:srgbClr val="DBE7F6"/>
                </a:solidFill>
                <a:latin typeface="Apple SD Gothic Neo" pitchFamily="34" charset="0"/>
                <a:ea typeface="Apple SD Gothic Neo" pitchFamily="34" charset="-122"/>
                <a:cs typeface="Apple SD Gothic Neo" pitchFamily="34" charset="-120"/>
              </a:rPr>
              <a:t>M365 · Teams · Copilot Studio 앱</a:t>
            </a:r>
            <a:endParaRPr lang="en-US" sz="1050" dirty="0"/>
          </a:p>
        </p:txBody>
      </p:sp>
      <p:sp>
        <p:nvSpPr>
          <p:cNvPr id="12" name="Shape 9"/>
          <p:cNvSpPr/>
          <p:nvPr/>
        </p:nvSpPr>
        <p:spPr>
          <a:xfrm>
            <a:off x="1188720" y="2395728"/>
            <a:ext cx="8229600" cy="658368"/>
          </a:xfrm>
          <a:prstGeom prst="roundRect">
            <a:avLst>
              <a:gd name="adj" fmla="val 8333"/>
            </a:avLst>
          </a:prstGeom>
          <a:solidFill>
            <a:srgbClr val="1A3D6D"/>
          </a:solidFill>
          <a:ln/>
          <a:effectLst>
            <a:outerShdw sx="100000" sy="100000" kx="0" ky="0" algn="bl" rotWithShape="0" blurRad="63500" dist="25400" dir="5400000">
              <a:srgbClr val="1A2A44">
                <a:alpha val="12000"/>
              </a:srgbClr>
            </a:outerShdw>
          </a:effectLst>
        </p:spPr>
      </p:sp>
      <p:pic>
        <p:nvPicPr>
          <p:cNvPr id="13" name="Image 1" descr="preencoded.png">    </p:cNvPr>
          <p:cNvPicPr>
            <a:picLocks noChangeAspect="1"/>
          </p:cNvPicPr>
          <p:nvPr/>
        </p:nvPicPr>
        <p:blipFill>
          <a:blip r:embed="rId2"/>
          <a:stretch>
            <a:fillRect/>
          </a:stretch>
        </p:blipFill>
        <p:spPr>
          <a:xfrm>
            <a:off x="1417320" y="2542032"/>
            <a:ext cx="365760" cy="365760"/>
          </a:xfrm>
          <a:prstGeom prst="rect">
            <a:avLst/>
          </a:prstGeom>
        </p:spPr>
      </p:pic>
      <p:sp>
        <p:nvSpPr>
          <p:cNvPr id="14" name="Text 10"/>
          <p:cNvSpPr/>
          <p:nvPr/>
        </p:nvSpPr>
        <p:spPr>
          <a:xfrm>
            <a:off x="1965960" y="2450592"/>
            <a:ext cx="2926080" cy="548640"/>
          </a:xfrm>
          <a:prstGeom prst="rect">
            <a:avLst/>
          </a:prstGeom>
          <a:noFill/>
          <a:ln/>
        </p:spPr>
        <p:txBody>
          <a:bodyPr wrap="square" rtlCol="0" anchor="ct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Agents</a:t>
            </a:r>
            <a:endParaRPr lang="en-US" sz="1400" dirty="0"/>
          </a:p>
        </p:txBody>
      </p:sp>
      <p:sp>
        <p:nvSpPr>
          <p:cNvPr id="15" name="Text 11"/>
          <p:cNvSpPr/>
          <p:nvPr/>
        </p:nvSpPr>
        <p:spPr>
          <a:xfrm>
            <a:off x="4937760" y="2450592"/>
            <a:ext cx="4343400" cy="548640"/>
          </a:xfrm>
          <a:prstGeom prst="rect">
            <a:avLst/>
          </a:prstGeom>
          <a:noFill/>
          <a:ln/>
        </p:spPr>
        <p:txBody>
          <a:bodyPr wrap="square" rtlCol="0" anchor="ctr"/>
          <a:lstStyle/>
          <a:p>
            <a:pPr algn="r" indent="0" marL="0">
              <a:buNone/>
            </a:pPr>
            <a:r>
              <a:rPr lang="en-US" sz="1050" dirty="0">
                <a:solidFill>
                  <a:srgbClr val="DBE7F6"/>
                </a:solidFill>
                <a:latin typeface="Apple SD Gothic Neo" pitchFamily="34" charset="0"/>
                <a:ea typeface="Apple SD Gothic Neo" pitchFamily="34" charset="-122"/>
                <a:cs typeface="Apple SD Gothic Neo" pitchFamily="34" charset="-120"/>
              </a:rPr>
              <a:t>Foundry Agent Service · Copilot 에이전트</a:t>
            </a:r>
            <a:endParaRPr lang="en-US" sz="1050" dirty="0"/>
          </a:p>
        </p:txBody>
      </p:sp>
      <p:sp>
        <p:nvSpPr>
          <p:cNvPr id="16" name="Shape 12"/>
          <p:cNvSpPr/>
          <p:nvPr/>
        </p:nvSpPr>
        <p:spPr>
          <a:xfrm>
            <a:off x="1188720" y="3099816"/>
            <a:ext cx="8229600" cy="658368"/>
          </a:xfrm>
          <a:prstGeom prst="roundRect">
            <a:avLst>
              <a:gd name="adj" fmla="val 8333"/>
            </a:avLst>
          </a:prstGeom>
          <a:solidFill>
            <a:srgbClr val="2F5B93"/>
          </a:solidFill>
          <a:ln/>
          <a:effectLst>
            <a:outerShdw sx="100000" sy="100000" kx="0" ky="0" algn="bl" rotWithShape="0" blurRad="63500" dist="25400" dir="5400000">
              <a:srgbClr val="1A2A44">
                <a:alpha val="12000"/>
              </a:srgbClr>
            </a:outerShdw>
          </a:effectLst>
        </p:spPr>
      </p:sp>
      <p:pic>
        <p:nvPicPr>
          <p:cNvPr id="17" name="Image 2" descr="preencoded.png">    </p:cNvPr>
          <p:cNvPicPr>
            <a:picLocks noChangeAspect="1"/>
          </p:cNvPicPr>
          <p:nvPr/>
        </p:nvPicPr>
        <p:blipFill>
          <a:blip r:embed="rId3"/>
          <a:stretch>
            <a:fillRect/>
          </a:stretch>
        </p:blipFill>
        <p:spPr>
          <a:xfrm>
            <a:off x="1417320" y="3246120"/>
            <a:ext cx="365760" cy="365760"/>
          </a:xfrm>
          <a:prstGeom prst="rect">
            <a:avLst/>
          </a:prstGeom>
        </p:spPr>
      </p:pic>
      <p:sp>
        <p:nvSpPr>
          <p:cNvPr id="18" name="Text 13"/>
          <p:cNvSpPr/>
          <p:nvPr/>
        </p:nvSpPr>
        <p:spPr>
          <a:xfrm>
            <a:off x="1965960" y="3154680"/>
            <a:ext cx="2926080" cy="548640"/>
          </a:xfrm>
          <a:prstGeom prst="rect">
            <a:avLst/>
          </a:prstGeom>
          <a:noFill/>
          <a:ln/>
        </p:spPr>
        <p:txBody>
          <a:bodyPr wrap="square" rtlCol="0" anchor="ct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Agent Factory</a:t>
            </a:r>
            <a:endParaRPr lang="en-US" sz="1400" dirty="0"/>
          </a:p>
        </p:txBody>
      </p:sp>
      <p:sp>
        <p:nvSpPr>
          <p:cNvPr id="19" name="Text 14"/>
          <p:cNvSpPr/>
          <p:nvPr/>
        </p:nvSpPr>
        <p:spPr>
          <a:xfrm>
            <a:off x="4937760" y="3154680"/>
            <a:ext cx="4343400" cy="548640"/>
          </a:xfrm>
          <a:prstGeom prst="rect">
            <a:avLst/>
          </a:prstGeom>
          <a:noFill/>
          <a:ln/>
        </p:spPr>
        <p:txBody>
          <a:bodyPr wrap="square" rtlCol="0" anchor="ctr"/>
          <a:lstStyle/>
          <a:p>
            <a:pPr algn="r" indent="0" marL="0">
              <a:buNone/>
            </a:pPr>
            <a:r>
              <a:rPr lang="en-US" sz="1050" dirty="0">
                <a:solidFill>
                  <a:srgbClr val="DBE7F6"/>
                </a:solidFill>
                <a:latin typeface="Apple SD Gothic Neo" pitchFamily="34" charset="0"/>
                <a:ea typeface="Apple SD Gothic Neo" pitchFamily="34" charset="-122"/>
                <a:cs typeface="Apple SD Gothic Neo" pitchFamily="34" charset="-120"/>
              </a:rPr>
              <a:t>Copilot Studio(현업·IT) · Foundry(개발자)</a:t>
            </a:r>
            <a:endParaRPr lang="en-US" sz="1050" dirty="0"/>
          </a:p>
        </p:txBody>
      </p:sp>
      <p:sp>
        <p:nvSpPr>
          <p:cNvPr id="20" name="Shape 15"/>
          <p:cNvSpPr/>
          <p:nvPr/>
        </p:nvSpPr>
        <p:spPr>
          <a:xfrm>
            <a:off x="1188720" y="3803904"/>
            <a:ext cx="8229600" cy="658368"/>
          </a:xfrm>
          <a:prstGeom prst="roundRect">
            <a:avLst>
              <a:gd name="adj" fmla="val 8333"/>
            </a:avLst>
          </a:prstGeom>
          <a:solidFill>
            <a:srgbClr val="1A3D6D"/>
          </a:solidFill>
          <a:ln/>
          <a:effectLst>
            <a:outerShdw sx="100000" sy="100000" kx="0" ky="0" algn="bl" rotWithShape="0" blurRad="63500" dist="25400" dir="5400000">
              <a:srgbClr val="1A2A44">
                <a:alpha val="12000"/>
              </a:srgbClr>
            </a:outerShdw>
          </a:effectLst>
        </p:spPr>
      </p:sp>
      <p:pic>
        <p:nvPicPr>
          <p:cNvPr id="21" name="Image 3" descr="preencoded.png">    </p:cNvPr>
          <p:cNvPicPr>
            <a:picLocks noChangeAspect="1"/>
          </p:cNvPicPr>
          <p:nvPr/>
        </p:nvPicPr>
        <p:blipFill>
          <a:blip r:embed="rId4"/>
          <a:stretch>
            <a:fillRect/>
          </a:stretch>
        </p:blipFill>
        <p:spPr>
          <a:xfrm>
            <a:off x="1417320" y="3950208"/>
            <a:ext cx="365760" cy="365760"/>
          </a:xfrm>
          <a:prstGeom prst="rect">
            <a:avLst/>
          </a:prstGeom>
        </p:spPr>
      </p:pic>
      <p:sp>
        <p:nvSpPr>
          <p:cNvPr id="22" name="Text 16"/>
          <p:cNvSpPr/>
          <p:nvPr/>
        </p:nvSpPr>
        <p:spPr>
          <a:xfrm>
            <a:off x="1965960" y="3858768"/>
            <a:ext cx="2926080" cy="548640"/>
          </a:xfrm>
          <a:prstGeom prst="rect">
            <a:avLst/>
          </a:prstGeom>
          <a:noFill/>
          <a:ln/>
        </p:spPr>
        <p:txBody>
          <a:bodyPr wrap="square" rtlCol="0" anchor="ct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Ontology / Intelligence</a:t>
            </a:r>
            <a:endParaRPr lang="en-US" sz="1400" dirty="0"/>
          </a:p>
        </p:txBody>
      </p:sp>
      <p:sp>
        <p:nvSpPr>
          <p:cNvPr id="23" name="Text 17"/>
          <p:cNvSpPr/>
          <p:nvPr/>
        </p:nvSpPr>
        <p:spPr>
          <a:xfrm>
            <a:off x="4937760" y="3858768"/>
            <a:ext cx="4343400" cy="548640"/>
          </a:xfrm>
          <a:prstGeom prst="rect">
            <a:avLst/>
          </a:prstGeom>
          <a:noFill/>
          <a:ln/>
        </p:spPr>
        <p:txBody>
          <a:bodyPr wrap="square" rtlCol="0" anchor="ctr"/>
          <a:lstStyle/>
          <a:p>
            <a:pPr algn="r" indent="0" marL="0">
              <a:buNone/>
            </a:pPr>
            <a:r>
              <a:rPr lang="en-US" sz="1050" dirty="0">
                <a:solidFill>
                  <a:srgbClr val="DBE7F6"/>
                </a:solidFill>
                <a:latin typeface="Apple SD Gothic Neo" pitchFamily="34" charset="0"/>
                <a:ea typeface="Apple SD Gothic Neo" pitchFamily="34" charset="-122"/>
                <a:cs typeface="Apple SD Gothic Neo" pitchFamily="34" charset="-120"/>
              </a:rPr>
              <a:t>3개의 IQ · Azure AI Search</a:t>
            </a:r>
            <a:endParaRPr lang="en-US" sz="1050" dirty="0"/>
          </a:p>
        </p:txBody>
      </p:sp>
      <p:sp>
        <p:nvSpPr>
          <p:cNvPr id="24" name="Shape 18"/>
          <p:cNvSpPr/>
          <p:nvPr/>
        </p:nvSpPr>
        <p:spPr>
          <a:xfrm>
            <a:off x="1188720" y="4507992"/>
            <a:ext cx="8229600" cy="658368"/>
          </a:xfrm>
          <a:prstGeom prst="roundRect">
            <a:avLst>
              <a:gd name="adj" fmla="val 8333"/>
            </a:avLst>
          </a:prstGeom>
          <a:solidFill>
            <a:srgbClr val="2F5B93"/>
          </a:solidFill>
          <a:ln/>
          <a:effectLst>
            <a:outerShdw sx="100000" sy="100000" kx="0" ky="0" algn="bl" rotWithShape="0" blurRad="63500" dist="25400" dir="5400000">
              <a:srgbClr val="1A2A44">
                <a:alpha val="12000"/>
              </a:srgbClr>
            </a:outerShdw>
          </a:effectLst>
        </p:spPr>
      </p:sp>
      <p:pic>
        <p:nvPicPr>
          <p:cNvPr id="25" name="Image 4" descr="preencoded.png">    </p:cNvPr>
          <p:cNvPicPr>
            <a:picLocks noChangeAspect="1"/>
          </p:cNvPicPr>
          <p:nvPr/>
        </p:nvPicPr>
        <p:blipFill>
          <a:blip r:embed="rId5"/>
          <a:stretch>
            <a:fillRect/>
          </a:stretch>
        </p:blipFill>
        <p:spPr>
          <a:xfrm>
            <a:off x="1417320" y="4654296"/>
            <a:ext cx="365760" cy="365760"/>
          </a:xfrm>
          <a:prstGeom prst="rect">
            <a:avLst/>
          </a:prstGeom>
        </p:spPr>
      </p:pic>
      <p:sp>
        <p:nvSpPr>
          <p:cNvPr id="26" name="Text 19"/>
          <p:cNvSpPr/>
          <p:nvPr/>
        </p:nvSpPr>
        <p:spPr>
          <a:xfrm>
            <a:off x="1965960" y="4562856"/>
            <a:ext cx="2926080" cy="548640"/>
          </a:xfrm>
          <a:prstGeom prst="rect">
            <a:avLst/>
          </a:prstGeom>
          <a:noFill/>
          <a:ln/>
        </p:spPr>
        <p:txBody>
          <a:bodyPr wrap="square" rtlCol="0" anchor="ct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OneLake</a:t>
            </a:r>
            <a:endParaRPr lang="en-US" sz="1400" dirty="0"/>
          </a:p>
        </p:txBody>
      </p:sp>
      <p:sp>
        <p:nvSpPr>
          <p:cNvPr id="27" name="Text 20"/>
          <p:cNvSpPr/>
          <p:nvPr/>
        </p:nvSpPr>
        <p:spPr>
          <a:xfrm>
            <a:off x="4937760" y="4562856"/>
            <a:ext cx="4343400" cy="548640"/>
          </a:xfrm>
          <a:prstGeom prst="rect">
            <a:avLst/>
          </a:prstGeom>
          <a:noFill/>
          <a:ln/>
        </p:spPr>
        <p:txBody>
          <a:bodyPr wrap="square" rtlCol="0" anchor="ctr"/>
          <a:lstStyle/>
          <a:p>
            <a:pPr algn="r" indent="0" marL="0">
              <a:buNone/>
            </a:pPr>
            <a:r>
              <a:rPr lang="en-US" sz="1050" dirty="0">
                <a:solidFill>
                  <a:srgbClr val="DBE7F6"/>
                </a:solidFill>
                <a:latin typeface="Apple SD Gothic Neo" pitchFamily="34" charset="0"/>
                <a:ea typeface="Apple SD Gothic Neo" pitchFamily="34" charset="-122"/>
                <a:cs typeface="Apple SD Gothic Neo" pitchFamily="34" charset="-120"/>
              </a:rPr>
              <a:t>Microsoft Fabric · OneLake</a:t>
            </a:r>
            <a:endParaRPr lang="en-US" sz="1050" dirty="0"/>
          </a:p>
        </p:txBody>
      </p:sp>
      <p:sp>
        <p:nvSpPr>
          <p:cNvPr id="28" name="Shape 21"/>
          <p:cNvSpPr/>
          <p:nvPr/>
        </p:nvSpPr>
        <p:spPr>
          <a:xfrm>
            <a:off x="1188720" y="5212080"/>
            <a:ext cx="8229600" cy="658368"/>
          </a:xfrm>
          <a:prstGeom prst="roundRect">
            <a:avLst>
              <a:gd name="adj" fmla="val 8333"/>
            </a:avLst>
          </a:prstGeom>
          <a:solidFill>
            <a:srgbClr val="1A3D6D"/>
          </a:solidFill>
          <a:ln/>
          <a:effectLst>
            <a:outerShdw sx="100000" sy="100000" kx="0" ky="0" algn="bl" rotWithShape="0" blurRad="63500" dist="25400" dir="5400000">
              <a:srgbClr val="1A2A44">
                <a:alpha val="12000"/>
              </a:srgbClr>
            </a:outerShdw>
          </a:effectLst>
        </p:spPr>
      </p:sp>
      <p:pic>
        <p:nvPicPr>
          <p:cNvPr id="29" name="Image 5" descr="preencoded.png">    </p:cNvPr>
          <p:cNvPicPr>
            <a:picLocks noChangeAspect="1"/>
          </p:cNvPicPr>
          <p:nvPr/>
        </p:nvPicPr>
        <p:blipFill>
          <a:blip r:embed="rId6"/>
          <a:stretch>
            <a:fillRect/>
          </a:stretch>
        </p:blipFill>
        <p:spPr>
          <a:xfrm>
            <a:off x="1417320" y="5358384"/>
            <a:ext cx="365760" cy="365760"/>
          </a:xfrm>
          <a:prstGeom prst="rect">
            <a:avLst/>
          </a:prstGeom>
        </p:spPr>
      </p:pic>
      <p:sp>
        <p:nvSpPr>
          <p:cNvPr id="30" name="Text 22"/>
          <p:cNvSpPr/>
          <p:nvPr/>
        </p:nvSpPr>
        <p:spPr>
          <a:xfrm>
            <a:off x="1965960" y="5266944"/>
            <a:ext cx="2926080" cy="548640"/>
          </a:xfrm>
          <a:prstGeom prst="rect">
            <a:avLst/>
          </a:prstGeom>
          <a:noFill/>
          <a:ln/>
        </p:spPr>
        <p:txBody>
          <a:bodyPr wrap="square" rtlCol="0" anchor="ct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Data</a:t>
            </a:r>
            <a:endParaRPr lang="en-US" sz="1400" dirty="0"/>
          </a:p>
        </p:txBody>
      </p:sp>
      <p:sp>
        <p:nvSpPr>
          <p:cNvPr id="31" name="Text 23"/>
          <p:cNvSpPr/>
          <p:nvPr/>
        </p:nvSpPr>
        <p:spPr>
          <a:xfrm>
            <a:off x="4937760" y="5266944"/>
            <a:ext cx="4343400" cy="548640"/>
          </a:xfrm>
          <a:prstGeom prst="rect">
            <a:avLst/>
          </a:prstGeom>
          <a:noFill/>
          <a:ln/>
        </p:spPr>
        <p:txBody>
          <a:bodyPr wrap="square" rtlCol="0" anchor="ctr"/>
          <a:lstStyle/>
          <a:p>
            <a:pPr algn="r" indent="0" marL="0">
              <a:buNone/>
            </a:pPr>
            <a:r>
              <a:rPr lang="en-US" sz="1050" dirty="0">
                <a:solidFill>
                  <a:srgbClr val="DBE7F6"/>
                </a:solidFill>
                <a:latin typeface="Apple SD Gothic Neo" pitchFamily="34" charset="0"/>
                <a:ea typeface="Apple SD Gothic Neo" pitchFamily="34" charset="-122"/>
                <a:cs typeface="Apple SD Gothic Neo" pitchFamily="34" charset="-120"/>
              </a:rPr>
              <a:t>100+ 커넥터 · Shortcut · 개방형 포맷</a:t>
            </a:r>
            <a:endParaRPr lang="en-US" sz="1050" dirty="0"/>
          </a:p>
        </p:txBody>
      </p:sp>
      <p:sp>
        <p:nvSpPr>
          <p:cNvPr id="32" name="Shape 24"/>
          <p:cNvSpPr/>
          <p:nvPr/>
        </p:nvSpPr>
        <p:spPr>
          <a:xfrm>
            <a:off x="9646920" y="1691640"/>
            <a:ext cx="1645920" cy="4178808"/>
          </a:xfrm>
          <a:prstGeom prst="roundRect">
            <a:avLst>
              <a:gd name="adj" fmla="val 3333"/>
            </a:avLst>
          </a:prstGeom>
          <a:solidFill>
            <a:srgbClr val="0F2547"/>
          </a:solidFill>
          <a:ln w="15875">
            <a:solidFill>
              <a:srgbClr val="4F8FB6"/>
            </a:solidFill>
            <a:prstDash val="solid"/>
          </a:ln>
        </p:spPr>
      </p:sp>
      <p:pic>
        <p:nvPicPr>
          <p:cNvPr id="33" name="Image 6" descr="preencoded.png">    </p:cNvPr>
          <p:cNvPicPr>
            <a:picLocks noChangeAspect="1"/>
          </p:cNvPicPr>
          <p:nvPr/>
        </p:nvPicPr>
        <p:blipFill>
          <a:blip r:embed="rId7"/>
          <a:stretch>
            <a:fillRect/>
          </a:stretch>
        </p:blipFill>
        <p:spPr>
          <a:xfrm>
            <a:off x="10287000" y="1965960"/>
            <a:ext cx="457200" cy="457200"/>
          </a:xfrm>
          <a:prstGeom prst="rect">
            <a:avLst/>
          </a:prstGeom>
        </p:spPr>
      </p:pic>
      <p:sp>
        <p:nvSpPr>
          <p:cNvPr id="34" name="Text 25"/>
          <p:cNvSpPr/>
          <p:nvPr/>
        </p:nvSpPr>
        <p:spPr>
          <a:xfrm>
            <a:off x="9692640" y="2560320"/>
            <a:ext cx="1554480" cy="822960"/>
          </a:xfrm>
          <a:prstGeom prst="rect">
            <a:avLst/>
          </a:prstGeom>
          <a:noFill/>
          <a:ln/>
        </p:spPr>
        <p:txBody>
          <a:bodyPr wrap="square" rtlCol="0" anchor="ctr"/>
          <a:lstStyle/>
          <a:p>
            <a:pPr algn="ctr" indent="0" marL="0">
              <a:lnSpc>
                <a:spcPct val="105000"/>
              </a:lnSpc>
              <a:buNone/>
            </a:pPr>
            <a:r>
              <a:rPr lang="en-US" sz="1250" b="1" dirty="0">
                <a:solidFill>
                  <a:srgbClr val="FFFFFF"/>
                </a:solidFill>
                <a:latin typeface="Apple SD Gothic Neo" pitchFamily="34" charset="0"/>
                <a:ea typeface="Apple SD Gothic Neo" pitchFamily="34" charset="-122"/>
                <a:cs typeface="Apple SD Gothic Neo" pitchFamily="34" charset="-120"/>
              </a:rPr>
              <a:t>Governance</a:t>
            </a:r>
            <a:endParaRPr lang="en-US" sz="1250" dirty="0"/>
          </a:p>
          <a:p>
            <a:pPr algn="ctr" indent="0" marL="0">
              <a:lnSpc>
                <a:spcPct val="105000"/>
              </a:lnSpc>
              <a:buNone/>
            </a:pPr>
            <a:r>
              <a:rPr lang="en-US" sz="1250" b="1" dirty="0">
                <a:solidFill>
                  <a:srgbClr val="FFFFFF"/>
                </a:solidFill>
                <a:latin typeface="Apple SD Gothic Neo" pitchFamily="34" charset="0"/>
                <a:ea typeface="Apple SD Gothic Neo" pitchFamily="34" charset="-122"/>
                <a:cs typeface="Apple SD Gothic Neo" pitchFamily="34" charset="-120"/>
              </a:rPr>
              <a:t>&amp; Security</a:t>
            </a:r>
            <a:endParaRPr lang="en-US" sz="1250" dirty="0"/>
          </a:p>
        </p:txBody>
      </p:sp>
      <p:sp>
        <p:nvSpPr>
          <p:cNvPr id="35" name="Text 26"/>
          <p:cNvSpPr/>
          <p:nvPr/>
        </p:nvSpPr>
        <p:spPr>
          <a:xfrm>
            <a:off x="9692640" y="4238244"/>
            <a:ext cx="1554480" cy="1097280"/>
          </a:xfrm>
          <a:prstGeom prst="rect">
            <a:avLst/>
          </a:prstGeom>
          <a:noFill/>
          <a:ln/>
        </p:spPr>
        <p:txBody>
          <a:bodyPr wrap="square" rtlCol="0" anchor="ctr"/>
          <a:lstStyle/>
          <a:p>
            <a:pPr algn="ctr" indent="0" marL="0">
              <a:lnSpc>
                <a:spcPct val="115000"/>
              </a:lnSpc>
              <a:buNone/>
            </a:pPr>
            <a:r>
              <a:rPr lang="en-US" sz="950" dirty="0">
                <a:solidFill>
                  <a:srgbClr val="7AA5D6"/>
                </a:solidFill>
                <a:latin typeface="Apple SD Gothic Neo" pitchFamily="34" charset="0"/>
                <a:ea typeface="Apple SD Gothic Neo" pitchFamily="34" charset="-122"/>
                <a:cs typeface="Apple SD Gothic Neo" pitchFamily="34" charset="-120"/>
              </a:rPr>
              <a:t>Entra · Purview</a:t>
            </a:r>
            <a:endParaRPr lang="en-US" sz="950" dirty="0"/>
          </a:p>
          <a:p>
            <a:pPr algn="ctr" indent="0" marL="0">
              <a:lnSpc>
                <a:spcPct val="115000"/>
              </a:lnSpc>
              <a:buNone/>
            </a:pPr>
            <a:r>
              <a:rPr lang="en-US" sz="950" dirty="0">
                <a:solidFill>
                  <a:srgbClr val="7AA5D6"/>
                </a:solidFill>
                <a:latin typeface="Apple SD Gothic Neo" pitchFamily="34" charset="0"/>
                <a:ea typeface="Apple SD Gothic Neo" pitchFamily="34" charset="-122"/>
                <a:cs typeface="Apple SD Gothic Neo" pitchFamily="34" charset="-120"/>
              </a:rPr>
              <a:t>Defender · Monitor</a:t>
            </a:r>
            <a:endParaRPr lang="en-US" sz="950" dirty="0"/>
          </a:p>
        </p:txBody>
      </p:sp>
      <p:sp>
        <p:nvSpPr>
          <p:cNvPr id="36" name="Text 27"/>
          <p:cNvSpPr/>
          <p:nvPr/>
        </p:nvSpPr>
        <p:spPr>
          <a:xfrm>
            <a:off x="1188720" y="5943600"/>
            <a:ext cx="8229600" cy="274320"/>
          </a:xfrm>
          <a:prstGeom prst="rect">
            <a:avLst/>
          </a:prstGeom>
          <a:noFill/>
          <a:ln/>
        </p:spPr>
        <p:txBody>
          <a:bodyPr wrap="square" rtlCol="0" anchor="ctr"/>
          <a:lstStyle/>
          <a:p>
            <a:pPr algn="ctr" indent="0" marL="0">
              <a:buNone/>
            </a:pPr>
            <a:r>
              <a:rPr lang="en-US" sz="1000" dirty="0">
                <a:solidFill>
                  <a:srgbClr val="5F708A"/>
                </a:solidFill>
                <a:latin typeface="Apple SD Gothic Neo" pitchFamily="34" charset="0"/>
                <a:ea typeface="Apple SD Gothic Neo" pitchFamily="34" charset="-122"/>
                <a:cs typeface="Apple SD Gothic Neo" pitchFamily="34" charset="-120"/>
              </a:rPr>
              <a:t>데이터가 위로 올라가며 '지능 → 에이전트 → 경험'으로 실현됩니다.</a:t>
            </a:r>
            <a:endParaRPr lang="en-US" sz="1000" dirty="0"/>
          </a:p>
        </p:txBody>
      </p:sp>
      <p:sp>
        <p:nvSpPr>
          <p:cNvPr id="37" name="Text 28"/>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38" name="Text 29"/>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21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4F8FB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7. ENTERPRISE AI PLATFORM</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데이터의 여정 — 6단계로 읽기</a:t>
            </a:r>
            <a:endParaRPr lang="en-US" sz="3000" dirty="0"/>
          </a:p>
        </p:txBody>
      </p:sp>
      <p:sp>
        <p:nvSpPr>
          <p:cNvPr id="8" name="Shape 6"/>
          <p:cNvSpPr/>
          <p:nvPr/>
        </p:nvSpPr>
        <p:spPr>
          <a:xfrm>
            <a:off x="548640" y="2103120"/>
            <a:ext cx="3520440" cy="1737360"/>
          </a:xfrm>
          <a:prstGeom prst="roundRect">
            <a:avLst>
              <a:gd name="adj" fmla="val 4737"/>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9" name="Shape 7"/>
          <p:cNvSpPr/>
          <p:nvPr/>
        </p:nvSpPr>
        <p:spPr>
          <a:xfrm>
            <a:off x="804672" y="2423160"/>
            <a:ext cx="777240" cy="777240"/>
          </a:xfrm>
          <a:prstGeom prst="ellipse">
            <a:avLst/>
          </a:prstGeom>
          <a:solidFill>
            <a:srgbClr val="DBE7F6"/>
          </a:solidFill>
          <a:ln/>
        </p:spPr>
      </p:sp>
      <p:pic>
        <p:nvPicPr>
          <p:cNvPr id="10" name="Image 0" descr="preencoded.png">    </p:cNvPr>
          <p:cNvPicPr>
            <a:picLocks noChangeAspect="1"/>
          </p:cNvPicPr>
          <p:nvPr/>
        </p:nvPicPr>
        <p:blipFill>
          <a:blip r:embed="rId1"/>
          <a:stretch>
            <a:fillRect/>
          </a:stretch>
        </p:blipFill>
        <p:spPr>
          <a:xfrm>
            <a:off x="1006754" y="2625242"/>
            <a:ext cx="373075" cy="373075"/>
          </a:xfrm>
          <a:prstGeom prst="rect">
            <a:avLst/>
          </a:prstGeom>
        </p:spPr>
      </p:pic>
      <p:sp>
        <p:nvSpPr>
          <p:cNvPr id="11" name="Shape 8"/>
          <p:cNvSpPr/>
          <p:nvPr/>
        </p:nvSpPr>
        <p:spPr>
          <a:xfrm>
            <a:off x="3410712" y="2359152"/>
            <a:ext cx="402336" cy="402336"/>
          </a:xfrm>
          <a:prstGeom prst="roundRect">
            <a:avLst>
              <a:gd name="adj" fmla="val 22727"/>
            </a:avLst>
          </a:prstGeom>
          <a:solidFill>
            <a:srgbClr val="1A3D6D"/>
          </a:solidFill>
          <a:ln/>
        </p:spPr>
      </p:sp>
      <p:sp>
        <p:nvSpPr>
          <p:cNvPr id="12" name="Text 9"/>
          <p:cNvSpPr/>
          <p:nvPr/>
        </p:nvSpPr>
        <p:spPr>
          <a:xfrm>
            <a:off x="3410712" y="2359152"/>
            <a:ext cx="402336" cy="402336"/>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1</a:t>
            </a:r>
            <a:endParaRPr lang="en-US" sz="1400" dirty="0"/>
          </a:p>
        </p:txBody>
      </p:sp>
      <p:sp>
        <p:nvSpPr>
          <p:cNvPr id="13" name="Text 10"/>
          <p:cNvSpPr/>
          <p:nvPr/>
        </p:nvSpPr>
        <p:spPr>
          <a:xfrm>
            <a:off x="1737360" y="2423160"/>
            <a:ext cx="1783080" cy="411480"/>
          </a:xfrm>
          <a:prstGeom prst="rect">
            <a:avLst/>
          </a:prstGeom>
          <a:noFill/>
          <a:ln/>
        </p:spPr>
        <p:txBody>
          <a:bodyPr wrap="square" rtlCol="0" anchor="ctr"/>
          <a:lstStyle/>
          <a:p>
            <a:pPr indent="0" marL="0">
              <a:buNone/>
            </a:pPr>
            <a:r>
              <a:rPr lang="en-US" sz="1600" b="1" dirty="0">
                <a:solidFill>
                  <a:srgbClr val="0F2547"/>
                </a:solidFill>
                <a:latin typeface="Apple SD Gothic Neo" pitchFamily="34" charset="0"/>
                <a:ea typeface="Apple SD Gothic Neo" pitchFamily="34" charset="-122"/>
                <a:cs typeface="Apple SD Gothic Neo" pitchFamily="34" charset="-120"/>
              </a:rPr>
              <a:t>수집</a:t>
            </a:r>
            <a:endParaRPr lang="en-US" sz="1600" dirty="0"/>
          </a:p>
        </p:txBody>
      </p:sp>
      <p:sp>
        <p:nvSpPr>
          <p:cNvPr id="14" name="Text 11"/>
          <p:cNvSpPr/>
          <p:nvPr/>
        </p:nvSpPr>
        <p:spPr>
          <a:xfrm>
            <a:off x="822960" y="3200400"/>
            <a:ext cx="3017520" cy="502920"/>
          </a:xfrm>
          <a:prstGeom prst="rect">
            <a:avLst/>
          </a:prstGeom>
          <a:noFill/>
          <a:ln/>
        </p:spPr>
        <p:txBody>
          <a:bodyPr wrap="square" rtlCol="0" anchor="ctr"/>
          <a:lstStyle/>
          <a:p>
            <a:pPr indent="0" marL="0">
              <a:lnSpc>
                <a:spcPct val="110000"/>
              </a:lnSpc>
              <a:buNone/>
            </a:pPr>
            <a:r>
              <a:rPr lang="en-US" sz="1100" dirty="0">
                <a:solidFill>
                  <a:srgbClr val="5F708A"/>
                </a:solidFill>
                <a:latin typeface="Apple SD Gothic Neo" pitchFamily="34" charset="0"/>
                <a:ea typeface="Apple SD Gothic Neo" pitchFamily="34" charset="-122"/>
                <a:cs typeface="Apple SD Gothic Neo" pitchFamily="34" charset="-120"/>
              </a:rPr>
              <a:t>흩어진 원천을 연결</a:t>
            </a:r>
            <a:endParaRPr lang="en-US" sz="1100" dirty="0"/>
          </a:p>
        </p:txBody>
      </p:sp>
      <p:sp>
        <p:nvSpPr>
          <p:cNvPr id="15" name="Shape 12"/>
          <p:cNvSpPr/>
          <p:nvPr/>
        </p:nvSpPr>
        <p:spPr>
          <a:xfrm>
            <a:off x="4087368" y="2761488"/>
            <a:ext cx="164592" cy="0"/>
          </a:xfrm>
          <a:prstGeom prst="line">
            <a:avLst/>
          </a:prstGeom>
          <a:noFill/>
          <a:ln w="31750">
            <a:solidFill>
              <a:srgbClr val="2F5B93"/>
            </a:solidFill>
            <a:prstDash val="solid"/>
            <a:tailEnd type="triangle"/>
          </a:ln>
        </p:spPr>
      </p:sp>
      <p:sp>
        <p:nvSpPr>
          <p:cNvPr id="16" name="Shape 13"/>
          <p:cNvSpPr/>
          <p:nvPr/>
        </p:nvSpPr>
        <p:spPr>
          <a:xfrm>
            <a:off x="4279392" y="2103120"/>
            <a:ext cx="3520440" cy="1737360"/>
          </a:xfrm>
          <a:prstGeom prst="roundRect">
            <a:avLst>
              <a:gd name="adj" fmla="val 4737"/>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7" name="Shape 14"/>
          <p:cNvSpPr/>
          <p:nvPr/>
        </p:nvSpPr>
        <p:spPr>
          <a:xfrm>
            <a:off x="4535424" y="2423160"/>
            <a:ext cx="777240" cy="777240"/>
          </a:xfrm>
          <a:prstGeom prst="ellipse">
            <a:avLst/>
          </a:prstGeom>
          <a:solidFill>
            <a:srgbClr val="DBE7F6"/>
          </a:solidFill>
          <a:ln/>
        </p:spPr>
      </p:sp>
      <p:pic>
        <p:nvPicPr>
          <p:cNvPr id="18" name="Image 1" descr="preencoded.png">    </p:cNvPr>
          <p:cNvPicPr>
            <a:picLocks noChangeAspect="1"/>
          </p:cNvPicPr>
          <p:nvPr/>
        </p:nvPicPr>
        <p:blipFill>
          <a:blip r:embed="rId2"/>
          <a:stretch>
            <a:fillRect/>
          </a:stretch>
        </p:blipFill>
        <p:spPr>
          <a:xfrm>
            <a:off x="4737506" y="2625242"/>
            <a:ext cx="373075" cy="373075"/>
          </a:xfrm>
          <a:prstGeom prst="rect">
            <a:avLst/>
          </a:prstGeom>
        </p:spPr>
      </p:pic>
      <p:sp>
        <p:nvSpPr>
          <p:cNvPr id="19" name="Shape 15"/>
          <p:cNvSpPr/>
          <p:nvPr/>
        </p:nvSpPr>
        <p:spPr>
          <a:xfrm>
            <a:off x="7141464" y="2359152"/>
            <a:ext cx="402336" cy="402336"/>
          </a:xfrm>
          <a:prstGeom prst="roundRect">
            <a:avLst>
              <a:gd name="adj" fmla="val 22727"/>
            </a:avLst>
          </a:prstGeom>
          <a:solidFill>
            <a:srgbClr val="1A3D6D"/>
          </a:solidFill>
          <a:ln/>
        </p:spPr>
      </p:sp>
      <p:sp>
        <p:nvSpPr>
          <p:cNvPr id="20" name="Text 16"/>
          <p:cNvSpPr/>
          <p:nvPr/>
        </p:nvSpPr>
        <p:spPr>
          <a:xfrm>
            <a:off x="7141464" y="2359152"/>
            <a:ext cx="402336" cy="402336"/>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2</a:t>
            </a:r>
            <a:endParaRPr lang="en-US" sz="1400" dirty="0"/>
          </a:p>
        </p:txBody>
      </p:sp>
      <p:sp>
        <p:nvSpPr>
          <p:cNvPr id="21" name="Text 17"/>
          <p:cNvSpPr/>
          <p:nvPr/>
        </p:nvSpPr>
        <p:spPr>
          <a:xfrm>
            <a:off x="5468112" y="2423160"/>
            <a:ext cx="1783080" cy="411480"/>
          </a:xfrm>
          <a:prstGeom prst="rect">
            <a:avLst/>
          </a:prstGeom>
          <a:noFill/>
          <a:ln/>
        </p:spPr>
        <p:txBody>
          <a:bodyPr wrap="square" rtlCol="0" anchor="ctr"/>
          <a:lstStyle/>
          <a:p>
            <a:pPr indent="0" marL="0">
              <a:buNone/>
            </a:pPr>
            <a:r>
              <a:rPr lang="en-US" sz="1600" b="1" dirty="0">
                <a:solidFill>
                  <a:srgbClr val="0F2547"/>
                </a:solidFill>
                <a:latin typeface="Apple SD Gothic Neo" pitchFamily="34" charset="0"/>
                <a:ea typeface="Apple SD Gothic Neo" pitchFamily="34" charset="-122"/>
                <a:cs typeface="Apple SD Gothic Neo" pitchFamily="34" charset="-120"/>
              </a:rPr>
              <a:t>통합</a:t>
            </a:r>
            <a:endParaRPr lang="en-US" sz="1600" dirty="0"/>
          </a:p>
        </p:txBody>
      </p:sp>
      <p:sp>
        <p:nvSpPr>
          <p:cNvPr id="22" name="Text 18"/>
          <p:cNvSpPr/>
          <p:nvPr/>
        </p:nvSpPr>
        <p:spPr>
          <a:xfrm>
            <a:off x="4553712" y="3200400"/>
            <a:ext cx="3017520" cy="502920"/>
          </a:xfrm>
          <a:prstGeom prst="rect">
            <a:avLst/>
          </a:prstGeom>
          <a:noFill/>
          <a:ln/>
        </p:spPr>
        <p:txBody>
          <a:bodyPr wrap="square" rtlCol="0" anchor="ctr"/>
          <a:lstStyle/>
          <a:p>
            <a:pPr indent="0" marL="0">
              <a:lnSpc>
                <a:spcPct val="110000"/>
              </a:lnSpc>
              <a:buNone/>
            </a:pPr>
            <a:r>
              <a:rPr lang="en-US" sz="1100" dirty="0">
                <a:solidFill>
                  <a:srgbClr val="5F708A"/>
                </a:solidFill>
                <a:latin typeface="Apple SD Gothic Neo" pitchFamily="34" charset="0"/>
                <a:ea typeface="Apple SD Gothic Neo" pitchFamily="34" charset="-122"/>
                <a:cs typeface="Apple SD Gothic Neo" pitchFamily="34" charset="-120"/>
              </a:rPr>
              <a:t>OneLake로 하나의 레이크</a:t>
            </a:r>
            <a:endParaRPr lang="en-US" sz="1100" dirty="0"/>
          </a:p>
        </p:txBody>
      </p:sp>
      <p:sp>
        <p:nvSpPr>
          <p:cNvPr id="23" name="Shape 19"/>
          <p:cNvSpPr/>
          <p:nvPr/>
        </p:nvSpPr>
        <p:spPr>
          <a:xfrm>
            <a:off x="7818120" y="2761488"/>
            <a:ext cx="164592" cy="0"/>
          </a:xfrm>
          <a:prstGeom prst="line">
            <a:avLst/>
          </a:prstGeom>
          <a:noFill/>
          <a:ln w="31750">
            <a:solidFill>
              <a:srgbClr val="2F5B93"/>
            </a:solidFill>
            <a:prstDash val="solid"/>
            <a:tailEnd type="triangle"/>
          </a:ln>
        </p:spPr>
      </p:sp>
      <p:sp>
        <p:nvSpPr>
          <p:cNvPr id="24" name="Shape 20"/>
          <p:cNvSpPr/>
          <p:nvPr/>
        </p:nvSpPr>
        <p:spPr>
          <a:xfrm>
            <a:off x="8010144" y="2103120"/>
            <a:ext cx="3520440" cy="1737360"/>
          </a:xfrm>
          <a:prstGeom prst="roundRect">
            <a:avLst>
              <a:gd name="adj" fmla="val 4737"/>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5" name="Shape 21"/>
          <p:cNvSpPr/>
          <p:nvPr/>
        </p:nvSpPr>
        <p:spPr>
          <a:xfrm>
            <a:off x="8266176" y="2423160"/>
            <a:ext cx="777240" cy="777240"/>
          </a:xfrm>
          <a:prstGeom prst="ellipse">
            <a:avLst/>
          </a:prstGeom>
          <a:solidFill>
            <a:srgbClr val="DBE7F6"/>
          </a:solidFill>
          <a:ln/>
        </p:spPr>
      </p:sp>
      <p:pic>
        <p:nvPicPr>
          <p:cNvPr id="26" name="Image 2" descr="preencoded.png">    </p:cNvPr>
          <p:cNvPicPr>
            <a:picLocks noChangeAspect="1"/>
          </p:cNvPicPr>
          <p:nvPr/>
        </p:nvPicPr>
        <p:blipFill>
          <a:blip r:embed="rId3"/>
          <a:stretch>
            <a:fillRect/>
          </a:stretch>
        </p:blipFill>
        <p:spPr>
          <a:xfrm>
            <a:off x="8468258" y="2625242"/>
            <a:ext cx="373075" cy="373075"/>
          </a:xfrm>
          <a:prstGeom prst="rect">
            <a:avLst/>
          </a:prstGeom>
        </p:spPr>
      </p:pic>
      <p:sp>
        <p:nvSpPr>
          <p:cNvPr id="27" name="Shape 22"/>
          <p:cNvSpPr/>
          <p:nvPr/>
        </p:nvSpPr>
        <p:spPr>
          <a:xfrm>
            <a:off x="10872216" y="2359152"/>
            <a:ext cx="402336" cy="402336"/>
          </a:xfrm>
          <a:prstGeom prst="roundRect">
            <a:avLst>
              <a:gd name="adj" fmla="val 22727"/>
            </a:avLst>
          </a:prstGeom>
          <a:solidFill>
            <a:srgbClr val="1A3D6D"/>
          </a:solidFill>
          <a:ln/>
        </p:spPr>
      </p:sp>
      <p:sp>
        <p:nvSpPr>
          <p:cNvPr id="28" name="Text 23"/>
          <p:cNvSpPr/>
          <p:nvPr/>
        </p:nvSpPr>
        <p:spPr>
          <a:xfrm>
            <a:off x="10872216" y="2359152"/>
            <a:ext cx="402336" cy="402336"/>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3</a:t>
            </a:r>
            <a:endParaRPr lang="en-US" sz="1400" dirty="0"/>
          </a:p>
        </p:txBody>
      </p:sp>
      <p:sp>
        <p:nvSpPr>
          <p:cNvPr id="29" name="Text 24"/>
          <p:cNvSpPr/>
          <p:nvPr/>
        </p:nvSpPr>
        <p:spPr>
          <a:xfrm>
            <a:off x="9198864" y="2423160"/>
            <a:ext cx="1783080" cy="411480"/>
          </a:xfrm>
          <a:prstGeom prst="rect">
            <a:avLst/>
          </a:prstGeom>
          <a:noFill/>
          <a:ln/>
        </p:spPr>
        <p:txBody>
          <a:bodyPr wrap="square" rtlCol="0" anchor="ctr"/>
          <a:lstStyle/>
          <a:p>
            <a:pPr indent="0" marL="0">
              <a:buNone/>
            </a:pPr>
            <a:r>
              <a:rPr lang="en-US" sz="1600" b="1" dirty="0">
                <a:solidFill>
                  <a:srgbClr val="0F2547"/>
                </a:solidFill>
                <a:latin typeface="Apple SD Gothic Neo" pitchFamily="34" charset="0"/>
                <a:ea typeface="Apple SD Gothic Neo" pitchFamily="34" charset="-122"/>
                <a:cs typeface="Apple SD Gothic Neo" pitchFamily="34" charset="-120"/>
              </a:rPr>
              <a:t>의미 부여</a:t>
            </a:r>
            <a:endParaRPr lang="en-US" sz="1600" dirty="0"/>
          </a:p>
        </p:txBody>
      </p:sp>
      <p:sp>
        <p:nvSpPr>
          <p:cNvPr id="30" name="Text 25"/>
          <p:cNvSpPr/>
          <p:nvPr/>
        </p:nvSpPr>
        <p:spPr>
          <a:xfrm>
            <a:off x="8284464" y="3200400"/>
            <a:ext cx="3017520" cy="502920"/>
          </a:xfrm>
          <a:prstGeom prst="rect">
            <a:avLst/>
          </a:prstGeom>
          <a:noFill/>
          <a:ln/>
        </p:spPr>
        <p:txBody>
          <a:bodyPr wrap="square" rtlCol="0" anchor="ctr"/>
          <a:lstStyle/>
          <a:p>
            <a:pPr indent="0" marL="0">
              <a:lnSpc>
                <a:spcPct val="110000"/>
              </a:lnSpc>
              <a:buNone/>
            </a:pPr>
            <a:r>
              <a:rPr lang="en-US" sz="1100" dirty="0">
                <a:solidFill>
                  <a:srgbClr val="5F708A"/>
                </a:solidFill>
                <a:latin typeface="Apple SD Gothic Neo" pitchFamily="34" charset="0"/>
                <a:ea typeface="Apple SD Gothic Neo" pitchFamily="34" charset="-122"/>
                <a:cs typeface="Apple SD Gothic Neo" pitchFamily="34" charset="-120"/>
              </a:rPr>
              <a:t>온톨로지·3개 IQ로 의미화</a:t>
            </a:r>
            <a:endParaRPr lang="en-US" sz="1100" dirty="0"/>
          </a:p>
        </p:txBody>
      </p:sp>
      <p:sp>
        <p:nvSpPr>
          <p:cNvPr id="31" name="Shape 26"/>
          <p:cNvSpPr/>
          <p:nvPr/>
        </p:nvSpPr>
        <p:spPr>
          <a:xfrm>
            <a:off x="548640" y="4251960"/>
            <a:ext cx="3520440" cy="1737360"/>
          </a:xfrm>
          <a:prstGeom prst="roundRect">
            <a:avLst>
              <a:gd name="adj" fmla="val 4737"/>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32" name="Shape 27"/>
          <p:cNvSpPr/>
          <p:nvPr/>
        </p:nvSpPr>
        <p:spPr>
          <a:xfrm>
            <a:off x="804672" y="4572000"/>
            <a:ext cx="777240" cy="777240"/>
          </a:xfrm>
          <a:prstGeom prst="ellipse">
            <a:avLst/>
          </a:prstGeom>
          <a:solidFill>
            <a:srgbClr val="DBE7F6"/>
          </a:solidFill>
          <a:ln/>
        </p:spPr>
      </p:sp>
      <p:pic>
        <p:nvPicPr>
          <p:cNvPr id="33" name="Image 3" descr="preencoded.png">    </p:cNvPr>
          <p:cNvPicPr>
            <a:picLocks noChangeAspect="1"/>
          </p:cNvPicPr>
          <p:nvPr/>
        </p:nvPicPr>
        <p:blipFill>
          <a:blip r:embed="rId4"/>
          <a:stretch>
            <a:fillRect/>
          </a:stretch>
        </p:blipFill>
        <p:spPr>
          <a:xfrm>
            <a:off x="1006754" y="4774082"/>
            <a:ext cx="373075" cy="373075"/>
          </a:xfrm>
          <a:prstGeom prst="rect">
            <a:avLst/>
          </a:prstGeom>
        </p:spPr>
      </p:pic>
      <p:sp>
        <p:nvSpPr>
          <p:cNvPr id="34" name="Shape 28"/>
          <p:cNvSpPr/>
          <p:nvPr/>
        </p:nvSpPr>
        <p:spPr>
          <a:xfrm>
            <a:off x="3410712" y="4507992"/>
            <a:ext cx="402336" cy="402336"/>
          </a:xfrm>
          <a:prstGeom prst="roundRect">
            <a:avLst>
              <a:gd name="adj" fmla="val 22727"/>
            </a:avLst>
          </a:prstGeom>
          <a:solidFill>
            <a:srgbClr val="1A3D6D"/>
          </a:solidFill>
          <a:ln/>
        </p:spPr>
      </p:sp>
      <p:sp>
        <p:nvSpPr>
          <p:cNvPr id="35" name="Text 29"/>
          <p:cNvSpPr/>
          <p:nvPr/>
        </p:nvSpPr>
        <p:spPr>
          <a:xfrm>
            <a:off x="3410712" y="4507992"/>
            <a:ext cx="402336" cy="402336"/>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4</a:t>
            </a:r>
            <a:endParaRPr lang="en-US" sz="1400" dirty="0"/>
          </a:p>
        </p:txBody>
      </p:sp>
      <p:sp>
        <p:nvSpPr>
          <p:cNvPr id="36" name="Text 30"/>
          <p:cNvSpPr/>
          <p:nvPr/>
        </p:nvSpPr>
        <p:spPr>
          <a:xfrm>
            <a:off x="1737360" y="4572000"/>
            <a:ext cx="1783080" cy="411480"/>
          </a:xfrm>
          <a:prstGeom prst="rect">
            <a:avLst/>
          </a:prstGeom>
          <a:noFill/>
          <a:ln/>
        </p:spPr>
        <p:txBody>
          <a:bodyPr wrap="square" rtlCol="0" anchor="ctr"/>
          <a:lstStyle/>
          <a:p>
            <a:pPr indent="0" marL="0">
              <a:buNone/>
            </a:pPr>
            <a:r>
              <a:rPr lang="en-US" sz="1600" b="1" dirty="0">
                <a:solidFill>
                  <a:srgbClr val="0F2547"/>
                </a:solidFill>
                <a:latin typeface="Apple SD Gothic Neo" pitchFamily="34" charset="0"/>
                <a:ea typeface="Apple SD Gothic Neo" pitchFamily="34" charset="-122"/>
                <a:cs typeface="Apple SD Gothic Neo" pitchFamily="34" charset="-120"/>
              </a:rPr>
              <a:t>에이전트화</a:t>
            </a:r>
            <a:endParaRPr lang="en-US" sz="1600" dirty="0"/>
          </a:p>
        </p:txBody>
      </p:sp>
      <p:sp>
        <p:nvSpPr>
          <p:cNvPr id="37" name="Text 31"/>
          <p:cNvSpPr/>
          <p:nvPr/>
        </p:nvSpPr>
        <p:spPr>
          <a:xfrm>
            <a:off x="822960" y="5349240"/>
            <a:ext cx="3017520" cy="502920"/>
          </a:xfrm>
          <a:prstGeom prst="rect">
            <a:avLst/>
          </a:prstGeom>
          <a:noFill/>
          <a:ln/>
        </p:spPr>
        <p:txBody>
          <a:bodyPr wrap="square" rtlCol="0" anchor="ctr"/>
          <a:lstStyle/>
          <a:p>
            <a:pPr indent="0" marL="0">
              <a:lnSpc>
                <a:spcPct val="110000"/>
              </a:lnSpc>
              <a:buNone/>
            </a:pPr>
            <a:r>
              <a:rPr lang="en-US" sz="1100" dirty="0">
                <a:solidFill>
                  <a:srgbClr val="5F708A"/>
                </a:solidFill>
                <a:latin typeface="Apple SD Gothic Neo" pitchFamily="34" charset="0"/>
                <a:ea typeface="Apple SD Gothic Neo" pitchFamily="34" charset="-122"/>
                <a:cs typeface="Apple SD Gothic Neo" pitchFamily="34" charset="-120"/>
              </a:rPr>
              <a:t>Foundry·Copilot Studio로 제작</a:t>
            </a:r>
            <a:endParaRPr lang="en-US" sz="1100" dirty="0"/>
          </a:p>
        </p:txBody>
      </p:sp>
      <p:sp>
        <p:nvSpPr>
          <p:cNvPr id="38" name="Shape 32"/>
          <p:cNvSpPr/>
          <p:nvPr/>
        </p:nvSpPr>
        <p:spPr>
          <a:xfrm>
            <a:off x="4087368" y="4910328"/>
            <a:ext cx="164592" cy="0"/>
          </a:xfrm>
          <a:prstGeom prst="line">
            <a:avLst/>
          </a:prstGeom>
          <a:noFill/>
          <a:ln w="31750">
            <a:solidFill>
              <a:srgbClr val="2F5B93"/>
            </a:solidFill>
            <a:prstDash val="solid"/>
            <a:tailEnd type="triangle"/>
          </a:ln>
        </p:spPr>
      </p:sp>
      <p:sp>
        <p:nvSpPr>
          <p:cNvPr id="39" name="Shape 33"/>
          <p:cNvSpPr/>
          <p:nvPr/>
        </p:nvSpPr>
        <p:spPr>
          <a:xfrm>
            <a:off x="4279392" y="4251960"/>
            <a:ext cx="3520440" cy="1737360"/>
          </a:xfrm>
          <a:prstGeom prst="roundRect">
            <a:avLst>
              <a:gd name="adj" fmla="val 4737"/>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40" name="Shape 34"/>
          <p:cNvSpPr/>
          <p:nvPr/>
        </p:nvSpPr>
        <p:spPr>
          <a:xfrm>
            <a:off x="4535424" y="4572000"/>
            <a:ext cx="777240" cy="777240"/>
          </a:xfrm>
          <a:prstGeom prst="ellipse">
            <a:avLst/>
          </a:prstGeom>
          <a:solidFill>
            <a:srgbClr val="DBE7F6"/>
          </a:solidFill>
          <a:ln/>
        </p:spPr>
      </p:sp>
      <p:pic>
        <p:nvPicPr>
          <p:cNvPr id="41" name="Image 4" descr="preencoded.png">    </p:cNvPr>
          <p:cNvPicPr>
            <a:picLocks noChangeAspect="1"/>
          </p:cNvPicPr>
          <p:nvPr/>
        </p:nvPicPr>
        <p:blipFill>
          <a:blip r:embed="rId5"/>
          <a:stretch>
            <a:fillRect/>
          </a:stretch>
        </p:blipFill>
        <p:spPr>
          <a:xfrm>
            <a:off x="4737506" y="4774082"/>
            <a:ext cx="373075" cy="373075"/>
          </a:xfrm>
          <a:prstGeom prst="rect">
            <a:avLst/>
          </a:prstGeom>
        </p:spPr>
      </p:pic>
      <p:sp>
        <p:nvSpPr>
          <p:cNvPr id="42" name="Shape 35"/>
          <p:cNvSpPr/>
          <p:nvPr/>
        </p:nvSpPr>
        <p:spPr>
          <a:xfrm>
            <a:off x="7141464" y="4507992"/>
            <a:ext cx="402336" cy="402336"/>
          </a:xfrm>
          <a:prstGeom prst="roundRect">
            <a:avLst>
              <a:gd name="adj" fmla="val 22727"/>
            </a:avLst>
          </a:prstGeom>
          <a:solidFill>
            <a:srgbClr val="1A3D6D"/>
          </a:solidFill>
          <a:ln/>
        </p:spPr>
      </p:sp>
      <p:sp>
        <p:nvSpPr>
          <p:cNvPr id="43" name="Text 36"/>
          <p:cNvSpPr/>
          <p:nvPr/>
        </p:nvSpPr>
        <p:spPr>
          <a:xfrm>
            <a:off x="7141464" y="4507992"/>
            <a:ext cx="402336" cy="402336"/>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5</a:t>
            </a:r>
            <a:endParaRPr lang="en-US" sz="1400" dirty="0"/>
          </a:p>
        </p:txBody>
      </p:sp>
      <p:sp>
        <p:nvSpPr>
          <p:cNvPr id="44" name="Text 37"/>
          <p:cNvSpPr/>
          <p:nvPr/>
        </p:nvSpPr>
        <p:spPr>
          <a:xfrm>
            <a:off x="5468112" y="4572000"/>
            <a:ext cx="1783080" cy="411480"/>
          </a:xfrm>
          <a:prstGeom prst="rect">
            <a:avLst/>
          </a:prstGeom>
          <a:noFill/>
          <a:ln/>
        </p:spPr>
        <p:txBody>
          <a:bodyPr wrap="square" rtlCol="0" anchor="ctr"/>
          <a:lstStyle/>
          <a:p>
            <a:pPr indent="0" marL="0">
              <a:buNone/>
            </a:pPr>
            <a:r>
              <a:rPr lang="en-US" sz="1600" b="1" dirty="0">
                <a:solidFill>
                  <a:srgbClr val="0F2547"/>
                </a:solidFill>
                <a:latin typeface="Apple SD Gothic Neo" pitchFamily="34" charset="0"/>
                <a:ea typeface="Apple SD Gothic Neo" pitchFamily="34" charset="-122"/>
                <a:cs typeface="Apple SD Gothic Neo" pitchFamily="34" charset="-120"/>
              </a:rPr>
              <a:t>실행</a:t>
            </a:r>
            <a:endParaRPr lang="en-US" sz="1600" dirty="0"/>
          </a:p>
        </p:txBody>
      </p:sp>
      <p:sp>
        <p:nvSpPr>
          <p:cNvPr id="45" name="Text 38"/>
          <p:cNvSpPr/>
          <p:nvPr/>
        </p:nvSpPr>
        <p:spPr>
          <a:xfrm>
            <a:off x="4553712" y="5349240"/>
            <a:ext cx="3017520" cy="502920"/>
          </a:xfrm>
          <a:prstGeom prst="rect">
            <a:avLst/>
          </a:prstGeom>
          <a:noFill/>
          <a:ln/>
        </p:spPr>
        <p:txBody>
          <a:bodyPr wrap="square" rtlCol="0" anchor="ctr"/>
          <a:lstStyle/>
          <a:p>
            <a:pPr indent="0" marL="0">
              <a:lnSpc>
                <a:spcPct val="110000"/>
              </a:lnSpc>
              <a:buNone/>
            </a:pPr>
            <a:r>
              <a:rPr lang="en-US" sz="1100" dirty="0">
                <a:solidFill>
                  <a:srgbClr val="5F708A"/>
                </a:solidFill>
                <a:latin typeface="Apple SD Gothic Neo" pitchFamily="34" charset="0"/>
                <a:ea typeface="Apple SD Gothic Neo" pitchFamily="34" charset="-122"/>
                <a:cs typeface="Apple SD Gothic Neo" pitchFamily="34" charset="-120"/>
              </a:rPr>
              <a:t>업무 현장에서 실행·자동화</a:t>
            </a:r>
            <a:endParaRPr lang="en-US" sz="1100" dirty="0"/>
          </a:p>
        </p:txBody>
      </p:sp>
      <p:sp>
        <p:nvSpPr>
          <p:cNvPr id="46" name="Shape 39"/>
          <p:cNvSpPr/>
          <p:nvPr/>
        </p:nvSpPr>
        <p:spPr>
          <a:xfrm>
            <a:off x="7818120" y="4910328"/>
            <a:ext cx="164592" cy="0"/>
          </a:xfrm>
          <a:prstGeom prst="line">
            <a:avLst/>
          </a:prstGeom>
          <a:noFill/>
          <a:ln w="31750">
            <a:solidFill>
              <a:srgbClr val="2F5B93"/>
            </a:solidFill>
            <a:prstDash val="solid"/>
            <a:tailEnd type="triangle"/>
          </a:ln>
        </p:spPr>
      </p:sp>
      <p:sp>
        <p:nvSpPr>
          <p:cNvPr id="47" name="Shape 40"/>
          <p:cNvSpPr/>
          <p:nvPr/>
        </p:nvSpPr>
        <p:spPr>
          <a:xfrm>
            <a:off x="8010144" y="4251960"/>
            <a:ext cx="3520440" cy="1737360"/>
          </a:xfrm>
          <a:prstGeom prst="roundRect">
            <a:avLst>
              <a:gd name="adj" fmla="val 4737"/>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48" name="Shape 41"/>
          <p:cNvSpPr/>
          <p:nvPr/>
        </p:nvSpPr>
        <p:spPr>
          <a:xfrm>
            <a:off x="8266176" y="4572000"/>
            <a:ext cx="777240" cy="777240"/>
          </a:xfrm>
          <a:prstGeom prst="ellipse">
            <a:avLst/>
          </a:prstGeom>
          <a:solidFill>
            <a:srgbClr val="DBE7F6"/>
          </a:solidFill>
          <a:ln/>
        </p:spPr>
      </p:sp>
      <p:pic>
        <p:nvPicPr>
          <p:cNvPr id="49" name="Image 5" descr="preencoded.png">    </p:cNvPr>
          <p:cNvPicPr>
            <a:picLocks noChangeAspect="1"/>
          </p:cNvPicPr>
          <p:nvPr/>
        </p:nvPicPr>
        <p:blipFill>
          <a:blip r:embed="rId6"/>
          <a:stretch>
            <a:fillRect/>
          </a:stretch>
        </p:blipFill>
        <p:spPr>
          <a:xfrm>
            <a:off x="8468258" y="4774082"/>
            <a:ext cx="373075" cy="373075"/>
          </a:xfrm>
          <a:prstGeom prst="rect">
            <a:avLst/>
          </a:prstGeom>
        </p:spPr>
      </p:pic>
      <p:sp>
        <p:nvSpPr>
          <p:cNvPr id="50" name="Shape 42"/>
          <p:cNvSpPr/>
          <p:nvPr/>
        </p:nvSpPr>
        <p:spPr>
          <a:xfrm>
            <a:off x="10872216" y="4507992"/>
            <a:ext cx="402336" cy="402336"/>
          </a:xfrm>
          <a:prstGeom prst="roundRect">
            <a:avLst>
              <a:gd name="adj" fmla="val 22727"/>
            </a:avLst>
          </a:prstGeom>
          <a:solidFill>
            <a:srgbClr val="1A3D6D"/>
          </a:solidFill>
          <a:ln/>
        </p:spPr>
      </p:sp>
      <p:sp>
        <p:nvSpPr>
          <p:cNvPr id="51" name="Text 43"/>
          <p:cNvSpPr/>
          <p:nvPr/>
        </p:nvSpPr>
        <p:spPr>
          <a:xfrm>
            <a:off x="10872216" y="4507992"/>
            <a:ext cx="402336" cy="402336"/>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6</a:t>
            </a:r>
            <a:endParaRPr lang="en-US" sz="1400" dirty="0"/>
          </a:p>
        </p:txBody>
      </p:sp>
      <p:sp>
        <p:nvSpPr>
          <p:cNvPr id="52" name="Text 44"/>
          <p:cNvSpPr/>
          <p:nvPr/>
        </p:nvSpPr>
        <p:spPr>
          <a:xfrm>
            <a:off x="9198864" y="4572000"/>
            <a:ext cx="1783080" cy="411480"/>
          </a:xfrm>
          <a:prstGeom prst="rect">
            <a:avLst/>
          </a:prstGeom>
          <a:noFill/>
          <a:ln/>
        </p:spPr>
        <p:txBody>
          <a:bodyPr wrap="square" rtlCol="0" anchor="ctr"/>
          <a:lstStyle/>
          <a:p>
            <a:pPr indent="0" marL="0">
              <a:buNone/>
            </a:pPr>
            <a:r>
              <a:rPr lang="en-US" sz="1600" b="1" dirty="0">
                <a:solidFill>
                  <a:srgbClr val="0F2547"/>
                </a:solidFill>
                <a:latin typeface="Apple SD Gothic Neo" pitchFamily="34" charset="0"/>
                <a:ea typeface="Apple SD Gothic Neo" pitchFamily="34" charset="-122"/>
                <a:cs typeface="Apple SD Gothic Neo" pitchFamily="34" charset="-120"/>
              </a:rPr>
              <a:t>통제</a:t>
            </a:r>
            <a:endParaRPr lang="en-US" sz="1600" dirty="0"/>
          </a:p>
        </p:txBody>
      </p:sp>
      <p:sp>
        <p:nvSpPr>
          <p:cNvPr id="53" name="Text 45"/>
          <p:cNvSpPr/>
          <p:nvPr/>
        </p:nvSpPr>
        <p:spPr>
          <a:xfrm>
            <a:off x="8284464" y="5349240"/>
            <a:ext cx="3017520" cy="502920"/>
          </a:xfrm>
          <a:prstGeom prst="rect">
            <a:avLst/>
          </a:prstGeom>
          <a:noFill/>
          <a:ln/>
        </p:spPr>
        <p:txBody>
          <a:bodyPr wrap="square" rtlCol="0" anchor="ctr"/>
          <a:lstStyle/>
          <a:p>
            <a:pPr indent="0" marL="0">
              <a:lnSpc>
                <a:spcPct val="110000"/>
              </a:lnSpc>
              <a:buNone/>
            </a:pPr>
            <a:r>
              <a:rPr lang="en-US" sz="1100" dirty="0">
                <a:solidFill>
                  <a:srgbClr val="5F708A"/>
                </a:solidFill>
                <a:latin typeface="Apple SD Gothic Neo" pitchFamily="34" charset="0"/>
                <a:ea typeface="Apple SD Gothic Neo" pitchFamily="34" charset="-122"/>
                <a:cs typeface="Apple SD Gothic Neo" pitchFamily="34" charset="-120"/>
              </a:rPr>
              <a:t>Governance로 상시 관측</a:t>
            </a:r>
            <a:endParaRPr lang="en-US" sz="1100" dirty="0"/>
          </a:p>
        </p:txBody>
      </p:sp>
      <p:sp>
        <p:nvSpPr>
          <p:cNvPr id="54" name="Text 46"/>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55" name="Text 47"/>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22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4F8FB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8. 계층별 요약</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비즈니스 가치 → 이를 실현하는 Azure 서비스</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109960" cy="914400"/>
        </p:xfrm>
        <a:graphic>
          <a:graphicData uri="http://schemas.openxmlformats.org/drawingml/2006/table">
            <a:tbl>
              <a:tblPr/>
              <a:tblGrid>
                <a:gridCol w="2286000"/>
                <a:gridCol w="3977640"/>
                <a:gridCol w="4846320"/>
              </a:tblGrid>
              <a:tr h="548640">
                <a:tc>
                  <a:txBody>
                    <a:bodyPr/>
                    <a:lstStyle/>
                    <a:p>
                      <a:pPr algn="ct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계층</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c>
                  <a:txBody>
                    <a:bodyPr/>
                    <a:lstStyle/>
                    <a:p>
                      <a:pPr algn="ct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비즈니스 가치</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c>
                  <a:txBody>
                    <a:bodyPr/>
                    <a:lstStyle/>
                    <a:p>
                      <a:pPr algn="ct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Azure / Microsoft 서비스</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r>
              <a:tr h="548640">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Experience</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일하는 곳에서 바로 쓰는 경험</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M365 · Teams · Copilot Studio 앱</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548640">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Agents</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업무를 대신 실행하는 디지털 직원</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Foundry Agent Service · Copilot 에이전트</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Agent Factory</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현업·개발자 모두 에이전트 제작</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Copilot Studio · Microsoft Foundry</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548640">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Ontology / IQ</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비즈니스를 이해하는 지능</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Fabric IQ · Work IQ · Foundry IQ · AI Search</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r h="548640">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OneLake</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흩어진 데이터를 하나로</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Microsoft Fabric · OneLake</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548640">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Data</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기존 투자 보호하며 연결</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100+ 커넥터 · Shortcut</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bl>
          </a:graphicData>
        </a:graphic>
      </p:graphicFrame>
      <p:sp>
        <p:nvSpPr>
          <p:cNvPr id="9" name="Text 6"/>
          <p:cNvSpPr/>
          <p:nvPr/>
        </p:nvSpPr>
        <p:spPr>
          <a:xfrm>
            <a:off x="548640" y="5943600"/>
            <a:ext cx="11109960" cy="365760"/>
          </a:xfrm>
          <a:prstGeom prst="rect">
            <a:avLst/>
          </a:prstGeom>
          <a:noFill/>
          <a:ln/>
        </p:spPr>
        <p:txBody>
          <a:bodyPr wrap="square" rtlCol="0" anchor="ctr"/>
          <a:lstStyle/>
          <a:p>
            <a:pPr algn="ctr" indent="0" marL="0">
              <a:buNone/>
            </a:pPr>
            <a:r>
              <a:rPr lang="en-US" sz="1250" b="1" dirty="0">
                <a:solidFill>
                  <a:srgbClr val="1A3D6D"/>
                </a:solidFill>
                <a:latin typeface="Apple SD Gothic Neo" pitchFamily="34" charset="0"/>
                <a:ea typeface="Apple SD Gothic Neo" pitchFamily="34" charset="-122"/>
                <a:cs typeface="Apple SD Gothic Neo" pitchFamily="34" charset="-120"/>
              </a:rPr>
              <a:t>각 계층은 '무엇을 위한 것(가치)'을 먼저, '무엇으로 실현하나(서비스)'를 다음에 봅니다.</a:t>
            </a:r>
            <a:endParaRPr lang="en-US" sz="1250" dirty="0"/>
          </a:p>
        </p:txBody>
      </p:sp>
      <p:sp>
        <p:nvSpPr>
          <p:cNvPr id="10" name="Text 7"/>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11" name="Text 8"/>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23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4F8FB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9. AGENTIC DEVOPS</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에이전트를 만드는 개발도 에이전트가 돕습니다</a:t>
            </a:r>
            <a:endParaRPr lang="en-US" sz="3000" dirty="0"/>
          </a:p>
        </p:txBody>
      </p:sp>
      <p:sp>
        <p:nvSpPr>
          <p:cNvPr id="8" name="Shape 6"/>
          <p:cNvSpPr/>
          <p:nvPr/>
        </p:nvSpPr>
        <p:spPr>
          <a:xfrm>
            <a:off x="777240" y="1965960"/>
            <a:ext cx="2468880" cy="2194560"/>
          </a:xfrm>
          <a:prstGeom prst="roundRect">
            <a:avLst>
              <a:gd name="adj" fmla="val 375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9" name="Shape 7"/>
          <p:cNvSpPr/>
          <p:nvPr/>
        </p:nvSpPr>
        <p:spPr>
          <a:xfrm>
            <a:off x="1554480" y="2286000"/>
            <a:ext cx="914400" cy="914400"/>
          </a:xfrm>
          <a:prstGeom prst="ellipse">
            <a:avLst/>
          </a:prstGeom>
          <a:solidFill>
            <a:srgbClr val="DBE7F6"/>
          </a:solidFill>
          <a:ln/>
        </p:spPr>
      </p:sp>
      <p:pic>
        <p:nvPicPr>
          <p:cNvPr id="10" name="Image 0" descr="preencoded.png">    </p:cNvPr>
          <p:cNvPicPr>
            <a:picLocks noChangeAspect="1"/>
          </p:cNvPicPr>
          <p:nvPr/>
        </p:nvPicPr>
        <p:blipFill>
          <a:blip r:embed="rId1"/>
          <a:stretch>
            <a:fillRect/>
          </a:stretch>
        </p:blipFill>
        <p:spPr>
          <a:xfrm>
            <a:off x="1792224" y="2523744"/>
            <a:ext cx="438912" cy="438912"/>
          </a:xfrm>
          <a:prstGeom prst="rect">
            <a:avLst/>
          </a:prstGeom>
        </p:spPr>
      </p:pic>
      <p:sp>
        <p:nvSpPr>
          <p:cNvPr id="11" name="Text 8"/>
          <p:cNvSpPr/>
          <p:nvPr/>
        </p:nvSpPr>
        <p:spPr>
          <a:xfrm>
            <a:off x="777240" y="3291840"/>
            <a:ext cx="2468880" cy="365760"/>
          </a:xfrm>
          <a:prstGeom prst="rect">
            <a:avLst/>
          </a:prstGeom>
          <a:noFill/>
          <a:ln/>
        </p:spPr>
        <p:txBody>
          <a:bodyPr wrap="square" rtlCol="0" anchor="ctr"/>
          <a:lstStyle/>
          <a:p>
            <a:pPr algn="ctr" indent="0" marL="0">
              <a:buNone/>
            </a:pPr>
            <a:r>
              <a:rPr lang="en-US" sz="1700" b="1" dirty="0">
                <a:solidFill>
                  <a:srgbClr val="0F2547"/>
                </a:solidFill>
                <a:latin typeface="Apple SD Gothic Neo" pitchFamily="34" charset="0"/>
                <a:ea typeface="Apple SD Gothic Neo" pitchFamily="34" charset="-122"/>
                <a:cs typeface="Apple SD Gothic Neo" pitchFamily="34" charset="-120"/>
              </a:rPr>
              <a:t>계획</a:t>
            </a:r>
            <a:endParaRPr lang="en-US" sz="1700" dirty="0"/>
          </a:p>
        </p:txBody>
      </p:sp>
      <p:sp>
        <p:nvSpPr>
          <p:cNvPr id="12" name="Text 9"/>
          <p:cNvSpPr/>
          <p:nvPr/>
        </p:nvSpPr>
        <p:spPr>
          <a:xfrm>
            <a:off x="914400" y="3657600"/>
            <a:ext cx="2194560" cy="457200"/>
          </a:xfrm>
          <a:prstGeom prst="rect">
            <a:avLst/>
          </a:prstGeom>
          <a:noFill/>
          <a:ln/>
        </p:spPr>
        <p:txBody>
          <a:bodyPr wrap="square" rtlCol="0" anchor="ctr"/>
          <a:lstStyle/>
          <a:p>
            <a:pPr algn="ctr" indent="0" marL="0">
              <a:lnSpc>
                <a:spcPct val="110000"/>
              </a:lnSpc>
              <a:buNone/>
            </a:pPr>
            <a:r>
              <a:rPr lang="en-US" sz="1100" dirty="0">
                <a:solidFill>
                  <a:srgbClr val="5F708A"/>
                </a:solidFill>
                <a:latin typeface="Apple SD Gothic Neo" pitchFamily="34" charset="0"/>
                <a:ea typeface="Apple SD Gothic Neo" pitchFamily="34" charset="-122"/>
                <a:cs typeface="Apple SD Gothic Neo" pitchFamily="34" charset="-120"/>
              </a:rPr>
              <a:t>이슈·요구사항 정리</a:t>
            </a:r>
            <a:endParaRPr lang="en-US" sz="1100" dirty="0"/>
          </a:p>
        </p:txBody>
      </p:sp>
      <p:sp>
        <p:nvSpPr>
          <p:cNvPr id="13" name="Shape 10"/>
          <p:cNvSpPr/>
          <p:nvPr/>
        </p:nvSpPr>
        <p:spPr>
          <a:xfrm>
            <a:off x="3273552" y="3063240"/>
            <a:ext cx="219456" cy="0"/>
          </a:xfrm>
          <a:prstGeom prst="line">
            <a:avLst/>
          </a:prstGeom>
          <a:noFill/>
          <a:ln w="31750">
            <a:solidFill>
              <a:srgbClr val="2F5B93"/>
            </a:solidFill>
            <a:prstDash val="solid"/>
            <a:tailEnd type="triangle"/>
          </a:ln>
        </p:spPr>
      </p:sp>
      <p:sp>
        <p:nvSpPr>
          <p:cNvPr id="14" name="Shape 11"/>
          <p:cNvSpPr/>
          <p:nvPr/>
        </p:nvSpPr>
        <p:spPr>
          <a:xfrm>
            <a:off x="3520440" y="1965960"/>
            <a:ext cx="2468880" cy="2194560"/>
          </a:xfrm>
          <a:prstGeom prst="roundRect">
            <a:avLst>
              <a:gd name="adj" fmla="val 375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5" name="Shape 12"/>
          <p:cNvSpPr/>
          <p:nvPr/>
        </p:nvSpPr>
        <p:spPr>
          <a:xfrm>
            <a:off x="4297680" y="2286000"/>
            <a:ext cx="914400" cy="914400"/>
          </a:xfrm>
          <a:prstGeom prst="ellipse">
            <a:avLst/>
          </a:prstGeom>
          <a:solidFill>
            <a:srgbClr val="DBE7F6"/>
          </a:solidFill>
          <a:ln/>
        </p:spPr>
      </p:sp>
      <p:pic>
        <p:nvPicPr>
          <p:cNvPr id="16" name="Image 1" descr="preencoded.png">    </p:cNvPr>
          <p:cNvPicPr>
            <a:picLocks noChangeAspect="1"/>
          </p:cNvPicPr>
          <p:nvPr/>
        </p:nvPicPr>
        <p:blipFill>
          <a:blip r:embed="rId2"/>
          <a:stretch>
            <a:fillRect/>
          </a:stretch>
        </p:blipFill>
        <p:spPr>
          <a:xfrm>
            <a:off x="4535424" y="2523744"/>
            <a:ext cx="438912" cy="438912"/>
          </a:xfrm>
          <a:prstGeom prst="rect">
            <a:avLst/>
          </a:prstGeom>
        </p:spPr>
      </p:pic>
      <p:sp>
        <p:nvSpPr>
          <p:cNvPr id="17" name="Text 13"/>
          <p:cNvSpPr/>
          <p:nvPr/>
        </p:nvSpPr>
        <p:spPr>
          <a:xfrm>
            <a:off x="3520440" y="3291840"/>
            <a:ext cx="2468880" cy="365760"/>
          </a:xfrm>
          <a:prstGeom prst="rect">
            <a:avLst/>
          </a:prstGeom>
          <a:noFill/>
          <a:ln/>
        </p:spPr>
        <p:txBody>
          <a:bodyPr wrap="square" rtlCol="0" anchor="ctr"/>
          <a:lstStyle/>
          <a:p>
            <a:pPr algn="ctr" indent="0" marL="0">
              <a:buNone/>
            </a:pPr>
            <a:r>
              <a:rPr lang="en-US" sz="1700" b="1" dirty="0">
                <a:solidFill>
                  <a:srgbClr val="0F2547"/>
                </a:solidFill>
                <a:latin typeface="Apple SD Gothic Neo" pitchFamily="34" charset="0"/>
                <a:ea typeface="Apple SD Gothic Neo" pitchFamily="34" charset="-122"/>
                <a:cs typeface="Apple SD Gothic Neo" pitchFamily="34" charset="-120"/>
              </a:rPr>
              <a:t>개발</a:t>
            </a:r>
            <a:endParaRPr lang="en-US" sz="1700" dirty="0"/>
          </a:p>
        </p:txBody>
      </p:sp>
      <p:sp>
        <p:nvSpPr>
          <p:cNvPr id="18" name="Text 14"/>
          <p:cNvSpPr/>
          <p:nvPr/>
        </p:nvSpPr>
        <p:spPr>
          <a:xfrm>
            <a:off x="3657600" y="3657600"/>
            <a:ext cx="2194560" cy="457200"/>
          </a:xfrm>
          <a:prstGeom prst="rect">
            <a:avLst/>
          </a:prstGeom>
          <a:noFill/>
          <a:ln/>
        </p:spPr>
        <p:txBody>
          <a:bodyPr wrap="square" rtlCol="0" anchor="ctr"/>
          <a:lstStyle/>
          <a:p>
            <a:pPr algn="ctr" indent="0" marL="0">
              <a:lnSpc>
                <a:spcPct val="110000"/>
              </a:lnSpc>
              <a:buNone/>
            </a:pPr>
            <a:r>
              <a:rPr lang="en-US" sz="1100" dirty="0">
                <a:solidFill>
                  <a:srgbClr val="5F708A"/>
                </a:solidFill>
                <a:latin typeface="Apple SD Gothic Neo" pitchFamily="34" charset="0"/>
                <a:ea typeface="Apple SD Gothic Neo" pitchFamily="34" charset="-122"/>
                <a:cs typeface="Apple SD Gothic Neo" pitchFamily="34" charset="-120"/>
              </a:rPr>
              <a:t>Copilot이 코드 초안 생성</a:t>
            </a:r>
            <a:endParaRPr lang="en-US" sz="1100" dirty="0"/>
          </a:p>
        </p:txBody>
      </p:sp>
      <p:sp>
        <p:nvSpPr>
          <p:cNvPr id="19" name="Shape 15"/>
          <p:cNvSpPr/>
          <p:nvPr/>
        </p:nvSpPr>
        <p:spPr>
          <a:xfrm>
            <a:off x="6016752" y="3063240"/>
            <a:ext cx="219456" cy="0"/>
          </a:xfrm>
          <a:prstGeom prst="line">
            <a:avLst/>
          </a:prstGeom>
          <a:noFill/>
          <a:ln w="31750">
            <a:solidFill>
              <a:srgbClr val="2F5B93"/>
            </a:solidFill>
            <a:prstDash val="solid"/>
            <a:tailEnd type="triangle"/>
          </a:ln>
        </p:spPr>
      </p:sp>
      <p:sp>
        <p:nvSpPr>
          <p:cNvPr id="20" name="Shape 16"/>
          <p:cNvSpPr/>
          <p:nvPr/>
        </p:nvSpPr>
        <p:spPr>
          <a:xfrm>
            <a:off x="6263640" y="1965960"/>
            <a:ext cx="2468880" cy="2194560"/>
          </a:xfrm>
          <a:prstGeom prst="roundRect">
            <a:avLst>
              <a:gd name="adj" fmla="val 375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1" name="Shape 17"/>
          <p:cNvSpPr/>
          <p:nvPr/>
        </p:nvSpPr>
        <p:spPr>
          <a:xfrm>
            <a:off x="7040880" y="2286000"/>
            <a:ext cx="914400" cy="914400"/>
          </a:xfrm>
          <a:prstGeom prst="ellipse">
            <a:avLst/>
          </a:prstGeom>
          <a:solidFill>
            <a:srgbClr val="DBE7F6"/>
          </a:solidFill>
          <a:ln/>
        </p:spPr>
      </p:sp>
      <p:pic>
        <p:nvPicPr>
          <p:cNvPr id="22" name="Image 2" descr="preencoded.png">    </p:cNvPr>
          <p:cNvPicPr>
            <a:picLocks noChangeAspect="1"/>
          </p:cNvPicPr>
          <p:nvPr/>
        </p:nvPicPr>
        <p:blipFill>
          <a:blip r:embed="rId3"/>
          <a:stretch>
            <a:fillRect/>
          </a:stretch>
        </p:blipFill>
        <p:spPr>
          <a:xfrm>
            <a:off x="7278624" y="2523744"/>
            <a:ext cx="438912" cy="438912"/>
          </a:xfrm>
          <a:prstGeom prst="rect">
            <a:avLst/>
          </a:prstGeom>
        </p:spPr>
      </p:pic>
      <p:sp>
        <p:nvSpPr>
          <p:cNvPr id="23" name="Text 18"/>
          <p:cNvSpPr/>
          <p:nvPr/>
        </p:nvSpPr>
        <p:spPr>
          <a:xfrm>
            <a:off x="6263640" y="3291840"/>
            <a:ext cx="2468880" cy="365760"/>
          </a:xfrm>
          <a:prstGeom prst="rect">
            <a:avLst/>
          </a:prstGeom>
          <a:noFill/>
          <a:ln/>
        </p:spPr>
        <p:txBody>
          <a:bodyPr wrap="square" rtlCol="0" anchor="ctr"/>
          <a:lstStyle/>
          <a:p>
            <a:pPr algn="ctr" indent="0" marL="0">
              <a:buNone/>
            </a:pPr>
            <a:r>
              <a:rPr lang="en-US" sz="1700" b="1" dirty="0">
                <a:solidFill>
                  <a:srgbClr val="0F2547"/>
                </a:solidFill>
                <a:latin typeface="Apple SD Gothic Neo" pitchFamily="34" charset="0"/>
                <a:ea typeface="Apple SD Gothic Neo" pitchFamily="34" charset="-122"/>
                <a:cs typeface="Apple SD Gothic Neo" pitchFamily="34" charset="-120"/>
              </a:rPr>
              <a:t>리뷰</a:t>
            </a:r>
            <a:endParaRPr lang="en-US" sz="1700" dirty="0"/>
          </a:p>
        </p:txBody>
      </p:sp>
      <p:sp>
        <p:nvSpPr>
          <p:cNvPr id="24" name="Text 19"/>
          <p:cNvSpPr/>
          <p:nvPr/>
        </p:nvSpPr>
        <p:spPr>
          <a:xfrm>
            <a:off x="6400800" y="3657600"/>
            <a:ext cx="2194560" cy="457200"/>
          </a:xfrm>
          <a:prstGeom prst="rect">
            <a:avLst/>
          </a:prstGeom>
          <a:noFill/>
          <a:ln/>
        </p:spPr>
        <p:txBody>
          <a:bodyPr wrap="square" rtlCol="0" anchor="ctr"/>
          <a:lstStyle/>
          <a:p>
            <a:pPr algn="ctr" indent="0" marL="0">
              <a:lnSpc>
                <a:spcPct val="110000"/>
              </a:lnSpc>
              <a:buNone/>
            </a:pPr>
            <a:r>
              <a:rPr lang="en-US" sz="1100" dirty="0">
                <a:solidFill>
                  <a:srgbClr val="5F708A"/>
                </a:solidFill>
                <a:latin typeface="Apple SD Gothic Neo" pitchFamily="34" charset="0"/>
                <a:ea typeface="Apple SD Gothic Neo" pitchFamily="34" charset="-122"/>
                <a:cs typeface="Apple SD Gothic Neo" pitchFamily="34" charset="-120"/>
              </a:rPr>
              <a:t>자동 리뷰·보안 점검</a:t>
            </a:r>
            <a:endParaRPr lang="en-US" sz="1100" dirty="0"/>
          </a:p>
        </p:txBody>
      </p:sp>
      <p:sp>
        <p:nvSpPr>
          <p:cNvPr id="25" name="Shape 20"/>
          <p:cNvSpPr/>
          <p:nvPr/>
        </p:nvSpPr>
        <p:spPr>
          <a:xfrm>
            <a:off x="8759952" y="3063240"/>
            <a:ext cx="219456" cy="0"/>
          </a:xfrm>
          <a:prstGeom prst="line">
            <a:avLst/>
          </a:prstGeom>
          <a:noFill/>
          <a:ln w="31750">
            <a:solidFill>
              <a:srgbClr val="2F5B93"/>
            </a:solidFill>
            <a:prstDash val="solid"/>
            <a:tailEnd type="triangle"/>
          </a:ln>
        </p:spPr>
      </p:sp>
      <p:sp>
        <p:nvSpPr>
          <p:cNvPr id="26" name="Shape 21"/>
          <p:cNvSpPr/>
          <p:nvPr/>
        </p:nvSpPr>
        <p:spPr>
          <a:xfrm>
            <a:off x="9006840" y="1965960"/>
            <a:ext cx="2468880" cy="2194560"/>
          </a:xfrm>
          <a:prstGeom prst="roundRect">
            <a:avLst>
              <a:gd name="adj" fmla="val 375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7" name="Shape 22"/>
          <p:cNvSpPr/>
          <p:nvPr/>
        </p:nvSpPr>
        <p:spPr>
          <a:xfrm>
            <a:off x="9784080" y="2286000"/>
            <a:ext cx="914400" cy="914400"/>
          </a:xfrm>
          <a:prstGeom prst="ellipse">
            <a:avLst/>
          </a:prstGeom>
          <a:solidFill>
            <a:srgbClr val="DBE7F6"/>
          </a:solidFill>
          <a:ln/>
        </p:spPr>
      </p:sp>
      <p:pic>
        <p:nvPicPr>
          <p:cNvPr id="28" name="Image 3" descr="preencoded.png">    </p:cNvPr>
          <p:cNvPicPr>
            <a:picLocks noChangeAspect="1"/>
          </p:cNvPicPr>
          <p:nvPr/>
        </p:nvPicPr>
        <p:blipFill>
          <a:blip r:embed="rId4"/>
          <a:stretch>
            <a:fillRect/>
          </a:stretch>
        </p:blipFill>
        <p:spPr>
          <a:xfrm>
            <a:off x="10021824" y="2523744"/>
            <a:ext cx="438912" cy="438912"/>
          </a:xfrm>
          <a:prstGeom prst="rect">
            <a:avLst/>
          </a:prstGeom>
        </p:spPr>
      </p:pic>
      <p:sp>
        <p:nvSpPr>
          <p:cNvPr id="29" name="Text 23"/>
          <p:cNvSpPr/>
          <p:nvPr/>
        </p:nvSpPr>
        <p:spPr>
          <a:xfrm>
            <a:off x="9006840" y="3291840"/>
            <a:ext cx="2468880" cy="365760"/>
          </a:xfrm>
          <a:prstGeom prst="rect">
            <a:avLst/>
          </a:prstGeom>
          <a:noFill/>
          <a:ln/>
        </p:spPr>
        <p:txBody>
          <a:bodyPr wrap="square" rtlCol="0" anchor="ctr"/>
          <a:lstStyle/>
          <a:p>
            <a:pPr algn="ctr" indent="0" marL="0">
              <a:buNone/>
            </a:pPr>
            <a:r>
              <a:rPr lang="en-US" sz="1700" b="1" dirty="0">
                <a:solidFill>
                  <a:srgbClr val="0F2547"/>
                </a:solidFill>
                <a:latin typeface="Apple SD Gothic Neo" pitchFamily="34" charset="0"/>
                <a:ea typeface="Apple SD Gothic Neo" pitchFamily="34" charset="-122"/>
                <a:cs typeface="Apple SD Gothic Neo" pitchFamily="34" charset="-120"/>
              </a:rPr>
              <a:t>배포</a:t>
            </a:r>
            <a:endParaRPr lang="en-US" sz="1700" dirty="0"/>
          </a:p>
        </p:txBody>
      </p:sp>
      <p:sp>
        <p:nvSpPr>
          <p:cNvPr id="30" name="Text 24"/>
          <p:cNvSpPr/>
          <p:nvPr/>
        </p:nvSpPr>
        <p:spPr>
          <a:xfrm>
            <a:off x="9144000" y="3657600"/>
            <a:ext cx="2194560" cy="457200"/>
          </a:xfrm>
          <a:prstGeom prst="rect">
            <a:avLst/>
          </a:prstGeom>
          <a:noFill/>
          <a:ln/>
        </p:spPr>
        <p:txBody>
          <a:bodyPr wrap="square" rtlCol="0" anchor="ctr"/>
          <a:lstStyle/>
          <a:p>
            <a:pPr algn="ctr" indent="0" marL="0">
              <a:lnSpc>
                <a:spcPct val="110000"/>
              </a:lnSpc>
              <a:buNone/>
            </a:pPr>
            <a:r>
              <a:rPr lang="en-US" sz="1100" dirty="0">
                <a:solidFill>
                  <a:srgbClr val="5F708A"/>
                </a:solidFill>
                <a:latin typeface="Apple SD Gothic Neo" pitchFamily="34" charset="0"/>
                <a:ea typeface="Apple SD Gothic Neo" pitchFamily="34" charset="-122"/>
                <a:cs typeface="Apple SD Gothic Neo" pitchFamily="34" charset="-120"/>
              </a:rPr>
              <a:t>CI/CD로 안전하게 릴리스</a:t>
            </a:r>
            <a:endParaRPr lang="en-US" sz="1100" dirty="0"/>
          </a:p>
        </p:txBody>
      </p:sp>
      <p:sp>
        <p:nvSpPr>
          <p:cNvPr id="31" name="Shape 25"/>
          <p:cNvSpPr/>
          <p:nvPr/>
        </p:nvSpPr>
        <p:spPr>
          <a:xfrm>
            <a:off x="777240" y="4572000"/>
            <a:ext cx="10607040" cy="1234440"/>
          </a:xfrm>
          <a:prstGeom prst="roundRect">
            <a:avLst>
              <a:gd name="adj" fmla="val 6667"/>
            </a:avLst>
          </a:prstGeom>
          <a:solidFill>
            <a:srgbClr val="EEF4FB"/>
          </a:solidFill>
          <a:ln w="12700">
            <a:solidFill>
              <a:srgbClr val="D4E0F0"/>
            </a:solidFill>
            <a:prstDash val="solid"/>
          </a:ln>
          <a:effectLst>
            <a:outerShdw sx="100000" sy="100000" kx="0" ky="0" algn="bl" rotWithShape="0" blurRad="76200" dist="25400" dir="5400000">
              <a:srgbClr val="1A2A44">
                <a:alpha val="14000"/>
              </a:srgbClr>
            </a:outerShdw>
          </a:effectLst>
        </p:spPr>
      </p:sp>
      <p:pic>
        <p:nvPicPr>
          <p:cNvPr id="32" name="Image 4" descr="preencoded.png">    </p:cNvPr>
          <p:cNvPicPr>
            <a:picLocks noChangeAspect="1"/>
          </p:cNvPicPr>
          <p:nvPr/>
        </p:nvPicPr>
        <p:blipFill>
          <a:blip r:embed="rId5"/>
          <a:stretch>
            <a:fillRect/>
          </a:stretch>
        </p:blipFill>
        <p:spPr>
          <a:xfrm>
            <a:off x="1051560" y="4846320"/>
            <a:ext cx="640080" cy="640080"/>
          </a:xfrm>
          <a:prstGeom prst="rect">
            <a:avLst/>
          </a:prstGeom>
        </p:spPr>
      </p:pic>
      <p:sp>
        <p:nvSpPr>
          <p:cNvPr id="33" name="Text 26"/>
          <p:cNvSpPr/>
          <p:nvPr/>
        </p:nvSpPr>
        <p:spPr>
          <a:xfrm>
            <a:off x="1874520" y="4800600"/>
            <a:ext cx="9326880" cy="365760"/>
          </a:xfrm>
          <a:prstGeom prst="rect">
            <a:avLst/>
          </a:prstGeom>
          <a:noFill/>
          <a:ln/>
        </p:spPr>
        <p:txBody>
          <a:bodyPr wrap="square" rtlCol="0" anchor="ctr"/>
          <a:lstStyle/>
          <a:p>
            <a:pPr indent="0" marL="0">
              <a:buNone/>
            </a:pPr>
            <a:r>
              <a:rPr lang="en-US" sz="1350" b="1" dirty="0">
                <a:solidFill>
                  <a:srgbClr val="1A3D6D"/>
                </a:solidFill>
                <a:latin typeface="Apple SD Gothic Neo" pitchFamily="34" charset="0"/>
                <a:ea typeface="Apple SD Gothic Neo" pitchFamily="34" charset="-122"/>
                <a:cs typeface="Apple SD Gothic Neo" pitchFamily="34" charset="-120"/>
              </a:rPr>
              <a:t>GitHub Copilot + Secret Protection · Code Security  </a:t>
            </a:r>
            <a:pPr indent="0" marL="0">
              <a:buNone/>
            </a:pPr>
            <a:r>
              <a:rPr lang="en-US" sz="1100" b="1" dirty="0">
                <a:solidFill>
                  <a:srgbClr val="2E9E6B"/>
                </a:solidFill>
                <a:latin typeface="Apple SD Gothic Neo" pitchFamily="34" charset="0"/>
                <a:ea typeface="Apple SD Gothic Neo" pitchFamily="34" charset="-122"/>
                <a:cs typeface="Apple SD Gothic Neo" pitchFamily="34" charset="-120"/>
              </a:rPr>
              <a:t>GA</a:t>
            </a:r>
            <a:endParaRPr lang="en-US" sz="1350" dirty="0"/>
          </a:p>
        </p:txBody>
      </p:sp>
      <p:sp>
        <p:nvSpPr>
          <p:cNvPr id="34" name="Text 27"/>
          <p:cNvSpPr/>
          <p:nvPr/>
        </p:nvSpPr>
        <p:spPr>
          <a:xfrm>
            <a:off x="1874520" y="5138928"/>
            <a:ext cx="9326880" cy="548640"/>
          </a:xfrm>
          <a:prstGeom prst="rect">
            <a:avLst/>
          </a:prstGeom>
          <a:noFill/>
          <a:ln/>
        </p:spPr>
        <p:txBody>
          <a:bodyPr wrap="square" rtlCol="0" anchor="ctr"/>
          <a:lstStyle/>
          <a:p>
            <a:pPr indent="0" marL="0">
              <a:lnSpc>
                <a:spcPct val="115000"/>
              </a:lnSpc>
              <a:buNone/>
            </a:pPr>
            <a:r>
              <a:rPr lang="en-US" sz="1150" dirty="0">
                <a:solidFill>
                  <a:srgbClr val="5F708A"/>
                </a:solidFill>
                <a:latin typeface="Apple SD Gothic Neo" pitchFamily="34" charset="0"/>
                <a:ea typeface="Apple SD Gothic Neo" pitchFamily="34" charset="-122"/>
                <a:cs typeface="Apple SD Gothic Neo" pitchFamily="34" charset="-120"/>
              </a:rPr>
              <a:t>개발 속도를 높이면서도, 코드 보안·시크릿 보호를 파이프라인에 내장합니다.</a:t>
            </a:r>
            <a:endParaRPr lang="en-US" sz="1150" dirty="0"/>
          </a:p>
        </p:txBody>
      </p:sp>
      <p:sp>
        <p:nvSpPr>
          <p:cNvPr id="35" name="Text 28"/>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36" name="Text 29"/>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4F8FB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10. GOVERNANCE &amp; SECURITY</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거버넌스는 전 계층을 가로지릅니다</a:t>
            </a:r>
            <a:endParaRPr lang="en-US" sz="3000" dirty="0"/>
          </a:p>
        </p:txBody>
      </p:sp>
      <p:sp>
        <p:nvSpPr>
          <p:cNvPr id="8" name="Text 6"/>
          <p:cNvSpPr/>
          <p:nvPr/>
        </p:nvSpPr>
        <p:spPr>
          <a:xfrm>
            <a:off x="548640" y="1737360"/>
            <a:ext cx="11109960" cy="502920"/>
          </a:xfrm>
          <a:prstGeom prst="rect">
            <a:avLst/>
          </a:prstGeom>
          <a:noFill/>
          <a:ln/>
        </p:spPr>
        <p:txBody>
          <a:bodyPr wrap="square" rtlCol="0" anchor="ctr"/>
          <a:lstStyle/>
          <a:p>
            <a:pPr indent="0" marL="0">
              <a:lnSpc>
                <a:spcPct val="120000"/>
              </a:lnSpc>
              <a:buNone/>
            </a:pPr>
            <a:r>
              <a:rPr lang="en-US" sz="1300" dirty="0">
                <a:solidFill>
                  <a:srgbClr val="1B2A41"/>
                </a:solidFill>
                <a:latin typeface="Apple SD Gothic Neo" pitchFamily="34" charset="0"/>
                <a:ea typeface="Apple SD Gothic Neo" pitchFamily="34" charset="-122"/>
                <a:cs typeface="Apple SD Gothic Neo" pitchFamily="34" charset="-120"/>
              </a:rPr>
              <a:t>Responsible AI를 '원칙'이 아니라 '동작'으로 만드는 4개의 축 — 모든 계층에 관통 적용됩니다.</a:t>
            </a:r>
            <a:endParaRPr lang="en-US" sz="1300" dirty="0"/>
          </a:p>
        </p:txBody>
      </p:sp>
      <p:sp>
        <p:nvSpPr>
          <p:cNvPr id="9" name="Shape 7"/>
          <p:cNvSpPr/>
          <p:nvPr/>
        </p:nvSpPr>
        <p:spPr>
          <a:xfrm>
            <a:off x="548640" y="2377440"/>
            <a:ext cx="5486400" cy="1600200"/>
          </a:xfrm>
          <a:prstGeom prst="roundRect">
            <a:avLst>
              <a:gd name="adj" fmla="val 514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0" name="Shape 8"/>
          <p:cNvSpPr/>
          <p:nvPr/>
        </p:nvSpPr>
        <p:spPr>
          <a:xfrm>
            <a:off x="804672" y="2743200"/>
            <a:ext cx="868680" cy="868680"/>
          </a:xfrm>
          <a:prstGeom prst="ellipse">
            <a:avLst/>
          </a:prstGeom>
          <a:solidFill>
            <a:srgbClr val="DBE7F6"/>
          </a:solidFill>
          <a:ln/>
        </p:spPr>
      </p:sp>
      <p:pic>
        <p:nvPicPr>
          <p:cNvPr id="11" name="Image 0" descr="preencoded.png">    </p:cNvPr>
          <p:cNvPicPr>
            <a:picLocks noChangeAspect="1"/>
          </p:cNvPicPr>
          <p:nvPr/>
        </p:nvPicPr>
        <p:blipFill>
          <a:blip r:embed="rId1"/>
          <a:stretch>
            <a:fillRect/>
          </a:stretch>
        </p:blipFill>
        <p:spPr>
          <a:xfrm>
            <a:off x="1030529" y="2969057"/>
            <a:ext cx="416966" cy="416966"/>
          </a:xfrm>
          <a:prstGeom prst="rect">
            <a:avLst/>
          </a:prstGeom>
        </p:spPr>
      </p:pic>
      <p:sp>
        <p:nvSpPr>
          <p:cNvPr id="12" name="Text 9"/>
          <p:cNvSpPr/>
          <p:nvPr/>
        </p:nvSpPr>
        <p:spPr>
          <a:xfrm>
            <a:off x="1828800" y="2606040"/>
            <a:ext cx="3931920" cy="256032"/>
          </a:xfrm>
          <a:prstGeom prst="rect">
            <a:avLst/>
          </a:prstGeom>
          <a:noFill/>
          <a:ln/>
        </p:spPr>
        <p:txBody>
          <a:bodyPr wrap="square" rtlCol="0" anchor="ctr"/>
          <a:lstStyle/>
          <a:p>
            <a:pPr indent="0" marL="0">
              <a:buNone/>
            </a:pPr>
            <a:r>
              <a:rPr lang="en-US" sz="950" b="1" spc="100" kern="0" dirty="0">
                <a:solidFill>
                  <a:srgbClr val="2F5B93"/>
                </a:solidFill>
                <a:latin typeface="Apple SD Gothic Neo" pitchFamily="34" charset="0"/>
                <a:ea typeface="Apple SD Gothic Neo" pitchFamily="34" charset="-122"/>
                <a:cs typeface="Apple SD Gothic Neo" pitchFamily="34" charset="-120"/>
              </a:rPr>
              <a:t>ID · 접근</a:t>
            </a:r>
            <a:endParaRPr lang="en-US" sz="950" dirty="0"/>
          </a:p>
        </p:txBody>
      </p:sp>
      <p:sp>
        <p:nvSpPr>
          <p:cNvPr id="13" name="Text 10"/>
          <p:cNvSpPr/>
          <p:nvPr/>
        </p:nvSpPr>
        <p:spPr>
          <a:xfrm>
            <a:off x="1828800" y="2852928"/>
            <a:ext cx="3931920" cy="365760"/>
          </a:xfrm>
          <a:prstGeom prst="rect">
            <a:avLst/>
          </a:prstGeom>
          <a:noFill/>
          <a:ln/>
        </p:spPr>
        <p:txBody>
          <a:bodyPr wrap="square" rtlCol="0" anchor="ctr"/>
          <a:lstStyle/>
          <a:p>
            <a:pPr indent="0" marL="0">
              <a:buNone/>
            </a:pPr>
            <a:r>
              <a:rPr lang="en-US" sz="1500" b="1" dirty="0">
                <a:solidFill>
                  <a:srgbClr val="0F2547"/>
                </a:solidFill>
                <a:latin typeface="Apple SD Gothic Neo" pitchFamily="34" charset="0"/>
                <a:ea typeface="Apple SD Gothic Neo" pitchFamily="34" charset="-122"/>
                <a:cs typeface="Apple SD Gothic Neo" pitchFamily="34" charset="-120"/>
              </a:rPr>
              <a:t>Entra Agent ID</a:t>
            </a:r>
            <a:endParaRPr lang="en-US" sz="1500" dirty="0"/>
          </a:p>
        </p:txBody>
      </p:sp>
      <p:sp>
        <p:nvSpPr>
          <p:cNvPr id="14" name="Text 11"/>
          <p:cNvSpPr/>
          <p:nvPr/>
        </p:nvSpPr>
        <p:spPr>
          <a:xfrm>
            <a:off x="1828800" y="3246120"/>
            <a:ext cx="3931920" cy="640080"/>
          </a:xfrm>
          <a:prstGeom prst="rect">
            <a:avLst/>
          </a:prstGeom>
          <a:noFill/>
          <a:ln/>
        </p:spPr>
        <p:txBody>
          <a:bodyPr wrap="square" rtlCol="0" anchor="t"/>
          <a:lstStyle/>
          <a:p>
            <a:pPr indent="0" marL="0">
              <a:lnSpc>
                <a:spcPct val="112000"/>
              </a:lnSpc>
              <a:buNone/>
            </a:pPr>
            <a:r>
              <a:rPr lang="en-US" sz="1100" dirty="0">
                <a:solidFill>
                  <a:srgbClr val="5F708A"/>
                </a:solidFill>
                <a:latin typeface="Apple SD Gothic Neo" pitchFamily="34" charset="0"/>
                <a:ea typeface="Apple SD Gothic Neo" pitchFamily="34" charset="-122"/>
                <a:cs typeface="Apple SD Gothic Neo" pitchFamily="34" charset="-120"/>
              </a:rPr>
              <a:t>에이전트에게도 신원과 권한을 부여·통제</a:t>
            </a:r>
            <a:endParaRPr lang="en-US" sz="1100" dirty="0"/>
          </a:p>
        </p:txBody>
      </p:sp>
      <p:sp>
        <p:nvSpPr>
          <p:cNvPr id="15" name="Shape 12"/>
          <p:cNvSpPr/>
          <p:nvPr/>
        </p:nvSpPr>
        <p:spPr>
          <a:xfrm>
            <a:off x="6172200" y="2377440"/>
            <a:ext cx="5486400" cy="1600200"/>
          </a:xfrm>
          <a:prstGeom prst="roundRect">
            <a:avLst>
              <a:gd name="adj" fmla="val 514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6" name="Shape 13"/>
          <p:cNvSpPr/>
          <p:nvPr/>
        </p:nvSpPr>
        <p:spPr>
          <a:xfrm>
            <a:off x="6428232" y="2743200"/>
            <a:ext cx="868680" cy="868680"/>
          </a:xfrm>
          <a:prstGeom prst="ellipse">
            <a:avLst/>
          </a:prstGeom>
          <a:solidFill>
            <a:srgbClr val="DBE7F6"/>
          </a:solidFill>
          <a:ln/>
        </p:spPr>
      </p:sp>
      <p:pic>
        <p:nvPicPr>
          <p:cNvPr id="17" name="Image 1" descr="preencoded.png">    </p:cNvPr>
          <p:cNvPicPr>
            <a:picLocks noChangeAspect="1"/>
          </p:cNvPicPr>
          <p:nvPr/>
        </p:nvPicPr>
        <p:blipFill>
          <a:blip r:embed="rId2"/>
          <a:stretch>
            <a:fillRect/>
          </a:stretch>
        </p:blipFill>
        <p:spPr>
          <a:xfrm>
            <a:off x="6654089" y="2969057"/>
            <a:ext cx="416966" cy="416966"/>
          </a:xfrm>
          <a:prstGeom prst="rect">
            <a:avLst/>
          </a:prstGeom>
        </p:spPr>
      </p:pic>
      <p:sp>
        <p:nvSpPr>
          <p:cNvPr id="18" name="Text 14"/>
          <p:cNvSpPr/>
          <p:nvPr/>
        </p:nvSpPr>
        <p:spPr>
          <a:xfrm>
            <a:off x="7452360" y="2606040"/>
            <a:ext cx="3931920" cy="256032"/>
          </a:xfrm>
          <a:prstGeom prst="rect">
            <a:avLst/>
          </a:prstGeom>
          <a:noFill/>
          <a:ln/>
        </p:spPr>
        <p:txBody>
          <a:bodyPr wrap="square" rtlCol="0" anchor="ctr"/>
          <a:lstStyle/>
          <a:p>
            <a:pPr indent="0" marL="0">
              <a:buNone/>
            </a:pPr>
            <a:r>
              <a:rPr lang="en-US" sz="950" b="1" spc="100" kern="0" dirty="0">
                <a:solidFill>
                  <a:srgbClr val="2F5B93"/>
                </a:solidFill>
                <a:latin typeface="Apple SD Gothic Neo" pitchFamily="34" charset="0"/>
                <a:ea typeface="Apple SD Gothic Neo" pitchFamily="34" charset="-122"/>
                <a:cs typeface="Apple SD Gothic Neo" pitchFamily="34" charset="-120"/>
              </a:rPr>
              <a:t>데이터 거버넌스</a:t>
            </a:r>
            <a:endParaRPr lang="en-US" sz="950" dirty="0"/>
          </a:p>
        </p:txBody>
      </p:sp>
      <p:sp>
        <p:nvSpPr>
          <p:cNvPr id="19" name="Text 15"/>
          <p:cNvSpPr/>
          <p:nvPr/>
        </p:nvSpPr>
        <p:spPr>
          <a:xfrm>
            <a:off x="7452360" y="2852928"/>
            <a:ext cx="3931920" cy="365760"/>
          </a:xfrm>
          <a:prstGeom prst="rect">
            <a:avLst/>
          </a:prstGeom>
          <a:noFill/>
          <a:ln/>
        </p:spPr>
        <p:txBody>
          <a:bodyPr wrap="square" rtlCol="0" anchor="ctr"/>
          <a:lstStyle/>
          <a:p>
            <a:pPr indent="0" marL="0">
              <a:buNone/>
            </a:pPr>
            <a:r>
              <a:rPr lang="en-US" sz="1500" b="1" dirty="0">
                <a:solidFill>
                  <a:srgbClr val="0F2547"/>
                </a:solidFill>
                <a:latin typeface="Apple SD Gothic Neo" pitchFamily="34" charset="0"/>
                <a:ea typeface="Apple SD Gothic Neo" pitchFamily="34" charset="-122"/>
                <a:cs typeface="Apple SD Gothic Neo" pitchFamily="34" charset="-120"/>
              </a:rPr>
              <a:t>Microsoft Purview</a:t>
            </a:r>
            <a:endParaRPr lang="en-US" sz="1500" dirty="0"/>
          </a:p>
        </p:txBody>
      </p:sp>
      <p:sp>
        <p:nvSpPr>
          <p:cNvPr id="20" name="Text 16"/>
          <p:cNvSpPr/>
          <p:nvPr/>
        </p:nvSpPr>
        <p:spPr>
          <a:xfrm>
            <a:off x="7452360" y="3246120"/>
            <a:ext cx="3931920" cy="640080"/>
          </a:xfrm>
          <a:prstGeom prst="rect">
            <a:avLst/>
          </a:prstGeom>
          <a:noFill/>
          <a:ln/>
        </p:spPr>
        <p:txBody>
          <a:bodyPr wrap="square" rtlCol="0" anchor="t"/>
          <a:lstStyle/>
          <a:p>
            <a:pPr indent="0" marL="0">
              <a:lnSpc>
                <a:spcPct val="112000"/>
              </a:lnSpc>
              <a:buNone/>
            </a:pPr>
            <a:r>
              <a:rPr lang="en-US" sz="1100" dirty="0">
                <a:solidFill>
                  <a:srgbClr val="5F708A"/>
                </a:solidFill>
                <a:latin typeface="Apple SD Gothic Neo" pitchFamily="34" charset="0"/>
                <a:ea typeface="Apple SD Gothic Neo" pitchFamily="34" charset="-122"/>
                <a:cs typeface="Apple SD Gothic Neo" pitchFamily="34" charset="-120"/>
              </a:rPr>
              <a:t>민감정보 분류·데이터 정책·감사</a:t>
            </a:r>
            <a:endParaRPr lang="en-US" sz="1100" dirty="0"/>
          </a:p>
        </p:txBody>
      </p:sp>
      <p:sp>
        <p:nvSpPr>
          <p:cNvPr id="21" name="Shape 17"/>
          <p:cNvSpPr/>
          <p:nvPr/>
        </p:nvSpPr>
        <p:spPr>
          <a:xfrm>
            <a:off x="548640" y="4114800"/>
            <a:ext cx="5486400" cy="1600200"/>
          </a:xfrm>
          <a:prstGeom prst="roundRect">
            <a:avLst>
              <a:gd name="adj" fmla="val 514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2" name="Shape 18"/>
          <p:cNvSpPr/>
          <p:nvPr/>
        </p:nvSpPr>
        <p:spPr>
          <a:xfrm>
            <a:off x="804672" y="4480560"/>
            <a:ext cx="868680" cy="868680"/>
          </a:xfrm>
          <a:prstGeom prst="ellipse">
            <a:avLst/>
          </a:prstGeom>
          <a:solidFill>
            <a:srgbClr val="DBE7F6"/>
          </a:solidFill>
          <a:ln/>
        </p:spPr>
      </p:sp>
      <p:pic>
        <p:nvPicPr>
          <p:cNvPr id="23" name="Image 2" descr="preencoded.png">    </p:cNvPr>
          <p:cNvPicPr>
            <a:picLocks noChangeAspect="1"/>
          </p:cNvPicPr>
          <p:nvPr/>
        </p:nvPicPr>
        <p:blipFill>
          <a:blip r:embed="rId3"/>
          <a:stretch>
            <a:fillRect/>
          </a:stretch>
        </p:blipFill>
        <p:spPr>
          <a:xfrm>
            <a:off x="1030529" y="4706417"/>
            <a:ext cx="416966" cy="416966"/>
          </a:xfrm>
          <a:prstGeom prst="rect">
            <a:avLst/>
          </a:prstGeom>
        </p:spPr>
      </p:pic>
      <p:sp>
        <p:nvSpPr>
          <p:cNvPr id="24" name="Text 19"/>
          <p:cNvSpPr/>
          <p:nvPr/>
        </p:nvSpPr>
        <p:spPr>
          <a:xfrm>
            <a:off x="1828800" y="4343400"/>
            <a:ext cx="3931920" cy="256032"/>
          </a:xfrm>
          <a:prstGeom prst="rect">
            <a:avLst/>
          </a:prstGeom>
          <a:noFill/>
          <a:ln/>
        </p:spPr>
        <p:txBody>
          <a:bodyPr wrap="square" rtlCol="0" anchor="ctr"/>
          <a:lstStyle/>
          <a:p>
            <a:pPr indent="0" marL="0">
              <a:buNone/>
            </a:pPr>
            <a:r>
              <a:rPr lang="en-US" sz="950" b="1" spc="100" kern="0" dirty="0">
                <a:solidFill>
                  <a:srgbClr val="2F5B93"/>
                </a:solidFill>
                <a:latin typeface="Apple SD Gothic Neo" pitchFamily="34" charset="0"/>
                <a:ea typeface="Apple SD Gothic Neo" pitchFamily="34" charset="-122"/>
                <a:cs typeface="Apple SD Gothic Neo" pitchFamily="34" charset="-120"/>
              </a:rPr>
              <a:t>위협 보호</a:t>
            </a:r>
            <a:endParaRPr lang="en-US" sz="950" dirty="0"/>
          </a:p>
        </p:txBody>
      </p:sp>
      <p:sp>
        <p:nvSpPr>
          <p:cNvPr id="25" name="Text 20"/>
          <p:cNvSpPr/>
          <p:nvPr/>
        </p:nvSpPr>
        <p:spPr>
          <a:xfrm>
            <a:off x="1828800" y="4590288"/>
            <a:ext cx="3931920" cy="365760"/>
          </a:xfrm>
          <a:prstGeom prst="rect">
            <a:avLst/>
          </a:prstGeom>
          <a:noFill/>
          <a:ln/>
        </p:spPr>
        <p:txBody>
          <a:bodyPr wrap="square" rtlCol="0" anchor="ctr"/>
          <a:lstStyle/>
          <a:p>
            <a:pPr indent="0" marL="0">
              <a:buNone/>
            </a:pPr>
            <a:r>
              <a:rPr lang="en-US" sz="1500" b="1" dirty="0">
                <a:solidFill>
                  <a:srgbClr val="0F2547"/>
                </a:solidFill>
                <a:latin typeface="Apple SD Gothic Neo" pitchFamily="34" charset="0"/>
                <a:ea typeface="Apple SD Gothic Neo" pitchFamily="34" charset="-122"/>
                <a:cs typeface="Apple SD Gothic Neo" pitchFamily="34" charset="-120"/>
              </a:rPr>
              <a:t>Defender for Cloud/AI</a:t>
            </a:r>
            <a:endParaRPr lang="en-US" sz="1500" dirty="0"/>
          </a:p>
        </p:txBody>
      </p:sp>
      <p:sp>
        <p:nvSpPr>
          <p:cNvPr id="26" name="Text 21"/>
          <p:cNvSpPr/>
          <p:nvPr/>
        </p:nvSpPr>
        <p:spPr>
          <a:xfrm>
            <a:off x="1828800" y="4983480"/>
            <a:ext cx="3931920" cy="640080"/>
          </a:xfrm>
          <a:prstGeom prst="rect">
            <a:avLst/>
          </a:prstGeom>
          <a:noFill/>
          <a:ln/>
        </p:spPr>
        <p:txBody>
          <a:bodyPr wrap="square" rtlCol="0" anchor="t"/>
          <a:lstStyle/>
          <a:p>
            <a:pPr indent="0" marL="0">
              <a:lnSpc>
                <a:spcPct val="112000"/>
              </a:lnSpc>
              <a:buNone/>
            </a:pPr>
            <a:r>
              <a:rPr lang="en-US" sz="1100" dirty="0">
                <a:solidFill>
                  <a:srgbClr val="5F708A"/>
                </a:solidFill>
                <a:latin typeface="Apple SD Gothic Neo" pitchFamily="34" charset="0"/>
                <a:ea typeface="Apple SD Gothic Neo" pitchFamily="34" charset="-122"/>
                <a:cs typeface="Apple SD Gothic Neo" pitchFamily="34" charset="-120"/>
              </a:rPr>
              <a:t>AI 워크로드의 위협 탐지·대응</a:t>
            </a:r>
            <a:endParaRPr lang="en-US" sz="1100" dirty="0"/>
          </a:p>
        </p:txBody>
      </p:sp>
      <p:sp>
        <p:nvSpPr>
          <p:cNvPr id="27" name="Shape 22"/>
          <p:cNvSpPr/>
          <p:nvPr/>
        </p:nvSpPr>
        <p:spPr>
          <a:xfrm>
            <a:off x="6172200" y="4114800"/>
            <a:ext cx="5486400" cy="1600200"/>
          </a:xfrm>
          <a:prstGeom prst="roundRect">
            <a:avLst>
              <a:gd name="adj" fmla="val 5143"/>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8" name="Shape 23"/>
          <p:cNvSpPr/>
          <p:nvPr/>
        </p:nvSpPr>
        <p:spPr>
          <a:xfrm>
            <a:off x="6428232" y="4480560"/>
            <a:ext cx="868680" cy="868680"/>
          </a:xfrm>
          <a:prstGeom prst="ellipse">
            <a:avLst/>
          </a:prstGeom>
          <a:solidFill>
            <a:srgbClr val="DBE7F6"/>
          </a:solidFill>
          <a:ln/>
        </p:spPr>
      </p:sp>
      <p:pic>
        <p:nvPicPr>
          <p:cNvPr id="29" name="Image 3" descr="preencoded.png">    </p:cNvPr>
          <p:cNvPicPr>
            <a:picLocks noChangeAspect="1"/>
          </p:cNvPicPr>
          <p:nvPr/>
        </p:nvPicPr>
        <p:blipFill>
          <a:blip r:embed="rId4"/>
          <a:stretch>
            <a:fillRect/>
          </a:stretch>
        </p:blipFill>
        <p:spPr>
          <a:xfrm>
            <a:off x="6654089" y="4706417"/>
            <a:ext cx="416966" cy="416966"/>
          </a:xfrm>
          <a:prstGeom prst="rect">
            <a:avLst/>
          </a:prstGeom>
        </p:spPr>
      </p:pic>
      <p:sp>
        <p:nvSpPr>
          <p:cNvPr id="30" name="Text 24"/>
          <p:cNvSpPr/>
          <p:nvPr/>
        </p:nvSpPr>
        <p:spPr>
          <a:xfrm>
            <a:off x="7452360" y="4343400"/>
            <a:ext cx="3931920" cy="256032"/>
          </a:xfrm>
          <a:prstGeom prst="rect">
            <a:avLst/>
          </a:prstGeom>
          <a:noFill/>
          <a:ln/>
        </p:spPr>
        <p:txBody>
          <a:bodyPr wrap="square" rtlCol="0" anchor="ctr"/>
          <a:lstStyle/>
          <a:p>
            <a:pPr indent="0" marL="0">
              <a:buNone/>
            </a:pPr>
            <a:r>
              <a:rPr lang="en-US" sz="950" b="1" spc="100" kern="0" dirty="0">
                <a:solidFill>
                  <a:srgbClr val="2F5B93"/>
                </a:solidFill>
                <a:latin typeface="Apple SD Gothic Neo" pitchFamily="34" charset="0"/>
                <a:ea typeface="Apple SD Gothic Neo" pitchFamily="34" charset="-122"/>
                <a:cs typeface="Apple SD Gothic Neo" pitchFamily="34" charset="-120"/>
              </a:rPr>
              <a:t>관측</a:t>
            </a:r>
            <a:endParaRPr lang="en-US" sz="950" dirty="0"/>
          </a:p>
        </p:txBody>
      </p:sp>
      <p:sp>
        <p:nvSpPr>
          <p:cNvPr id="31" name="Text 25"/>
          <p:cNvSpPr/>
          <p:nvPr/>
        </p:nvSpPr>
        <p:spPr>
          <a:xfrm>
            <a:off x="7452360" y="4590288"/>
            <a:ext cx="3931920" cy="365760"/>
          </a:xfrm>
          <a:prstGeom prst="rect">
            <a:avLst/>
          </a:prstGeom>
          <a:noFill/>
          <a:ln/>
        </p:spPr>
        <p:txBody>
          <a:bodyPr wrap="square" rtlCol="0" anchor="ctr"/>
          <a:lstStyle/>
          <a:p>
            <a:pPr indent="0" marL="0">
              <a:buNone/>
            </a:pPr>
            <a:r>
              <a:rPr lang="en-US" sz="1500" b="1" dirty="0">
                <a:solidFill>
                  <a:srgbClr val="0F2547"/>
                </a:solidFill>
                <a:latin typeface="Apple SD Gothic Neo" pitchFamily="34" charset="0"/>
                <a:ea typeface="Apple SD Gothic Neo" pitchFamily="34" charset="-122"/>
                <a:cs typeface="Apple SD Gothic Neo" pitchFamily="34" charset="-120"/>
              </a:rPr>
              <a:t>Azure Monitor</a:t>
            </a:r>
            <a:endParaRPr lang="en-US" sz="1500" dirty="0"/>
          </a:p>
        </p:txBody>
      </p:sp>
      <p:sp>
        <p:nvSpPr>
          <p:cNvPr id="32" name="Text 26"/>
          <p:cNvSpPr/>
          <p:nvPr/>
        </p:nvSpPr>
        <p:spPr>
          <a:xfrm>
            <a:off x="7452360" y="4983480"/>
            <a:ext cx="3931920" cy="640080"/>
          </a:xfrm>
          <a:prstGeom prst="rect">
            <a:avLst/>
          </a:prstGeom>
          <a:noFill/>
          <a:ln/>
        </p:spPr>
        <p:txBody>
          <a:bodyPr wrap="square" rtlCol="0" anchor="t"/>
          <a:lstStyle/>
          <a:p>
            <a:pPr indent="0" marL="0">
              <a:lnSpc>
                <a:spcPct val="112000"/>
              </a:lnSpc>
              <a:buNone/>
            </a:pPr>
            <a:r>
              <a:rPr lang="en-US" sz="1100" dirty="0">
                <a:solidFill>
                  <a:srgbClr val="5F708A"/>
                </a:solidFill>
                <a:latin typeface="Apple SD Gothic Neo" pitchFamily="34" charset="0"/>
                <a:ea typeface="Apple SD Gothic Neo" pitchFamily="34" charset="-122"/>
                <a:cs typeface="Apple SD Gothic Neo" pitchFamily="34" charset="-120"/>
              </a:rPr>
              <a:t>성능·품질·안전을 지속 관측</a:t>
            </a:r>
            <a:endParaRPr lang="en-US" sz="1100" dirty="0"/>
          </a:p>
        </p:txBody>
      </p:sp>
      <p:sp>
        <p:nvSpPr>
          <p:cNvPr id="33" name="Text 27"/>
          <p:cNvSpPr/>
          <p:nvPr/>
        </p:nvSpPr>
        <p:spPr>
          <a:xfrm>
            <a:off x="548640" y="5943600"/>
            <a:ext cx="11109960" cy="365760"/>
          </a:xfrm>
          <a:prstGeom prst="rect">
            <a:avLst/>
          </a:prstGeom>
          <a:noFill/>
          <a:ln/>
        </p:spPr>
        <p:txBody>
          <a:bodyPr wrap="square" rtlCol="0" anchor="ctr"/>
          <a:lstStyle/>
          <a:p>
            <a:pPr algn="ctr" indent="0" marL="0">
              <a:buNone/>
            </a:pPr>
            <a:r>
              <a:rPr lang="en-US" sz="1250" b="1" dirty="0">
                <a:solidFill>
                  <a:srgbClr val="1A3D6D"/>
                </a:solidFill>
                <a:latin typeface="Apple SD Gothic Neo" pitchFamily="34" charset="0"/>
                <a:ea typeface="Apple SD Gothic Neo" pitchFamily="34" charset="-122"/>
                <a:cs typeface="Apple SD Gothic Neo" pitchFamily="34" charset="-120"/>
              </a:rPr>
              <a:t>이 네 가지는 모두 GA — 지금 바로 표준 거버넌스로 시작할 수 있습니다.</a:t>
            </a:r>
            <a:endParaRPr lang="en-US" sz="1250" dirty="0"/>
          </a:p>
        </p:txBody>
      </p:sp>
      <p:sp>
        <p:nvSpPr>
          <p:cNvPr id="34" name="Text 28"/>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35" name="Text 29"/>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25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4F8FB6"/>
          </a:solidFill>
          <a:ln/>
        </p:spPr>
      </p:sp>
      <p:sp>
        <p:nvSpPr>
          <p:cNvPr id="5" name="Shape 3"/>
          <p:cNvSpPr/>
          <p:nvPr/>
        </p:nvSpPr>
        <p:spPr>
          <a:xfrm>
            <a:off x="9178061" y="0"/>
            <a:ext cx="3013634" cy="68580"/>
          </a:xfrm>
          <a:prstGeom prst="rect">
            <a:avLst/>
          </a:prstGeom>
          <a:solidFill>
            <a:srgbClr val="DBE7F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11. AZURE 서비스 맵</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계층 ↔ 서비스 총정리</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109960" cy="914400"/>
        </p:xfrm>
        <a:graphic>
          <a:graphicData uri="http://schemas.openxmlformats.org/drawingml/2006/table">
            <a:tbl>
              <a:tblPr/>
              <a:tblGrid>
                <a:gridCol w="2468880"/>
                <a:gridCol w="6309360"/>
                <a:gridCol w="2331720"/>
              </a:tblGrid>
              <a:tr h="402336">
                <a:tc>
                  <a:txBody>
                    <a:bodyP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계층</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c>
                  <a:txBody>
                    <a:bodyP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핵심 서비스</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c>
                  <a:txBody>
                    <a:bodyP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성숙도</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r>
              <a:tr h="402336">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경험</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Microsoft 365 · Teams · Copilot Studio</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ctr" indent="0" marL="0">
                        <a:buNone/>
                      </a:pPr>
                      <a:r>
                        <a:rPr lang="en-US" sz="1100" b="1" dirty="0">
                          <a:solidFill>
                            <a:srgbClr val="2E9E6B"/>
                          </a:solidFill>
                          <a:latin typeface="Apple SD Gothic Neo" pitchFamily="34" charset="0"/>
                          <a:ea typeface="Apple SD Gothic Neo" pitchFamily="34" charset="-122"/>
                          <a:cs typeface="Apple SD Gothic Neo" pitchFamily="34" charset="-120"/>
                        </a:rPr>
                        <a:t>GA</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402336">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에이전트 관리</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Agent 365</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9E6B"/>
                          </a:solidFill>
                          <a:latin typeface="Apple SD Gothic Neo" pitchFamily="34" charset="0"/>
                          <a:ea typeface="Apple SD Gothic Neo" pitchFamily="34" charset="-122"/>
                          <a:cs typeface="Apple SD Gothic Neo" pitchFamily="34" charset="-120"/>
                        </a:rPr>
                        <a:t>GA · 2026.5</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r h="402336">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에이전트 제작</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Copilot Studio · Microsoft Foundry</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ctr" indent="0" marL="0">
                        <a:buNone/>
                      </a:pPr>
                      <a:r>
                        <a:rPr lang="en-US" sz="1100" b="1" dirty="0">
                          <a:solidFill>
                            <a:srgbClr val="2E9E6B"/>
                          </a:solidFill>
                          <a:latin typeface="Apple SD Gothic Neo" pitchFamily="34" charset="0"/>
                          <a:ea typeface="Apple SD Gothic Neo" pitchFamily="34" charset="-122"/>
                          <a:cs typeface="Apple SD Gothic Neo" pitchFamily="34" charset="-120"/>
                        </a:rPr>
                        <a:t>GA</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402336">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지능(IQ)</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Fabric IQ · Work IQ · Foundry IQ</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9A6A00"/>
                          </a:solidFill>
                          <a:latin typeface="Apple SD Gothic Neo" pitchFamily="34" charset="0"/>
                          <a:ea typeface="Apple SD Gothic Neo" pitchFamily="34" charset="-122"/>
                          <a:cs typeface="Apple SD Gothic Neo" pitchFamily="34" charset="-120"/>
                        </a:rPr>
                        <a:t>Preview</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r h="402336">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검색·RAG</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Azure AI Search</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ctr" indent="0" marL="0">
                        <a:buNone/>
                      </a:pPr>
                      <a:r>
                        <a:rPr lang="en-US" sz="1100" b="1" dirty="0">
                          <a:solidFill>
                            <a:srgbClr val="2E9E6B"/>
                          </a:solidFill>
                          <a:latin typeface="Apple SD Gothic Neo" pitchFamily="34" charset="0"/>
                          <a:ea typeface="Apple SD Gothic Neo" pitchFamily="34" charset="-122"/>
                          <a:cs typeface="Apple SD Gothic Neo" pitchFamily="34" charset="-120"/>
                        </a:rPr>
                        <a:t>GA</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402336">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데이터</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Microsoft Fabric · OneLake</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9E6B"/>
                          </a:solidFill>
                          <a:latin typeface="Apple SD Gothic Neo" pitchFamily="34" charset="0"/>
                          <a:ea typeface="Apple SD Gothic Neo" pitchFamily="34" charset="-122"/>
                          <a:cs typeface="Apple SD Gothic Neo" pitchFamily="34" charset="-120"/>
                        </a:rPr>
                        <a:t>GA</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r h="402336">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개발</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GitHub Copilot · Secret Protection</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ctr" indent="0" marL="0">
                        <a:buNone/>
                      </a:pPr>
                      <a:r>
                        <a:rPr lang="en-US" sz="1100" b="1" dirty="0">
                          <a:solidFill>
                            <a:srgbClr val="2E9E6B"/>
                          </a:solidFill>
                          <a:latin typeface="Apple SD Gothic Neo" pitchFamily="34" charset="0"/>
                          <a:ea typeface="Apple SD Gothic Neo" pitchFamily="34" charset="-122"/>
                          <a:cs typeface="Apple SD Gothic Neo" pitchFamily="34" charset="-120"/>
                        </a:rPr>
                        <a:t>GA</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402336">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거버넌스</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Entra · Purview · Defender · Monitor</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9E6B"/>
                          </a:solidFill>
                          <a:latin typeface="Apple SD Gothic Neo" pitchFamily="34" charset="0"/>
                          <a:ea typeface="Apple SD Gothic Neo" pitchFamily="34" charset="-122"/>
                          <a:cs typeface="Apple SD Gothic Neo" pitchFamily="34" charset="-120"/>
                        </a:rPr>
                        <a:t>GA</a:t>
                      </a:r>
                      <a:endParaRPr lang="en-US" sz="110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bl>
          </a:graphicData>
        </a:graphic>
      </p:graphicFrame>
      <p:sp>
        <p:nvSpPr>
          <p:cNvPr id="9" name="Text 6"/>
          <p:cNvSpPr/>
          <p:nvPr/>
        </p:nvSpPr>
        <p:spPr>
          <a:xfrm>
            <a:off x="548640" y="6035040"/>
            <a:ext cx="11109960" cy="365760"/>
          </a:xfrm>
          <a:prstGeom prst="rect">
            <a:avLst/>
          </a:prstGeom>
          <a:noFill/>
          <a:ln/>
        </p:spPr>
        <p:txBody>
          <a:bodyPr wrap="square" rtlCol="0" anchor="ctr"/>
          <a:lstStyle/>
          <a:p>
            <a:pPr algn="ctr" indent="0" marL="0">
              <a:buNone/>
            </a:pPr>
            <a:r>
              <a:rPr lang="en-US" sz="1050" dirty="0">
                <a:solidFill>
                  <a:srgbClr val="5F708A"/>
                </a:solidFill>
                <a:latin typeface="Apple SD Gothic Neo" pitchFamily="34" charset="0"/>
                <a:ea typeface="Apple SD Gothic Neo" pitchFamily="34" charset="-122"/>
                <a:cs typeface="Apple SD Gothic Neo" pitchFamily="34" charset="-120"/>
              </a:rPr>
              <a:t>Fabric IQ · Work IQ · Foundry IQ는 Preview — 발표 시점 GA·한국 리전 재확인 권장. 나머지는 지금 GA로 시작 가능.</a:t>
            </a:r>
            <a:endParaRPr lang="en-US" sz="1050" dirty="0"/>
          </a:p>
        </p:txBody>
      </p:sp>
      <p:sp>
        <p:nvSpPr>
          <p:cNvPr id="10" name="Text 7"/>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11" name="Text 8"/>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2547"/>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A3D6D"/>
          </a:solidFill>
          <a:ln/>
        </p:spPr>
      </p:sp>
      <p:sp>
        <p:nvSpPr>
          <p:cNvPr id="3" name="Shape 1"/>
          <p:cNvSpPr/>
          <p:nvPr/>
        </p:nvSpPr>
        <p:spPr>
          <a:xfrm>
            <a:off x="4206240" y="0"/>
            <a:ext cx="45720" cy="6858000"/>
          </a:xfrm>
          <a:prstGeom prst="rect">
            <a:avLst/>
          </a:prstGeom>
          <a:solidFill>
            <a:srgbClr val="2F5B93"/>
          </a:solidFill>
          <a:ln/>
        </p:spPr>
      </p:sp>
      <p:sp>
        <p:nvSpPr>
          <p:cNvPr id="4" name="Shape 2"/>
          <p:cNvSpPr/>
          <p:nvPr/>
        </p:nvSpPr>
        <p:spPr>
          <a:xfrm>
            <a:off x="1371600" y="2468880"/>
            <a:ext cx="1463040" cy="1463040"/>
          </a:xfrm>
          <a:prstGeom prst="ellipse">
            <a:avLst/>
          </a:prstGeom>
          <a:solidFill>
            <a:srgbClr val="2F5B93"/>
          </a:solidFill>
          <a:ln/>
        </p:spPr>
      </p:sp>
      <p:pic>
        <p:nvPicPr>
          <p:cNvPr id="5" name="Image 0" descr="preencoded.png">    </p:cNvPr>
          <p:cNvPicPr>
            <a:picLocks noChangeAspect="1"/>
          </p:cNvPicPr>
          <p:nvPr/>
        </p:nvPicPr>
        <p:blipFill>
          <a:blip r:embed="rId1"/>
          <a:stretch>
            <a:fillRect/>
          </a:stretch>
        </p:blipFill>
        <p:spPr>
          <a:xfrm>
            <a:off x="1751990" y="2849270"/>
            <a:ext cx="702259" cy="702259"/>
          </a:xfrm>
          <a:prstGeom prst="rect">
            <a:avLst/>
          </a:prstGeom>
        </p:spPr>
      </p:pic>
      <p:sp>
        <p:nvSpPr>
          <p:cNvPr id="6" name="Text 3"/>
          <p:cNvSpPr/>
          <p:nvPr/>
        </p:nvSpPr>
        <p:spPr>
          <a:xfrm>
            <a:off x="4754880" y="2331720"/>
            <a:ext cx="6766560" cy="457200"/>
          </a:xfrm>
          <a:prstGeom prst="rect">
            <a:avLst/>
          </a:prstGeom>
          <a:noFill/>
          <a:ln/>
        </p:spPr>
        <p:txBody>
          <a:bodyPr wrap="square" rtlCol="0" anchor="ctr"/>
          <a:lstStyle/>
          <a:p>
            <a:pPr indent="0" marL="0">
              <a:buNone/>
            </a:pPr>
            <a:r>
              <a:rPr lang="en-US" sz="1500" b="1" spc="300" kern="0" dirty="0">
                <a:solidFill>
                  <a:srgbClr val="6FA9CC"/>
                </a:solidFill>
                <a:latin typeface="Apple SD Gothic Neo" pitchFamily="34" charset="0"/>
                <a:ea typeface="Apple SD Gothic Neo" pitchFamily="34" charset="-122"/>
                <a:cs typeface="Apple SD Gothic Neo" pitchFamily="34" charset="-120"/>
              </a:rPr>
              <a:t>PART 4</a:t>
            </a:r>
            <a:endParaRPr lang="en-US" sz="1500" dirty="0"/>
          </a:p>
        </p:txBody>
      </p:sp>
      <p:sp>
        <p:nvSpPr>
          <p:cNvPr id="7" name="Text 4"/>
          <p:cNvSpPr/>
          <p:nvPr/>
        </p:nvSpPr>
        <p:spPr>
          <a:xfrm>
            <a:off x="4709160" y="2743200"/>
            <a:ext cx="7040880" cy="1005840"/>
          </a:xfrm>
          <a:prstGeom prst="rect">
            <a:avLst/>
          </a:prstGeom>
          <a:noFill/>
          <a:ln/>
        </p:spPr>
        <p:txBody>
          <a:bodyPr wrap="square" rtlCol="0" anchor="ctr"/>
          <a:lstStyle/>
          <a:p>
            <a:pPr indent="0" marL="0">
              <a:buNone/>
            </a:pPr>
            <a:r>
              <a:rPr lang="en-US" sz="3400" b="1" dirty="0">
                <a:solidFill>
                  <a:srgbClr val="FFFFFF"/>
                </a:solidFill>
                <a:latin typeface="Apple SD Gothic Neo" pitchFamily="34" charset="0"/>
                <a:ea typeface="Apple SD Gothic Neo" pitchFamily="34" charset="-122"/>
                <a:cs typeface="Apple SD Gothic Neo" pitchFamily="34" charset="-120"/>
              </a:rPr>
              <a:t>실현 — 다음 단계</a:t>
            </a:r>
            <a:endParaRPr lang="en-US" sz="3400" dirty="0"/>
          </a:p>
        </p:txBody>
      </p:sp>
      <p:sp>
        <p:nvSpPr>
          <p:cNvPr id="8" name="Text 5"/>
          <p:cNvSpPr/>
          <p:nvPr/>
        </p:nvSpPr>
        <p:spPr>
          <a:xfrm>
            <a:off x="4754880" y="3794760"/>
            <a:ext cx="6858000" cy="914400"/>
          </a:xfrm>
          <a:prstGeom prst="rect">
            <a:avLst/>
          </a:prstGeom>
          <a:noFill/>
          <a:ln/>
        </p:spPr>
        <p:txBody>
          <a:bodyPr wrap="square" rtlCol="0" anchor="ctr"/>
          <a:lstStyle/>
          <a:p>
            <a:pPr indent="0" marL="0">
              <a:lnSpc>
                <a:spcPct val="125000"/>
              </a:lnSpc>
              <a:buNone/>
            </a:pPr>
            <a:r>
              <a:rPr lang="en-US" sz="1400" dirty="0">
                <a:solidFill>
                  <a:srgbClr val="C7D8EC"/>
                </a:solidFill>
                <a:latin typeface="Apple SD Gothic Neo" pitchFamily="34" charset="0"/>
                <a:ea typeface="Apple SD Gothic Neo" pitchFamily="34" charset="-122"/>
                <a:cs typeface="Apple SD Gothic Neo" pitchFamily="34" charset="-120"/>
              </a:rPr>
              <a:t>역할별 시나리오 · 도입 로드맵 · 핵심 요약</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4F8FB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12. 역할별 시나리오</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누가, 무엇을 얻는가</a:t>
            </a:r>
            <a:endParaRPr lang="en-US" sz="3000" dirty="0"/>
          </a:p>
        </p:txBody>
      </p:sp>
      <p:sp>
        <p:nvSpPr>
          <p:cNvPr id="8" name="Shape 6"/>
          <p:cNvSpPr/>
          <p:nvPr/>
        </p:nvSpPr>
        <p:spPr>
          <a:xfrm>
            <a:off x="548640" y="1828800"/>
            <a:ext cx="5486400" cy="2148840"/>
          </a:xfrm>
          <a:prstGeom prst="roundRect">
            <a:avLst>
              <a:gd name="adj" fmla="val 383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9" name="Shape 7"/>
          <p:cNvSpPr/>
          <p:nvPr/>
        </p:nvSpPr>
        <p:spPr>
          <a:xfrm>
            <a:off x="841248" y="2194560"/>
            <a:ext cx="960120" cy="960120"/>
          </a:xfrm>
          <a:prstGeom prst="ellipse">
            <a:avLst/>
          </a:prstGeom>
          <a:solidFill>
            <a:srgbClr val="DBE7F6"/>
          </a:solidFill>
          <a:ln/>
        </p:spPr>
      </p:sp>
      <p:pic>
        <p:nvPicPr>
          <p:cNvPr id="10" name="Image 0" descr="preencoded.png">    </p:cNvPr>
          <p:cNvPicPr>
            <a:picLocks noChangeAspect="1"/>
          </p:cNvPicPr>
          <p:nvPr/>
        </p:nvPicPr>
        <p:blipFill>
          <a:blip r:embed="rId1"/>
          <a:stretch>
            <a:fillRect/>
          </a:stretch>
        </p:blipFill>
        <p:spPr>
          <a:xfrm>
            <a:off x="1090879" y="2444191"/>
            <a:ext cx="460858" cy="460858"/>
          </a:xfrm>
          <a:prstGeom prst="rect">
            <a:avLst/>
          </a:prstGeom>
        </p:spPr>
      </p:pic>
      <p:sp>
        <p:nvSpPr>
          <p:cNvPr id="11" name="Text 8"/>
          <p:cNvSpPr/>
          <p:nvPr/>
        </p:nvSpPr>
        <p:spPr>
          <a:xfrm>
            <a:off x="2011680" y="2194560"/>
            <a:ext cx="3749040" cy="384048"/>
          </a:xfrm>
          <a:prstGeom prst="rect">
            <a:avLst/>
          </a:prstGeom>
          <a:noFill/>
          <a:ln/>
        </p:spPr>
        <p:txBody>
          <a:bodyPr wrap="square" rtlCol="0" anchor="ctr"/>
          <a:lstStyle/>
          <a:p>
            <a:pPr indent="0" marL="0">
              <a:buNone/>
            </a:pPr>
            <a:r>
              <a:rPr lang="en-US" sz="1800" b="1" dirty="0">
                <a:solidFill>
                  <a:srgbClr val="0F2547"/>
                </a:solidFill>
                <a:latin typeface="Apple SD Gothic Neo" pitchFamily="34" charset="0"/>
                <a:ea typeface="Apple SD Gothic Neo" pitchFamily="34" charset="-122"/>
                <a:cs typeface="Apple SD Gothic Neo" pitchFamily="34" charset="-120"/>
              </a:rPr>
              <a:t>경영진</a:t>
            </a:r>
            <a:endParaRPr lang="en-US" sz="1800" dirty="0"/>
          </a:p>
        </p:txBody>
      </p:sp>
      <p:sp>
        <p:nvSpPr>
          <p:cNvPr id="12" name="Text 9"/>
          <p:cNvSpPr/>
          <p:nvPr/>
        </p:nvSpPr>
        <p:spPr>
          <a:xfrm>
            <a:off x="2011680" y="2606040"/>
            <a:ext cx="3749040" cy="320040"/>
          </a:xfrm>
          <a:prstGeom prst="rect">
            <a:avLst/>
          </a:prstGeom>
          <a:noFill/>
          <a:ln/>
        </p:spPr>
        <p:txBody>
          <a:bodyPr wrap="square" rtlCol="0" anchor="ctr"/>
          <a:lstStyle/>
          <a:p>
            <a:pPr indent="0" marL="0">
              <a:buNone/>
            </a:pPr>
            <a:r>
              <a:rPr lang="en-US" sz="1200" b="1" dirty="0">
                <a:solidFill>
                  <a:srgbClr val="2F5B93"/>
                </a:solidFill>
                <a:latin typeface="Apple SD Gothic Neo" pitchFamily="34" charset="0"/>
                <a:ea typeface="Apple SD Gothic Neo" pitchFamily="34" charset="-122"/>
                <a:cs typeface="Apple SD Gothic Neo" pitchFamily="34" charset="-120"/>
              </a:rPr>
              <a:t>성과 가시성</a:t>
            </a:r>
            <a:endParaRPr lang="en-US" sz="1200" dirty="0"/>
          </a:p>
        </p:txBody>
      </p:sp>
      <p:sp>
        <p:nvSpPr>
          <p:cNvPr id="13" name="Text 10"/>
          <p:cNvSpPr/>
          <p:nvPr/>
        </p:nvSpPr>
        <p:spPr>
          <a:xfrm>
            <a:off x="2011680" y="2971800"/>
            <a:ext cx="3794760" cy="822960"/>
          </a:xfrm>
          <a:prstGeom prst="rect">
            <a:avLst/>
          </a:prstGeom>
          <a:noFill/>
          <a:ln/>
        </p:spPr>
        <p:txBody>
          <a:bodyPr wrap="square" rtlCol="0" anchor="t"/>
          <a:lstStyle/>
          <a:p>
            <a:pPr indent="0" marL="0">
              <a:lnSpc>
                <a:spcPct val="115000"/>
              </a:lnSpc>
              <a:buNone/>
            </a:pPr>
            <a:r>
              <a:rPr lang="en-US" sz="1150" dirty="0">
                <a:solidFill>
                  <a:srgbClr val="5F708A"/>
                </a:solidFill>
                <a:latin typeface="Apple SD Gothic Neo" pitchFamily="34" charset="0"/>
                <a:ea typeface="Apple SD Gothic Neo" pitchFamily="34" charset="-122"/>
                <a:cs typeface="Apple SD Gothic Neo" pitchFamily="34" charset="-120"/>
              </a:rPr>
              <a:t>KPI·리스크를 한눈에 보는 대시보드 에이전트</a:t>
            </a:r>
            <a:endParaRPr lang="en-US" sz="1150" dirty="0"/>
          </a:p>
        </p:txBody>
      </p:sp>
      <p:sp>
        <p:nvSpPr>
          <p:cNvPr id="14" name="Shape 11"/>
          <p:cNvSpPr/>
          <p:nvPr/>
        </p:nvSpPr>
        <p:spPr>
          <a:xfrm>
            <a:off x="6172200" y="1828800"/>
            <a:ext cx="5486400" cy="2148840"/>
          </a:xfrm>
          <a:prstGeom prst="roundRect">
            <a:avLst>
              <a:gd name="adj" fmla="val 383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5" name="Shape 12"/>
          <p:cNvSpPr/>
          <p:nvPr/>
        </p:nvSpPr>
        <p:spPr>
          <a:xfrm>
            <a:off x="6464808" y="2194560"/>
            <a:ext cx="960120" cy="960120"/>
          </a:xfrm>
          <a:prstGeom prst="ellipse">
            <a:avLst/>
          </a:prstGeom>
          <a:solidFill>
            <a:srgbClr val="DBE7F6"/>
          </a:solidFill>
          <a:ln/>
        </p:spPr>
      </p:sp>
      <p:pic>
        <p:nvPicPr>
          <p:cNvPr id="16" name="Image 1" descr="preencoded.png">    </p:cNvPr>
          <p:cNvPicPr>
            <a:picLocks noChangeAspect="1"/>
          </p:cNvPicPr>
          <p:nvPr/>
        </p:nvPicPr>
        <p:blipFill>
          <a:blip r:embed="rId2"/>
          <a:stretch>
            <a:fillRect/>
          </a:stretch>
        </p:blipFill>
        <p:spPr>
          <a:xfrm>
            <a:off x="6714439" y="2444191"/>
            <a:ext cx="460858" cy="460858"/>
          </a:xfrm>
          <a:prstGeom prst="rect">
            <a:avLst/>
          </a:prstGeom>
        </p:spPr>
      </p:pic>
      <p:sp>
        <p:nvSpPr>
          <p:cNvPr id="17" name="Text 13"/>
          <p:cNvSpPr/>
          <p:nvPr/>
        </p:nvSpPr>
        <p:spPr>
          <a:xfrm>
            <a:off x="7635240" y="2194560"/>
            <a:ext cx="3749040" cy="384048"/>
          </a:xfrm>
          <a:prstGeom prst="rect">
            <a:avLst/>
          </a:prstGeom>
          <a:noFill/>
          <a:ln/>
        </p:spPr>
        <p:txBody>
          <a:bodyPr wrap="square" rtlCol="0" anchor="ctr"/>
          <a:lstStyle/>
          <a:p>
            <a:pPr indent="0" marL="0">
              <a:buNone/>
            </a:pPr>
            <a:r>
              <a:rPr lang="en-US" sz="1800" b="1" dirty="0">
                <a:solidFill>
                  <a:srgbClr val="0F2547"/>
                </a:solidFill>
                <a:latin typeface="Apple SD Gothic Neo" pitchFamily="34" charset="0"/>
                <a:ea typeface="Apple SD Gothic Neo" pitchFamily="34" charset="-122"/>
                <a:cs typeface="Apple SD Gothic Neo" pitchFamily="34" charset="-120"/>
              </a:rPr>
              <a:t>현업 담당자</a:t>
            </a:r>
            <a:endParaRPr lang="en-US" sz="1800" dirty="0"/>
          </a:p>
        </p:txBody>
      </p:sp>
      <p:sp>
        <p:nvSpPr>
          <p:cNvPr id="18" name="Text 14"/>
          <p:cNvSpPr/>
          <p:nvPr/>
        </p:nvSpPr>
        <p:spPr>
          <a:xfrm>
            <a:off x="7635240" y="2606040"/>
            <a:ext cx="3749040" cy="320040"/>
          </a:xfrm>
          <a:prstGeom prst="rect">
            <a:avLst/>
          </a:prstGeom>
          <a:noFill/>
          <a:ln/>
        </p:spPr>
        <p:txBody>
          <a:bodyPr wrap="square" rtlCol="0" anchor="ctr"/>
          <a:lstStyle/>
          <a:p>
            <a:pPr indent="0" marL="0">
              <a:buNone/>
            </a:pPr>
            <a:r>
              <a:rPr lang="en-US" sz="1200" b="1" dirty="0">
                <a:solidFill>
                  <a:srgbClr val="2F5B93"/>
                </a:solidFill>
                <a:latin typeface="Apple SD Gothic Neo" pitchFamily="34" charset="0"/>
                <a:ea typeface="Apple SD Gothic Neo" pitchFamily="34" charset="-122"/>
                <a:cs typeface="Apple SD Gothic Neo" pitchFamily="34" charset="-120"/>
              </a:rPr>
              <a:t>반복업무 자동화</a:t>
            </a:r>
            <a:endParaRPr lang="en-US" sz="1200" dirty="0"/>
          </a:p>
        </p:txBody>
      </p:sp>
      <p:sp>
        <p:nvSpPr>
          <p:cNvPr id="19" name="Text 15"/>
          <p:cNvSpPr/>
          <p:nvPr/>
        </p:nvSpPr>
        <p:spPr>
          <a:xfrm>
            <a:off x="7635240" y="2971800"/>
            <a:ext cx="3794760" cy="822960"/>
          </a:xfrm>
          <a:prstGeom prst="rect">
            <a:avLst/>
          </a:prstGeom>
          <a:noFill/>
          <a:ln/>
        </p:spPr>
        <p:txBody>
          <a:bodyPr wrap="square" rtlCol="0" anchor="t"/>
          <a:lstStyle/>
          <a:p>
            <a:pPr indent="0" marL="0">
              <a:lnSpc>
                <a:spcPct val="115000"/>
              </a:lnSpc>
              <a:buNone/>
            </a:pPr>
            <a:r>
              <a:rPr lang="en-US" sz="1150" dirty="0">
                <a:solidFill>
                  <a:srgbClr val="5F708A"/>
                </a:solidFill>
                <a:latin typeface="Apple SD Gothic Neo" pitchFamily="34" charset="0"/>
                <a:ea typeface="Apple SD Gothic Neo" pitchFamily="34" charset="-122"/>
                <a:cs typeface="Apple SD Gothic Neo" pitchFamily="34" charset="-120"/>
              </a:rPr>
              <a:t>Copilot Studio로 직접 만든 업무 에이전트</a:t>
            </a:r>
            <a:endParaRPr lang="en-US" sz="1150" dirty="0"/>
          </a:p>
        </p:txBody>
      </p:sp>
      <p:sp>
        <p:nvSpPr>
          <p:cNvPr id="20" name="Shape 16"/>
          <p:cNvSpPr/>
          <p:nvPr/>
        </p:nvSpPr>
        <p:spPr>
          <a:xfrm>
            <a:off x="548640" y="4133088"/>
            <a:ext cx="5486400" cy="2148840"/>
          </a:xfrm>
          <a:prstGeom prst="roundRect">
            <a:avLst>
              <a:gd name="adj" fmla="val 383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1" name="Shape 17"/>
          <p:cNvSpPr/>
          <p:nvPr/>
        </p:nvSpPr>
        <p:spPr>
          <a:xfrm>
            <a:off x="841248" y="4498848"/>
            <a:ext cx="960120" cy="960120"/>
          </a:xfrm>
          <a:prstGeom prst="ellipse">
            <a:avLst/>
          </a:prstGeom>
          <a:solidFill>
            <a:srgbClr val="DBE7F6"/>
          </a:solidFill>
          <a:ln/>
        </p:spPr>
      </p:sp>
      <p:pic>
        <p:nvPicPr>
          <p:cNvPr id="22" name="Image 2" descr="preencoded.png">    </p:cNvPr>
          <p:cNvPicPr>
            <a:picLocks noChangeAspect="1"/>
          </p:cNvPicPr>
          <p:nvPr/>
        </p:nvPicPr>
        <p:blipFill>
          <a:blip r:embed="rId3"/>
          <a:stretch>
            <a:fillRect/>
          </a:stretch>
        </p:blipFill>
        <p:spPr>
          <a:xfrm>
            <a:off x="1090879" y="4748479"/>
            <a:ext cx="460858" cy="460858"/>
          </a:xfrm>
          <a:prstGeom prst="rect">
            <a:avLst/>
          </a:prstGeom>
        </p:spPr>
      </p:pic>
      <p:sp>
        <p:nvSpPr>
          <p:cNvPr id="23" name="Text 18"/>
          <p:cNvSpPr/>
          <p:nvPr/>
        </p:nvSpPr>
        <p:spPr>
          <a:xfrm>
            <a:off x="2011680" y="4498848"/>
            <a:ext cx="3749040" cy="384048"/>
          </a:xfrm>
          <a:prstGeom prst="rect">
            <a:avLst/>
          </a:prstGeom>
          <a:noFill/>
          <a:ln/>
        </p:spPr>
        <p:txBody>
          <a:bodyPr wrap="square" rtlCol="0" anchor="ctr"/>
          <a:lstStyle/>
          <a:p>
            <a:pPr indent="0" marL="0">
              <a:buNone/>
            </a:pPr>
            <a:r>
              <a:rPr lang="en-US" sz="1800" b="1" dirty="0">
                <a:solidFill>
                  <a:srgbClr val="0F2547"/>
                </a:solidFill>
                <a:latin typeface="Apple SD Gothic Neo" pitchFamily="34" charset="0"/>
                <a:ea typeface="Apple SD Gothic Neo" pitchFamily="34" charset="-122"/>
                <a:cs typeface="Apple SD Gothic Neo" pitchFamily="34" charset="-120"/>
              </a:rPr>
              <a:t>개발자</a:t>
            </a:r>
            <a:endParaRPr lang="en-US" sz="1800" dirty="0"/>
          </a:p>
        </p:txBody>
      </p:sp>
      <p:sp>
        <p:nvSpPr>
          <p:cNvPr id="24" name="Text 19"/>
          <p:cNvSpPr/>
          <p:nvPr/>
        </p:nvSpPr>
        <p:spPr>
          <a:xfrm>
            <a:off x="2011680" y="4910328"/>
            <a:ext cx="3749040" cy="320040"/>
          </a:xfrm>
          <a:prstGeom prst="rect">
            <a:avLst/>
          </a:prstGeom>
          <a:noFill/>
          <a:ln/>
        </p:spPr>
        <p:txBody>
          <a:bodyPr wrap="square" rtlCol="0" anchor="ctr"/>
          <a:lstStyle/>
          <a:p>
            <a:pPr indent="0" marL="0">
              <a:buNone/>
            </a:pPr>
            <a:r>
              <a:rPr lang="en-US" sz="1200" b="1" dirty="0">
                <a:solidFill>
                  <a:srgbClr val="2F5B93"/>
                </a:solidFill>
                <a:latin typeface="Apple SD Gothic Neo" pitchFamily="34" charset="0"/>
                <a:ea typeface="Apple SD Gothic Neo" pitchFamily="34" charset="-122"/>
                <a:cs typeface="Apple SD Gothic Neo" pitchFamily="34" charset="-120"/>
              </a:rPr>
              <a:t>개발 생산성</a:t>
            </a:r>
            <a:endParaRPr lang="en-US" sz="1200" dirty="0"/>
          </a:p>
        </p:txBody>
      </p:sp>
      <p:sp>
        <p:nvSpPr>
          <p:cNvPr id="25" name="Text 20"/>
          <p:cNvSpPr/>
          <p:nvPr/>
        </p:nvSpPr>
        <p:spPr>
          <a:xfrm>
            <a:off x="2011680" y="5276088"/>
            <a:ext cx="3794760" cy="822960"/>
          </a:xfrm>
          <a:prstGeom prst="rect">
            <a:avLst/>
          </a:prstGeom>
          <a:noFill/>
          <a:ln/>
        </p:spPr>
        <p:txBody>
          <a:bodyPr wrap="square" rtlCol="0" anchor="t"/>
          <a:lstStyle/>
          <a:p>
            <a:pPr indent="0" marL="0">
              <a:lnSpc>
                <a:spcPct val="115000"/>
              </a:lnSpc>
              <a:buNone/>
            </a:pPr>
            <a:r>
              <a:rPr lang="en-US" sz="1150" dirty="0">
                <a:solidFill>
                  <a:srgbClr val="5F708A"/>
                </a:solidFill>
                <a:latin typeface="Apple SD Gothic Neo" pitchFamily="34" charset="0"/>
                <a:ea typeface="Apple SD Gothic Neo" pitchFamily="34" charset="-122"/>
                <a:cs typeface="Apple SD Gothic Neo" pitchFamily="34" charset="-120"/>
              </a:rPr>
              <a:t>GitHub Copilot·Foundry로 앱·에이전트 구축</a:t>
            </a:r>
            <a:endParaRPr lang="en-US" sz="1150" dirty="0"/>
          </a:p>
        </p:txBody>
      </p:sp>
      <p:sp>
        <p:nvSpPr>
          <p:cNvPr id="26" name="Shape 21"/>
          <p:cNvSpPr/>
          <p:nvPr/>
        </p:nvSpPr>
        <p:spPr>
          <a:xfrm>
            <a:off x="6172200" y="4133088"/>
            <a:ext cx="5486400" cy="2148840"/>
          </a:xfrm>
          <a:prstGeom prst="roundRect">
            <a:avLst>
              <a:gd name="adj" fmla="val 383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7" name="Shape 22"/>
          <p:cNvSpPr/>
          <p:nvPr/>
        </p:nvSpPr>
        <p:spPr>
          <a:xfrm>
            <a:off x="6464808" y="4498848"/>
            <a:ext cx="960120" cy="960120"/>
          </a:xfrm>
          <a:prstGeom prst="ellipse">
            <a:avLst/>
          </a:prstGeom>
          <a:solidFill>
            <a:srgbClr val="DBE7F6"/>
          </a:solidFill>
          <a:ln/>
        </p:spPr>
      </p:sp>
      <p:pic>
        <p:nvPicPr>
          <p:cNvPr id="28" name="Image 3" descr="preencoded.png">    </p:cNvPr>
          <p:cNvPicPr>
            <a:picLocks noChangeAspect="1"/>
          </p:cNvPicPr>
          <p:nvPr/>
        </p:nvPicPr>
        <p:blipFill>
          <a:blip r:embed="rId4"/>
          <a:stretch>
            <a:fillRect/>
          </a:stretch>
        </p:blipFill>
        <p:spPr>
          <a:xfrm>
            <a:off x="6714439" y="4748479"/>
            <a:ext cx="460858" cy="460858"/>
          </a:xfrm>
          <a:prstGeom prst="rect">
            <a:avLst/>
          </a:prstGeom>
        </p:spPr>
      </p:pic>
      <p:sp>
        <p:nvSpPr>
          <p:cNvPr id="29" name="Text 23"/>
          <p:cNvSpPr/>
          <p:nvPr/>
        </p:nvSpPr>
        <p:spPr>
          <a:xfrm>
            <a:off x="7635240" y="4498848"/>
            <a:ext cx="3749040" cy="384048"/>
          </a:xfrm>
          <a:prstGeom prst="rect">
            <a:avLst/>
          </a:prstGeom>
          <a:noFill/>
          <a:ln/>
        </p:spPr>
        <p:txBody>
          <a:bodyPr wrap="square" rtlCol="0" anchor="ctr"/>
          <a:lstStyle/>
          <a:p>
            <a:pPr indent="0" marL="0">
              <a:buNone/>
            </a:pPr>
            <a:r>
              <a:rPr lang="en-US" sz="1800" b="1" dirty="0">
                <a:solidFill>
                  <a:srgbClr val="0F2547"/>
                </a:solidFill>
                <a:latin typeface="Apple SD Gothic Neo" pitchFamily="34" charset="0"/>
                <a:ea typeface="Apple SD Gothic Neo" pitchFamily="34" charset="-122"/>
                <a:cs typeface="Apple SD Gothic Neo" pitchFamily="34" charset="-120"/>
              </a:rPr>
              <a:t>IT·보안</a:t>
            </a:r>
            <a:endParaRPr lang="en-US" sz="1800" dirty="0"/>
          </a:p>
        </p:txBody>
      </p:sp>
      <p:sp>
        <p:nvSpPr>
          <p:cNvPr id="30" name="Text 24"/>
          <p:cNvSpPr/>
          <p:nvPr/>
        </p:nvSpPr>
        <p:spPr>
          <a:xfrm>
            <a:off x="7635240" y="4910328"/>
            <a:ext cx="3749040" cy="320040"/>
          </a:xfrm>
          <a:prstGeom prst="rect">
            <a:avLst/>
          </a:prstGeom>
          <a:noFill/>
          <a:ln/>
        </p:spPr>
        <p:txBody>
          <a:bodyPr wrap="square" rtlCol="0" anchor="ctr"/>
          <a:lstStyle/>
          <a:p>
            <a:pPr indent="0" marL="0">
              <a:buNone/>
            </a:pPr>
            <a:r>
              <a:rPr lang="en-US" sz="1200" b="1" dirty="0">
                <a:solidFill>
                  <a:srgbClr val="2F5B93"/>
                </a:solidFill>
                <a:latin typeface="Apple SD Gothic Neo" pitchFamily="34" charset="0"/>
                <a:ea typeface="Apple SD Gothic Neo" pitchFamily="34" charset="-122"/>
                <a:cs typeface="Apple SD Gothic Neo" pitchFamily="34" charset="-120"/>
              </a:rPr>
              <a:t>통제 가능한 확산</a:t>
            </a:r>
            <a:endParaRPr lang="en-US" sz="1200" dirty="0"/>
          </a:p>
        </p:txBody>
      </p:sp>
      <p:sp>
        <p:nvSpPr>
          <p:cNvPr id="31" name="Text 25"/>
          <p:cNvSpPr/>
          <p:nvPr/>
        </p:nvSpPr>
        <p:spPr>
          <a:xfrm>
            <a:off x="7635240" y="5276088"/>
            <a:ext cx="3794760" cy="822960"/>
          </a:xfrm>
          <a:prstGeom prst="rect">
            <a:avLst/>
          </a:prstGeom>
          <a:noFill/>
          <a:ln/>
        </p:spPr>
        <p:txBody>
          <a:bodyPr wrap="square" rtlCol="0" anchor="t"/>
          <a:lstStyle/>
          <a:p>
            <a:pPr indent="0" marL="0">
              <a:lnSpc>
                <a:spcPct val="115000"/>
              </a:lnSpc>
              <a:buNone/>
            </a:pPr>
            <a:r>
              <a:rPr lang="en-US" sz="1150" dirty="0">
                <a:solidFill>
                  <a:srgbClr val="5F708A"/>
                </a:solidFill>
                <a:latin typeface="Apple SD Gothic Neo" pitchFamily="34" charset="0"/>
                <a:ea typeface="Apple SD Gothic Neo" pitchFamily="34" charset="-122"/>
                <a:cs typeface="Apple SD Gothic Neo" pitchFamily="34" charset="-120"/>
              </a:rPr>
              <a:t>Entra·Purview로 안전하게 관리·감사</a:t>
            </a:r>
            <a:endParaRPr lang="en-US" sz="1150" dirty="0"/>
          </a:p>
        </p:txBody>
      </p:sp>
      <p:sp>
        <p:nvSpPr>
          <p:cNvPr id="32" name="Text 26"/>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33" name="Text 27"/>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28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4F8FB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13. 활용 시나리오</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6개 업무에서 바로 시작할 수 있습니다</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109960" cy="914400"/>
        </p:xfrm>
        <a:graphic>
          <a:graphicData uri="http://schemas.openxmlformats.org/drawingml/2006/table">
            <a:tbl>
              <a:tblPr/>
              <a:tblGrid>
                <a:gridCol w="914400"/>
                <a:gridCol w="5623560"/>
                <a:gridCol w="4572000"/>
              </a:tblGrid>
              <a:tr h="530352">
                <a:tc>
                  <a:txBody>
                    <a:bodyPr/>
                    <a:lstStyle/>
                    <a:p>
                      <a:pPr algn="ct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c>
                  <a:txBody>
                    <a:bodyPr/>
                    <a:lstStyle/>
                    <a:p>
                      <a:pPr algn="ct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업무 시나리오</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c>
                  <a:txBody>
                    <a:bodyPr/>
                    <a:lstStyle/>
                    <a:p>
                      <a:pPr algn="ct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핵심 Azure 서비스</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1A3D6D"/>
                    </a:solidFill>
                  </a:tcPr>
                </a:tc>
              </a:tr>
              <a:tr h="530352">
                <a:tc>
                  <a:txBody>
                    <a:bodyPr/>
                    <a:lstStyle/>
                    <a:p>
                      <a:pPr algn="ctr" indent="0" marL="0">
                        <a:buNone/>
                      </a:pPr>
                      <a:r>
                        <a:rPr lang="en-US" sz="1150" dirty="0">
                          <a:solidFill>
                            <a:srgbClr val="1B2A41"/>
                          </a:solidFill>
                          <a:latin typeface="Apple SD Gothic Neo" pitchFamily="34" charset="0"/>
                          <a:ea typeface="Apple SD Gothic Neo" pitchFamily="34" charset="-122"/>
                          <a:cs typeface="Apple SD Gothic Neo" pitchFamily="34" charset="-120"/>
                        </a:rPr>
                        <a:t>1</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보고서·리서치 자동 작성</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Foundry · AI Search · OneLake</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530352">
                <a:tc>
                  <a:txBody>
                    <a:bodyPr/>
                    <a:lstStyle/>
                    <a:p>
                      <a:pPr algn="ctr" indent="0" marL="0">
                        <a:buNone/>
                      </a:pPr>
                      <a:r>
                        <a:rPr lang="en-US" sz="1150" dirty="0">
                          <a:solidFill>
                            <a:srgbClr val="1B2A41"/>
                          </a:solidFill>
                          <a:latin typeface="Apple SD Gothic Neo" pitchFamily="34" charset="0"/>
                          <a:ea typeface="Apple SD Gothic Neo" pitchFamily="34" charset="-122"/>
                          <a:cs typeface="Apple SD Gothic Neo" pitchFamily="34" charset="-120"/>
                        </a:rPr>
                        <a:t>2</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내부 지식 Q&amp;A 어시스턴트</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Copilot Studio · AI Search</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r h="530352">
                <a:tc>
                  <a:txBody>
                    <a:bodyPr/>
                    <a:lstStyle/>
                    <a:p>
                      <a:pPr algn="ctr" indent="0" marL="0">
                        <a:buNone/>
                      </a:pPr>
                      <a:r>
                        <a:rPr lang="en-US" sz="1150" dirty="0">
                          <a:solidFill>
                            <a:srgbClr val="1B2A41"/>
                          </a:solidFill>
                          <a:latin typeface="Apple SD Gothic Neo" pitchFamily="34" charset="0"/>
                          <a:ea typeface="Apple SD Gothic Neo" pitchFamily="34" charset="-122"/>
                          <a:cs typeface="Apple SD Gothic Neo" pitchFamily="34" charset="-120"/>
                        </a:rPr>
                        <a:t>3</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업무 프로세스 자동화</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Copilot Studio · Work IQ [Preview]</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530352">
                <a:tc>
                  <a:txBody>
                    <a:bodyPr/>
                    <a:lstStyle/>
                    <a:p>
                      <a:pPr algn="ctr" indent="0" marL="0">
                        <a:buNone/>
                      </a:pPr>
                      <a:r>
                        <a:rPr lang="en-US" sz="1150" dirty="0">
                          <a:solidFill>
                            <a:srgbClr val="1B2A41"/>
                          </a:solidFill>
                          <a:latin typeface="Apple SD Gothic Neo" pitchFamily="34" charset="0"/>
                          <a:ea typeface="Apple SD Gothic Neo" pitchFamily="34" charset="-122"/>
                          <a:cs typeface="Apple SD Gothic Neo" pitchFamily="34" charset="-120"/>
                        </a:rPr>
                        <a:t>4</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전사 에이전트 관리·운영</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Agent 365 · Entra · Purview</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r h="530352">
                <a:tc>
                  <a:txBody>
                    <a:bodyPr/>
                    <a:lstStyle/>
                    <a:p>
                      <a:pPr algn="ctr" indent="0" marL="0">
                        <a:buNone/>
                      </a:pPr>
                      <a:r>
                        <a:rPr lang="en-US" sz="1150" dirty="0">
                          <a:solidFill>
                            <a:srgbClr val="1B2A41"/>
                          </a:solidFill>
                          <a:latin typeface="Apple SD Gothic Neo" pitchFamily="34" charset="0"/>
                          <a:ea typeface="Apple SD Gothic Neo" pitchFamily="34" charset="-122"/>
                          <a:cs typeface="Apple SD Gothic Neo" pitchFamily="34" charset="-120"/>
                        </a:rPr>
                        <a:t>5</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데이터 분석·인사이트</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Fabric · Fabric IQ [Preview]</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EEF4FB"/>
                    </a:solidFill>
                  </a:tcPr>
                </a:tc>
              </a:tr>
              <a:tr h="530352">
                <a:tc>
                  <a:txBody>
                    <a:bodyPr/>
                    <a:lstStyle/>
                    <a:p>
                      <a:pPr algn="ctr" indent="0" marL="0">
                        <a:buNone/>
                      </a:pPr>
                      <a:r>
                        <a:rPr lang="en-US" sz="1150" dirty="0">
                          <a:solidFill>
                            <a:srgbClr val="1B2A41"/>
                          </a:solidFill>
                          <a:latin typeface="Apple SD Gothic Neo" pitchFamily="34" charset="0"/>
                          <a:ea typeface="Apple SD Gothic Neo" pitchFamily="34" charset="-122"/>
                          <a:cs typeface="Apple SD Gothic Neo" pitchFamily="34" charset="-120"/>
                        </a:rPr>
                        <a:t>6</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개발 가속·현대화</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GitHub Copilot · Foundry</a:t>
                      </a:r>
                      <a:endParaRPr lang="en-US" sz="1150" dirty="0">
                        <a:latin typeface="Apple SD Gothic Neo" charset="0"/>
                        <a:ea typeface="Apple SD Gothic Neo" charset="0"/>
                        <a:cs typeface="Apple SD Gothic Neo" charset="0"/>
                      </a:endParaRPr>
                    </a:p>
                  </a:txBody>
                  <a:tcPr marL="63500" marR="63500" marT="38100" marB="38100" anchor="ctr">
                    <a:lnL w="0" cap="flat" cmpd="sng" algn="ctr">
                      <a:noFill/>
                    </a:lnL>
                    <a:lnR w="0" cap="flat" cmpd="sng" algn="ctr">
                      <a:noFill/>
                    </a:lnR>
                    <a:lnT w="6350" cap="flat" cmpd="sng" algn="ctr">
                      <a:solidFill>
                        <a:srgbClr val="D4E0F0"/>
                      </a:solidFill>
                      <a:prstDash val="solid"/>
                      <a:round/>
                      <a:headEnd type="none" w="med" len="med"/>
                      <a:tailEnd type="none" w="med" len="med"/>
                    </a:lnT>
                    <a:lnB w="6350" cap="flat" cmpd="sng" algn="ctr">
                      <a:solidFill>
                        <a:srgbClr val="D4E0F0"/>
                      </a:solidFill>
                      <a:prstDash val="solid"/>
                      <a:round/>
                      <a:headEnd type="none" w="med" len="med"/>
                      <a:tailEnd type="none" w="med" len="med"/>
                    </a:lnB>
                    <a:solidFill>
                      <a:srgbClr val="FFFFFF"/>
                    </a:solidFill>
                  </a:tcPr>
                </a:tc>
              </a:tr>
            </a:tbl>
          </a:graphicData>
        </a:graphic>
      </p:graphicFrame>
      <p:sp>
        <p:nvSpPr>
          <p:cNvPr id="9" name="Text 6"/>
          <p:cNvSpPr/>
          <p:nvPr/>
        </p:nvSpPr>
        <p:spPr>
          <a:xfrm>
            <a:off x="548640" y="5943600"/>
            <a:ext cx="11109960" cy="365760"/>
          </a:xfrm>
          <a:prstGeom prst="rect">
            <a:avLst/>
          </a:prstGeom>
          <a:noFill/>
          <a:ln/>
        </p:spPr>
        <p:txBody>
          <a:bodyPr wrap="square" rtlCol="0" anchor="ctr"/>
          <a:lstStyle/>
          <a:p>
            <a:pPr algn="ctr" indent="0" marL="0">
              <a:buNone/>
            </a:pPr>
            <a:r>
              <a:rPr lang="en-US" sz="1250" b="1" dirty="0">
                <a:solidFill>
                  <a:srgbClr val="1A3D6D"/>
                </a:solidFill>
                <a:latin typeface="Apple SD Gothic Neo" pitchFamily="34" charset="0"/>
                <a:ea typeface="Apple SD Gothic Neo" pitchFamily="34" charset="-122"/>
                <a:cs typeface="Apple SD Gothic Neo" pitchFamily="34" charset="-120"/>
              </a:rPr>
              <a:t>대표 시나리오 #1은 이미 GA 서비스만으로 구현 가능 — 여기서 시작해 패턴을 확장합니다.</a:t>
            </a:r>
            <a:endParaRPr lang="en-US" sz="1250" dirty="0"/>
          </a:p>
        </p:txBody>
      </p:sp>
      <p:sp>
        <p:nvSpPr>
          <p:cNvPr id="10" name="Text 7"/>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11" name="Text 8"/>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29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4F8FB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14. 도입 로드맵</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작게 시작해 안전하게 확장합니다</a:t>
            </a:r>
            <a:endParaRPr lang="en-US" sz="3000" dirty="0"/>
          </a:p>
        </p:txBody>
      </p:sp>
      <p:sp>
        <p:nvSpPr>
          <p:cNvPr id="8" name="Shape 6"/>
          <p:cNvSpPr/>
          <p:nvPr/>
        </p:nvSpPr>
        <p:spPr>
          <a:xfrm>
            <a:off x="2331720" y="3534156"/>
            <a:ext cx="7818120" cy="64008"/>
          </a:xfrm>
          <a:prstGeom prst="roundRect">
            <a:avLst>
              <a:gd name="adj" fmla="val 50000"/>
            </a:avLst>
          </a:prstGeom>
          <a:solidFill>
            <a:srgbClr val="7AA5D6"/>
          </a:solidFill>
          <a:ln/>
        </p:spPr>
      </p:sp>
      <p:sp>
        <p:nvSpPr>
          <p:cNvPr id="9" name="Shape 7"/>
          <p:cNvSpPr/>
          <p:nvPr/>
        </p:nvSpPr>
        <p:spPr>
          <a:xfrm>
            <a:off x="2331720" y="3200400"/>
            <a:ext cx="0" cy="64008"/>
          </a:xfrm>
          <a:prstGeom prst="line">
            <a:avLst/>
          </a:prstGeom>
          <a:noFill/>
          <a:ln w="19050">
            <a:solidFill>
              <a:srgbClr val="7AA5D6"/>
            </a:solidFill>
            <a:prstDash val="solid"/>
          </a:ln>
        </p:spPr>
      </p:sp>
      <p:sp>
        <p:nvSpPr>
          <p:cNvPr id="10" name="Shape 8"/>
          <p:cNvSpPr/>
          <p:nvPr/>
        </p:nvSpPr>
        <p:spPr>
          <a:xfrm>
            <a:off x="1074420" y="1828800"/>
            <a:ext cx="2514600" cy="1371600"/>
          </a:xfrm>
          <a:prstGeom prst="roundRect">
            <a:avLst>
              <a:gd name="adj" fmla="val 6000"/>
            </a:avLst>
          </a:prstGeom>
          <a:solidFill>
            <a:srgbClr val="1A3D6D"/>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1" name="Text 9"/>
          <p:cNvSpPr/>
          <p:nvPr/>
        </p:nvSpPr>
        <p:spPr>
          <a:xfrm>
            <a:off x="1074420" y="1975104"/>
            <a:ext cx="2514600" cy="384048"/>
          </a:xfrm>
          <a:prstGeom prst="rect">
            <a:avLst/>
          </a:prstGeom>
          <a:noFill/>
          <a:ln/>
        </p:spPr>
        <p:txBody>
          <a:bodyPr wrap="square" rtlCol="0" anchor="ctr"/>
          <a:lstStyle/>
          <a:p>
            <a:pPr algn="ctr" indent="0" marL="0">
              <a:buNone/>
            </a:pPr>
            <a:r>
              <a:rPr lang="en-US" sz="1700" b="1" dirty="0">
                <a:solidFill>
                  <a:srgbClr val="FFFFFF"/>
                </a:solidFill>
                <a:latin typeface="Apple SD Gothic Neo" pitchFamily="34" charset="0"/>
                <a:ea typeface="Apple SD Gothic Neo" pitchFamily="34" charset="-122"/>
                <a:cs typeface="Apple SD Gothic Neo" pitchFamily="34" charset="-120"/>
              </a:rPr>
              <a:t>Envision</a:t>
            </a:r>
            <a:endParaRPr lang="en-US" sz="1700" dirty="0"/>
          </a:p>
        </p:txBody>
      </p:sp>
      <p:sp>
        <p:nvSpPr>
          <p:cNvPr id="12" name="Shape 10"/>
          <p:cNvSpPr/>
          <p:nvPr/>
        </p:nvSpPr>
        <p:spPr>
          <a:xfrm>
            <a:off x="1851660" y="2359152"/>
            <a:ext cx="658368" cy="274320"/>
          </a:xfrm>
          <a:prstGeom prst="roundRect">
            <a:avLst>
              <a:gd name="adj" fmla="val 50000"/>
            </a:avLst>
          </a:prstGeom>
          <a:solidFill>
            <a:srgbClr val="2F5B93"/>
          </a:solidFill>
          <a:ln/>
        </p:spPr>
      </p:sp>
      <p:sp>
        <p:nvSpPr>
          <p:cNvPr id="13" name="Text 11"/>
          <p:cNvSpPr/>
          <p:nvPr/>
        </p:nvSpPr>
        <p:spPr>
          <a:xfrm>
            <a:off x="1851660" y="2359152"/>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0~2주</a:t>
            </a:r>
            <a:endParaRPr lang="en-US" sz="1000" dirty="0"/>
          </a:p>
        </p:txBody>
      </p:sp>
      <p:sp>
        <p:nvSpPr>
          <p:cNvPr id="14" name="Text 12"/>
          <p:cNvSpPr/>
          <p:nvPr/>
        </p:nvSpPr>
        <p:spPr>
          <a:xfrm>
            <a:off x="1239012" y="2706624"/>
            <a:ext cx="2185416" cy="438912"/>
          </a:xfrm>
          <a:prstGeom prst="rect">
            <a:avLst/>
          </a:prstGeom>
          <a:noFill/>
          <a:ln/>
        </p:spPr>
        <p:txBody>
          <a:bodyPr wrap="square" rtlCol="0" anchor="ctr"/>
          <a:lstStyle/>
          <a:p>
            <a:pPr algn="ctr" indent="0" marL="0">
              <a:lnSpc>
                <a:spcPct val="110000"/>
              </a:lnSpc>
              <a:buNone/>
            </a:pPr>
            <a:r>
              <a:rPr lang="en-US" sz="1000" dirty="0">
                <a:solidFill>
                  <a:srgbClr val="DBE7F6"/>
                </a:solidFill>
                <a:latin typeface="Apple SD Gothic Neo" pitchFamily="34" charset="0"/>
                <a:ea typeface="Apple SD Gothic Neo" pitchFamily="34" charset="-122"/>
                <a:cs typeface="Apple SD Gothic Neo" pitchFamily="34" charset="-120"/>
              </a:rPr>
              <a:t>ROI 높은 한 업무 선정 · 데이터·보안 요건 정리</a:t>
            </a:r>
            <a:endParaRPr lang="en-US" sz="1000" dirty="0"/>
          </a:p>
        </p:txBody>
      </p:sp>
      <p:sp>
        <p:nvSpPr>
          <p:cNvPr id="15" name="Shape 13"/>
          <p:cNvSpPr/>
          <p:nvPr/>
        </p:nvSpPr>
        <p:spPr>
          <a:xfrm>
            <a:off x="2029968" y="3264408"/>
            <a:ext cx="603504" cy="603504"/>
          </a:xfrm>
          <a:prstGeom prst="ellipse">
            <a:avLst/>
          </a:prstGeom>
          <a:solidFill>
            <a:srgbClr val="4F8FB6"/>
          </a:solidFill>
          <a:ln w="25400">
            <a:solidFill>
              <a:srgbClr val="FFFFFF"/>
            </a:solidFill>
            <a:prstDash val="solid"/>
          </a:ln>
        </p:spPr>
      </p:sp>
      <p:sp>
        <p:nvSpPr>
          <p:cNvPr id="16" name="Text 14"/>
          <p:cNvSpPr/>
          <p:nvPr/>
        </p:nvSpPr>
        <p:spPr>
          <a:xfrm>
            <a:off x="2029968" y="3264408"/>
            <a:ext cx="603504" cy="603504"/>
          </a:xfrm>
          <a:prstGeom prst="rect">
            <a:avLst/>
          </a:prstGeom>
          <a:noFill/>
          <a:ln/>
        </p:spPr>
        <p:txBody>
          <a:bodyPr wrap="square" rtlCol="0" anchor="ctr"/>
          <a:lstStyle/>
          <a:p>
            <a:pPr algn="ctr" indent="0" marL="0">
              <a:buNone/>
            </a:pPr>
            <a:r>
              <a:rPr lang="en-US" sz="1600" b="1" dirty="0">
                <a:solidFill>
                  <a:srgbClr val="0F2547"/>
                </a:solidFill>
                <a:latin typeface="Apple SD Gothic Neo" pitchFamily="34" charset="0"/>
                <a:ea typeface="Apple SD Gothic Neo" pitchFamily="34" charset="-122"/>
                <a:cs typeface="Apple SD Gothic Neo" pitchFamily="34" charset="-120"/>
              </a:rPr>
              <a:t>1</a:t>
            </a:r>
            <a:endParaRPr lang="en-US" sz="1600" dirty="0"/>
          </a:p>
        </p:txBody>
      </p:sp>
      <p:sp>
        <p:nvSpPr>
          <p:cNvPr id="17" name="Shape 15"/>
          <p:cNvSpPr/>
          <p:nvPr/>
        </p:nvSpPr>
        <p:spPr>
          <a:xfrm>
            <a:off x="4937760" y="3867912"/>
            <a:ext cx="0" cy="64008"/>
          </a:xfrm>
          <a:prstGeom prst="line">
            <a:avLst/>
          </a:prstGeom>
          <a:noFill/>
          <a:ln w="19050">
            <a:solidFill>
              <a:srgbClr val="7AA5D6"/>
            </a:solidFill>
            <a:prstDash val="solid"/>
          </a:ln>
        </p:spPr>
      </p:sp>
      <p:sp>
        <p:nvSpPr>
          <p:cNvPr id="18" name="Shape 16"/>
          <p:cNvSpPr/>
          <p:nvPr/>
        </p:nvSpPr>
        <p:spPr>
          <a:xfrm>
            <a:off x="3680460" y="3931920"/>
            <a:ext cx="2514600" cy="1371600"/>
          </a:xfrm>
          <a:prstGeom prst="roundRect">
            <a:avLst>
              <a:gd name="adj" fmla="val 600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9" name="Text 17"/>
          <p:cNvSpPr/>
          <p:nvPr/>
        </p:nvSpPr>
        <p:spPr>
          <a:xfrm>
            <a:off x="3680460" y="4078224"/>
            <a:ext cx="2514600" cy="384048"/>
          </a:xfrm>
          <a:prstGeom prst="rect">
            <a:avLst/>
          </a:prstGeom>
          <a:noFill/>
          <a:ln/>
        </p:spPr>
        <p:txBody>
          <a:bodyPr wrap="square" rtlCol="0" anchor="ctr"/>
          <a:lstStyle/>
          <a:p>
            <a:pPr algn="ctr" indent="0" marL="0">
              <a:buNone/>
            </a:pPr>
            <a:r>
              <a:rPr lang="en-US" sz="1700" b="1" dirty="0">
                <a:solidFill>
                  <a:srgbClr val="0F2547"/>
                </a:solidFill>
                <a:latin typeface="Apple SD Gothic Neo" pitchFamily="34" charset="0"/>
                <a:ea typeface="Apple SD Gothic Neo" pitchFamily="34" charset="-122"/>
                <a:cs typeface="Apple SD Gothic Neo" pitchFamily="34" charset="-120"/>
              </a:rPr>
              <a:t>Pilot</a:t>
            </a:r>
            <a:endParaRPr lang="en-US" sz="1700" dirty="0"/>
          </a:p>
        </p:txBody>
      </p:sp>
      <p:sp>
        <p:nvSpPr>
          <p:cNvPr id="20" name="Shape 18"/>
          <p:cNvSpPr/>
          <p:nvPr/>
        </p:nvSpPr>
        <p:spPr>
          <a:xfrm>
            <a:off x="4457700" y="4462272"/>
            <a:ext cx="658368" cy="274320"/>
          </a:xfrm>
          <a:prstGeom prst="roundRect">
            <a:avLst>
              <a:gd name="adj" fmla="val 50000"/>
            </a:avLst>
          </a:prstGeom>
          <a:solidFill>
            <a:srgbClr val="2F5B93"/>
          </a:solidFill>
          <a:ln/>
        </p:spPr>
      </p:sp>
      <p:sp>
        <p:nvSpPr>
          <p:cNvPr id="21" name="Text 19"/>
          <p:cNvSpPr/>
          <p:nvPr/>
        </p:nvSpPr>
        <p:spPr>
          <a:xfrm>
            <a:off x="4457700" y="4462272"/>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2~6주</a:t>
            </a:r>
            <a:endParaRPr lang="en-US" sz="1000" dirty="0"/>
          </a:p>
        </p:txBody>
      </p:sp>
      <p:sp>
        <p:nvSpPr>
          <p:cNvPr id="22" name="Text 20"/>
          <p:cNvSpPr/>
          <p:nvPr/>
        </p:nvSpPr>
        <p:spPr>
          <a:xfrm>
            <a:off x="3845052" y="4809744"/>
            <a:ext cx="2185416" cy="438912"/>
          </a:xfrm>
          <a:prstGeom prst="rect">
            <a:avLst/>
          </a:prstGeom>
          <a:noFill/>
          <a:ln/>
        </p:spPr>
        <p:txBody>
          <a:bodyPr wrap="square" rtlCol="0" anchor="ctr"/>
          <a:lstStyle/>
          <a:p>
            <a:pPr algn="ctr" indent="0" marL="0">
              <a:lnSpc>
                <a:spcPct val="110000"/>
              </a:lnSpc>
              <a:buNone/>
            </a:pPr>
            <a:r>
              <a:rPr lang="en-US" sz="1000" dirty="0">
                <a:solidFill>
                  <a:srgbClr val="5F708A"/>
                </a:solidFill>
                <a:latin typeface="Apple SD Gothic Neo" pitchFamily="34" charset="0"/>
                <a:ea typeface="Apple SD Gothic Neo" pitchFamily="34" charset="-122"/>
                <a:cs typeface="Apple SD Gothic Neo" pitchFamily="34" charset="-120"/>
              </a:rPr>
              <a:t>GA 서비스로 대표 시나리오 1개 구현·검증</a:t>
            </a:r>
            <a:endParaRPr lang="en-US" sz="1000" dirty="0"/>
          </a:p>
        </p:txBody>
      </p:sp>
      <p:sp>
        <p:nvSpPr>
          <p:cNvPr id="23" name="Shape 21"/>
          <p:cNvSpPr/>
          <p:nvPr/>
        </p:nvSpPr>
        <p:spPr>
          <a:xfrm>
            <a:off x="4636008" y="3264408"/>
            <a:ext cx="603504" cy="603504"/>
          </a:xfrm>
          <a:prstGeom prst="ellipse">
            <a:avLst/>
          </a:prstGeom>
          <a:solidFill>
            <a:srgbClr val="1A3D6D"/>
          </a:solidFill>
          <a:ln w="25400">
            <a:solidFill>
              <a:srgbClr val="FFFFFF"/>
            </a:solidFill>
            <a:prstDash val="solid"/>
          </a:ln>
        </p:spPr>
      </p:sp>
      <p:sp>
        <p:nvSpPr>
          <p:cNvPr id="24" name="Text 22"/>
          <p:cNvSpPr/>
          <p:nvPr/>
        </p:nvSpPr>
        <p:spPr>
          <a:xfrm>
            <a:off x="4636008" y="3264408"/>
            <a:ext cx="603504" cy="603504"/>
          </a:xfrm>
          <a:prstGeom prst="rect">
            <a:avLst/>
          </a:prstGeom>
          <a:noFill/>
          <a:ln/>
        </p:spPr>
        <p:txBody>
          <a:bodyPr wrap="square" rtlCol="0" anchor="ctr"/>
          <a:lstStyle/>
          <a:p>
            <a:pPr algn="ct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2</a:t>
            </a:r>
            <a:endParaRPr lang="en-US" sz="1600" dirty="0"/>
          </a:p>
        </p:txBody>
      </p:sp>
      <p:sp>
        <p:nvSpPr>
          <p:cNvPr id="25" name="Shape 23"/>
          <p:cNvSpPr/>
          <p:nvPr/>
        </p:nvSpPr>
        <p:spPr>
          <a:xfrm>
            <a:off x="7543800" y="3200400"/>
            <a:ext cx="0" cy="64008"/>
          </a:xfrm>
          <a:prstGeom prst="line">
            <a:avLst/>
          </a:prstGeom>
          <a:noFill/>
          <a:ln w="19050">
            <a:solidFill>
              <a:srgbClr val="7AA5D6"/>
            </a:solidFill>
            <a:prstDash val="solid"/>
          </a:ln>
        </p:spPr>
      </p:sp>
      <p:sp>
        <p:nvSpPr>
          <p:cNvPr id="26" name="Shape 24"/>
          <p:cNvSpPr/>
          <p:nvPr/>
        </p:nvSpPr>
        <p:spPr>
          <a:xfrm>
            <a:off x="6286500" y="1828800"/>
            <a:ext cx="2514600" cy="1371600"/>
          </a:xfrm>
          <a:prstGeom prst="roundRect">
            <a:avLst>
              <a:gd name="adj" fmla="val 600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7" name="Text 25"/>
          <p:cNvSpPr/>
          <p:nvPr/>
        </p:nvSpPr>
        <p:spPr>
          <a:xfrm>
            <a:off x="6286500" y="1975104"/>
            <a:ext cx="2514600" cy="384048"/>
          </a:xfrm>
          <a:prstGeom prst="rect">
            <a:avLst/>
          </a:prstGeom>
          <a:noFill/>
          <a:ln/>
        </p:spPr>
        <p:txBody>
          <a:bodyPr wrap="square" rtlCol="0" anchor="ctr"/>
          <a:lstStyle/>
          <a:p>
            <a:pPr algn="ctr" indent="0" marL="0">
              <a:buNone/>
            </a:pPr>
            <a:r>
              <a:rPr lang="en-US" sz="1700" b="1" dirty="0">
                <a:solidFill>
                  <a:srgbClr val="0F2547"/>
                </a:solidFill>
                <a:latin typeface="Apple SD Gothic Neo" pitchFamily="34" charset="0"/>
                <a:ea typeface="Apple SD Gothic Neo" pitchFamily="34" charset="-122"/>
                <a:cs typeface="Apple SD Gothic Neo" pitchFamily="34" charset="-120"/>
              </a:rPr>
              <a:t>Scale</a:t>
            </a:r>
            <a:endParaRPr lang="en-US" sz="1700" dirty="0"/>
          </a:p>
        </p:txBody>
      </p:sp>
      <p:sp>
        <p:nvSpPr>
          <p:cNvPr id="28" name="Shape 26"/>
          <p:cNvSpPr/>
          <p:nvPr/>
        </p:nvSpPr>
        <p:spPr>
          <a:xfrm>
            <a:off x="7063740" y="2359152"/>
            <a:ext cx="658368" cy="274320"/>
          </a:xfrm>
          <a:prstGeom prst="roundRect">
            <a:avLst>
              <a:gd name="adj" fmla="val 50000"/>
            </a:avLst>
          </a:prstGeom>
          <a:solidFill>
            <a:srgbClr val="2F5B93"/>
          </a:solidFill>
          <a:ln/>
        </p:spPr>
      </p:sp>
      <p:sp>
        <p:nvSpPr>
          <p:cNvPr id="29" name="Text 27"/>
          <p:cNvSpPr/>
          <p:nvPr/>
        </p:nvSpPr>
        <p:spPr>
          <a:xfrm>
            <a:off x="7063740" y="2359152"/>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6주~</a:t>
            </a:r>
            <a:endParaRPr lang="en-US" sz="1000" dirty="0"/>
          </a:p>
        </p:txBody>
      </p:sp>
      <p:sp>
        <p:nvSpPr>
          <p:cNvPr id="30" name="Text 28"/>
          <p:cNvSpPr/>
          <p:nvPr/>
        </p:nvSpPr>
        <p:spPr>
          <a:xfrm>
            <a:off x="6451092" y="2706624"/>
            <a:ext cx="2185416" cy="438912"/>
          </a:xfrm>
          <a:prstGeom prst="rect">
            <a:avLst/>
          </a:prstGeom>
          <a:noFill/>
          <a:ln/>
        </p:spPr>
        <p:txBody>
          <a:bodyPr wrap="square" rtlCol="0" anchor="ctr"/>
          <a:lstStyle/>
          <a:p>
            <a:pPr algn="ctr" indent="0" marL="0">
              <a:lnSpc>
                <a:spcPct val="110000"/>
              </a:lnSpc>
              <a:buNone/>
            </a:pPr>
            <a:r>
              <a:rPr lang="en-US" sz="1000" dirty="0">
                <a:solidFill>
                  <a:srgbClr val="5F708A"/>
                </a:solidFill>
                <a:latin typeface="Apple SD Gothic Neo" pitchFamily="34" charset="0"/>
                <a:ea typeface="Apple SD Gothic Neo" pitchFamily="34" charset="-122"/>
                <a:cs typeface="Apple SD Gothic Neo" pitchFamily="34" charset="-120"/>
              </a:rPr>
              <a:t>검증된 패턴을 인접 업무로 확장</a:t>
            </a:r>
            <a:endParaRPr lang="en-US" sz="1000" dirty="0"/>
          </a:p>
        </p:txBody>
      </p:sp>
      <p:sp>
        <p:nvSpPr>
          <p:cNvPr id="31" name="Shape 29"/>
          <p:cNvSpPr/>
          <p:nvPr/>
        </p:nvSpPr>
        <p:spPr>
          <a:xfrm>
            <a:off x="7242048" y="3264408"/>
            <a:ext cx="603504" cy="603504"/>
          </a:xfrm>
          <a:prstGeom prst="ellipse">
            <a:avLst/>
          </a:prstGeom>
          <a:solidFill>
            <a:srgbClr val="1A3D6D"/>
          </a:solidFill>
          <a:ln w="25400">
            <a:solidFill>
              <a:srgbClr val="FFFFFF"/>
            </a:solidFill>
            <a:prstDash val="solid"/>
          </a:ln>
        </p:spPr>
      </p:sp>
      <p:sp>
        <p:nvSpPr>
          <p:cNvPr id="32" name="Text 30"/>
          <p:cNvSpPr/>
          <p:nvPr/>
        </p:nvSpPr>
        <p:spPr>
          <a:xfrm>
            <a:off x="7242048" y="3264408"/>
            <a:ext cx="603504" cy="603504"/>
          </a:xfrm>
          <a:prstGeom prst="rect">
            <a:avLst/>
          </a:prstGeom>
          <a:noFill/>
          <a:ln/>
        </p:spPr>
        <p:txBody>
          <a:bodyPr wrap="square" rtlCol="0" anchor="ctr"/>
          <a:lstStyle/>
          <a:p>
            <a:pPr algn="ct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3</a:t>
            </a:r>
            <a:endParaRPr lang="en-US" sz="1600" dirty="0"/>
          </a:p>
        </p:txBody>
      </p:sp>
      <p:sp>
        <p:nvSpPr>
          <p:cNvPr id="33" name="Shape 31"/>
          <p:cNvSpPr/>
          <p:nvPr/>
        </p:nvSpPr>
        <p:spPr>
          <a:xfrm>
            <a:off x="10149840" y="3867912"/>
            <a:ext cx="0" cy="64008"/>
          </a:xfrm>
          <a:prstGeom prst="line">
            <a:avLst/>
          </a:prstGeom>
          <a:noFill/>
          <a:ln w="19050">
            <a:solidFill>
              <a:srgbClr val="7AA5D6"/>
            </a:solidFill>
            <a:prstDash val="solid"/>
          </a:ln>
        </p:spPr>
      </p:sp>
      <p:sp>
        <p:nvSpPr>
          <p:cNvPr id="34" name="Shape 32"/>
          <p:cNvSpPr/>
          <p:nvPr/>
        </p:nvSpPr>
        <p:spPr>
          <a:xfrm>
            <a:off x="8892540" y="3931920"/>
            <a:ext cx="2514600" cy="1371600"/>
          </a:xfrm>
          <a:prstGeom prst="roundRect">
            <a:avLst>
              <a:gd name="adj" fmla="val 600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35" name="Text 33"/>
          <p:cNvSpPr/>
          <p:nvPr/>
        </p:nvSpPr>
        <p:spPr>
          <a:xfrm>
            <a:off x="8892540" y="4078224"/>
            <a:ext cx="2514600" cy="384048"/>
          </a:xfrm>
          <a:prstGeom prst="rect">
            <a:avLst/>
          </a:prstGeom>
          <a:noFill/>
          <a:ln/>
        </p:spPr>
        <p:txBody>
          <a:bodyPr wrap="square" rtlCol="0" anchor="ctr"/>
          <a:lstStyle/>
          <a:p>
            <a:pPr algn="ctr" indent="0" marL="0">
              <a:buNone/>
            </a:pPr>
            <a:r>
              <a:rPr lang="en-US" sz="1700" b="1" dirty="0">
                <a:solidFill>
                  <a:srgbClr val="0F2547"/>
                </a:solidFill>
                <a:latin typeface="Apple SD Gothic Neo" pitchFamily="34" charset="0"/>
                <a:ea typeface="Apple SD Gothic Neo" pitchFamily="34" charset="-122"/>
                <a:cs typeface="Apple SD Gothic Neo" pitchFamily="34" charset="-120"/>
              </a:rPr>
              <a:t>Govern</a:t>
            </a:r>
            <a:endParaRPr lang="en-US" sz="1700" dirty="0"/>
          </a:p>
        </p:txBody>
      </p:sp>
      <p:sp>
        <p:nvSpPr>
          <p:cNvPr id="36" name="Shape 34"/>
          <p:cNvSpPr/>
          <p:nvPr/>
        </p:nvSpPr>
        <p:spPr>
          <a:xfrm>
            <a:off x="9669780" y="4462272"/>
            <a:ext cx="658368" cy="274320"/>
          </a:xfrm>
          <a:prstGeom prst="roundRect">
            <a:avLst>
              <a:gd name="adj" fmla="val 50000"/>
            </a:avLst>
          </a:prstGeom>
          <a:solidFill>
            <a:srgbClr val="2F5B93"/>
          </a:solidFill>
          <a:ln/>
        </p:spPr>
      </p:sp>
      <p:sp>
        <p:nvSpPr>
          <p:cNvPr id="37" name="Text 35"/>
          <p:cNvSpPr/>
          <p:nvPr/>
        </p:nvSpPr>
        <p:spPr>
          <a:xfrm>
            <a:off x="9669780" y="4462272"/>
            <a:ext cx="65836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상시</a:t>
            </a:r>
            <a:endParaRPr lang="en-US" sz="1000" dirty="0"/>
          </a:p>
        </p:txBody>
      </p:sp>
      <p:sp>
        <p:nvSpPr>
          <p:cNvPr id="38" name="Text 36"/>
          <p:cNvSpPr/>
          <p:nvPr/>
        </p:nvSpPr>
        <p:spPr>
          <a:xfrm>
            <a:off x="9057132" y="4809744"/>
            <a:ext cx="2185416" cy="438912"/>
          </a:xfrm>
          <a:prstGeom prst="rect">
            <a:avLst/>
          </a:prstGeom>
          <a:noFill/>
          <a:ln/>
        </p:spPr>
        <p:txBody>
          <a:bodyPr wrap="square" rtlCol="0" anchor="ctr"/>
          <a:lstStyle/>
          <a:p>
            <a:pPr algn="ctr" indent="0" marL="0">
              <a:lnSpc>
                <a:spcPct val="110000"/>
              </a:lnSpc>
              <a:buNone/>
            </a:pPr>
            <a:r>
              <a:rPr lang="en-US" sz="1000" dirty="0">
                <a:solidFill>
                  <a:srgbClr val="5F708A"/>
                </a:solidFill>
                <a:latin typeface="Apple SD Gothic Neo" pitchFamily="34" charset="0"/>
                <a:ea typeface="Apple SD Gothic Neo" pitchFamily="34" charset="-122"/>
                <a:cs typeface="Apple SD Gothic Neo" pitchFamily="34" charset="-120"/>
              </a:rPr>
              <a:t>Entra·Purview·Defender로 통제·관측 정착</a:t>
            </a:r>
            <a:endParaRPr lang="en-US" sz="1000" dirty="0"/>
          </a:p>
        </p:txBody>
      </p:sp>
      <p:sp>
        <p:nvSpPr>
          <p:cNvPr id="39" name="Shape 37"/>
          <p:cNvSpPr/>
          <p:nvPr/>
        </p:nvSpPr>
        <p:spPr>
          <a:xfrm>
            <a:off x="9848088" y="3264408"/>
            <a:ext cx="603504" cy="603504"/>
          </a:xfrm>
          <a:prstGeom prst="ellipse">
            <a:avLst/>
          </a:prstGeom>
          <a:solidFill>
            <a:srgbClr val="1A3D6D"/>
          </a:solidFill>
          <a:ln w="25400">
            <a:solidFill>
              <a:srgbClr val="FFFFFF"/>
            </a:solidFill>
            <a:prstDash val="solid"/>
          </a:ln>
        </p:spPr>
      </p:sp>
      <p:sp>
        <p:nvSpPr>
          <p:cNvPr id="40" name="Text 38"/>
          <p:cNvSpPr/>
          <p:nvPr/>
        </p:nvSpPr>
        <p:spPr>
          <a:xfrm>
            <a:off x="9848088" y="3264408"/>
            <a:ext cx="603504" cy="603504"/>
          </a:xfrm>
          <a:prstGeom prst="rect">
            <a:avLst/>
          </a:prstGeom>
          <a:noFill/>
          <a:ln/>
        </p:spPr>
        <p:txBody>
          <a:bodyPr wrap="square" rtlCol="0" anchor="ctr"/>
          <a:lstStyle/>
          <a:p>
            <a:pPr algn="ct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4</a:t>
            </a:r>
            <a:endParaRPr lang="en-US" sz="1600" dirty="0"/>
          </a:p>
        </p:txBody>
      </p:sp>
      <p:sp>
        <p:nvSpPr>
          <p:cNvPr id="41" name="Shape 39"/>
          <p:cNvSpPr/>
          <p:nvPr/>
        </p:nvSpPr>
        <p:spPr>
          <a:xfrm>
            <a:off x="548640" y="5486400"/>
            <a:ext cx="11109960" cy="777240"/>
          </a:xfrm>
          <a:prstGeom prst="roundRect">
            <a:avLst>
              <a:gd name="adj" fmla="val 10588"/>
            </a:avLst>
          </a:prstGeom>
          <a:solidFill>
            <a:srgbClr val="EEF4FB"/>
          </a:solidFill>
          <a:ln w="12700">
            <a:solidFill>
              <a:srgbClr val="D4E0F0"/>
            </a:solidFill>
            <a:prstDash val="solid"/>
          </a:ln>
          <a:effectLst>
            <a:outerShdw sx="100000" sy="100000" kx="0" ky="0" algn="bl" rotWithShape="0" blurRad="76200" dist="25400" dir="5400000">
              <a:srgbClr val="1A2A44">
                <a:alpha val="14000"/>
              </a:srgbClr>
            </a:outerShdw>
          </a:effectLst>
        </p:spPr>
      </p:sp>
      <p:pic>
        <p:nvPicPr>
          <p:cNvPr id="42" name="Image 0" descr="preencoded.png">    </p:cNvPr>
          <p:cNvPicPr>
            <a:picLocks noChangeAspect="1"/>
          </p:cNvPicPr>
          <p:nvPr/>
        </p:nvPicPr>
        <p:blipFill>
          <a:blip r:embed="rId1"/>
          <a:stretch>
            <a:fillRect/>
          </a:stretch>
        </p:blipFill>
        <p:spPr>
          <a:xfrm>
            <a:off x="822960" y="5669280"/>
            <a:ext cx="420624" cy="420624"/>
          </a:xfrm>
          <a:prstGeom prst="rect">
            <a:avLst/>
          </a:prstGeom>
        </p:spPr>
      </p:pic>
      <p:sp>
        <p:nvSpPr>
          <p:cNvPr id="43" name="Text 40"/>
          <p:cNvSpPr/>
          <p:nvPr/>
        </p:nvSpPr>
        <p:spPr>
          <a:xfrm>
            <a:off x="1371600" y="5486400"/>
            <a:ext cx="10149840" cy="777240"/>
          </a:xfrm>
          <a:prstGeom prst="rect">
            <a:avLst/>
          </a:prstGeom>
          <a:noFill/>
          <a:ln/>
        </p:spPr>
        <p:txBody>
          <a:bodyPr wrap="square" rtlCol="0" anchor="ctr"/>
          <a:lstStyle/>
          <a:p>
            <a:pPr indent="0" marL="0">
              <a:buNone/>
            </a:pPr>
            <a:r>
              <a:rPr lang="en-US" sz="1300" b="1" dirty="0">
                <a:solidFill>
                  <a:srgbClr val="1A3D6D"/>
                </a:solidFill>
                <a:latin typeface="Apple SD Gothic Neo" pitchFamily="34" charset="0"/>
                <a:ea typeface="Apple SD Gothic Neo" pitchFamily="34" charset="-122"/>
                <a:cs typeface="Apple SD Gothic Neo" pitchFamily="34" charset="-120"/>
              </a:rPr>
              <a:t>Quick Win  </a:t>
            </a:r>
            <a:pPr indent="0" marL="0">
              <a:buNone/>
            </a:pPr>
            <a:r>
              <a:rPr lang="en-US" sz="1200" dirty="0">
                <a:solidFill>
                  <a:srgbClr val="1B2A41"/>
                </a:solidFill>
                <a:latin typeface="Apple SD Gothic Neo" pitchFamily="34" charset="0"/>
                <a:ea typeface="Apple SD Gothic Neo" pitchFamily="34" charset="-122"/>
                <a:cs typeface="Apple SD Gothic Neo" pitchFamily="34" charset="-120"/>
              </a:rPr>
              <a:t>— 워크숍 준비물: 데이터 소스 2개 · 보안 요구사항 · ROI 후보 업무 1개</a:t>
            </a:r>
            <a:endParaRPr lang="en-US" sz="1300" dirty="0"/>
          </a:p>
        </p:txBody>
      </p:sp>
      <p:sp>
        <p:nvSpPr>
          <p:cNvPr id="44" name="Text 41"/>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45" name="Text 42"/>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30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3013634" cy="68580"/>
          </a:xfrm>
          <a:prstGeom prst="rect">
            <a:avLst/>
          </a:prstGeom>
          <a:solidFill>
            <a:srgbClr val="DBE7F6"/>
          </a:solidFill>
          <a:ln/>
        </p:spPr>
      </p:sp>
      <p:sp>
        <p:nvSpPr>
          <p:cNvPr id="3" name="Shape 1"/>
          <p:cNvSpPr/>
          <p:nvPr/>
        </p:nvSpPr>
        <p:spPr>
          <a:xfrm>
            <a:off x="3059354" y="0"/>
            <a:ext cx="3013634" cy="68580"/>
          </a:xfrm>
          <a:prstGeom prst="rect">
            <a:avLst/>
          </a:prstGeom>
          <a:solidFill>
            <a:srgbClr val="DBE7F6"/>
          </a:solidFill>
          <a:ln/>
        </p:spPr>
      </p:sp>
      <p:sp>
        <p:nvSpPr>
          <p:cNvPr id="4" name="Shape 2"/>
          <p:cNvSpPr/>
          <p:nvPr/>
        </p:nvSpPr>
        <p:spPr>
          <a:xfrm>
            <a:off x="6118708" y="0"/>
            <a:ext cx="3013634" cy="68580"/>
          </a:xfrm>
          <a:prstGeom prst="rect">
            <a:avLst/>
          </a:prstGeom>
          <a:solidFill>
            <a:srgbClr val="DBE7F6"/>
          </a:solidFill>
          <a:ln/>
        </p:spPr>
      </p:sp>
      <p:sp>
        <p:nvSpPr>
          <p:cNvPr id="5" name="Shape 3"/>
          <p:cNvSpPr/>
          <p:nvPr/>
        </p:nvSpPr>
        <p:spPr>
          <a:xfrm>
            <a:off x="9178061" y="0"/>
            <a:ext cx="3013634" cy="68580"/>
          </a:xfrm>
          <a:prstGeom prst="rect">
            <a:avLst/>
          </a:prstGeom>
          <a:solidFill>
            <a:srgbClr val="4F8FB6"/>
          </a:solidFill>
          <a:ln/>
        </p:spPr>
      </p:sp>
      <p:sp>
        <p:nvSpPr>
          <p:cNvPr id="6" name="Text 4"/>
          <p:cNvSpPr/>
          <p:nvPr/>
        </p:nvSpPr>
        <p:spPr>
          <a:xfrm>
            <a:off x="502920" y="384048"/>
            <a:ext cx="10515600" cy="310896"/>
          </a:xfrm>
          <a:prstGeom prst="rect">
            <a:avLst/>
          </a:prstGeom>
          <a:noFill/>
          <a:ln/>
        </p:spPr>
        <p:txBody>
          <a:bodyPr wrap="square" rtlCol="0" anchor="ctr"/>
          <a:lstStyle/>
          <a:p>
            <a:pPr algn="l" indent="0" marL="0">
              <a:buNone/>
            </a:pPr>
            <a:r>
              <a:rPr lang="en-US" sz="1250" b="1" spc="200" kern="0" dirty="0">
                <a:solidFill>
                  <a:srgbClr val="2F5B93"/>
                </a:solidFill>
                <a:latin typeface="Apple SD Gothic Neo" pitchFamily="34" charset="0"/>
                <a:ea typeface="Apple SD Gothic Neo" pitchFamily="34" charset="-122"/>
                <a:cs typeface="Apple SD Gothic Neo" pitchFamily="34" charset="-120"/>
              </a:rPr>
              <a:t>핵심 요약</a:t>
            </a:r>
            <a:endParaRPr lang="en-US" sz="1250" dirty="0"/>
          </a:p>
        </p:txBody>
      </p:sp>
      <p:sp>
        <p:nvSpPr>
          <p:cNvPr id="7" name="Text 5"/>
          <p:cNvSpPr/>
          <p:nvPr/>
        </p:nvSpPr>
        <p:spPr>
          <a:xfrm>
            <a:off x="475488" y="676656"/>
            <a:ext cx="11247120" cy="822960"/>
          </a:xfrm>
          <a:prstGeom prst="rect">
            <a:avLst/>
          </a:prstGeom>
          <a:noFill/>
          <a:ln/>
        </p:spPr>
        <p:txBody>
          <a:bodyPr wrap="square" rtlCol="0" anchor="t"/>
          <a:lstStyle/>
          <a:p>
            <a:pPr algn="l" indent="0" marL="0">
              <a:buNone/>
            </a:pPr>
            <a:r>
              <a:rPr lang="en-US" sz="3000" b="1" dirty="0">
                <a:solidFill>
                  <a:srgbClr val="0F2547"/>
                </a:solidFill>
                <a:latin typeface="Apple SD Gothic Neo" pitchFamily="34" charset="0"/>
                <a:ea typeface="Apple SD Gothic Neo" pitchFamily="34" charset="-122"/>
                <a:cs typeface="Apple SD Gothic Neo" pitchFamily="34" charset="-120"/>
              </a:rPr>
              <a:t>기억할 7가지</a:t>
            </a:r>
            <a:endParaRPr lang="en-US" sz="3000" dirty="0"/>
          </a:p>
        </p:txBody>
      </p:sp>
      <p:sp>
        <p:nvSpPr>
          <p:cNvPr id="8" name="Shape 6"/>
          <p:cNvSpPr/>
          <p:nvPr/>
        </p:nvSpPr>
        <p:spPr>
          <a:xfrm>
            <a:off x="548640" y="1783080"/>
            <a:ext cx="5486400" cy="914400"/>
          </a:xfrm>
          <a:prstGeom prst="roundRect">
            <a:avLst>
              <a:gd name="adj" fmla="val 900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9" name="Shape 7"/>
          <p:cNvSpPr/>
          <p:nvPr/>
        </p:nvSpPr>
        <p:spPr>
          <a:xfrm>
            <a:off x="749808" y="2029968"/>
            <a:ext cx="420624" cy="420624"/>
          </a:xfrm>
          <a:prstGeom prst="roundRect">
            <a:avLst>
              <a:gd name="adj" fmla="val 21739"/>
            </a:avLst>
          </a:prstGeom>
          <a:solidFill>
            <a:srgbClr val="1A3D6D"/>
          </a:solidFill>
          <a:ln/>
        </p:spPr>
      </p:sp>
      <p:sp>
        <p:nvSpPr>
          <p:cNvPr id="10" name="Text 8"/>
          <p:cNvSpPr/>
          <p:nvPr/>
        </p:nvSpPr>
        <p:spPr>
          <a:xfrm>
            <a:off x="749808" y="2029968"/>
            <a:ext cx="420624" cy="420624"/>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1</a:t>
            </a:r>
            <a:endParaRPr lang="en-US" sz="1500" dirty="0"/>
          </a:p>
        </p:txBody>
      </p:sp>
      <p:sp>
        <p:nvSpPr>
          <p:cNvPr id="11" name="Text 9"/>
          <p:cNvSpPr/>
          <p:nvPr/>
        </p:nvSpPr>
        <p:spPr>
          <a:xfrm>
            <a:off x="1371600" y="1856232"/>
            <a:ext cx="4572000" cy="777240"/>
          </a:xfrm>
          <a:prstGeom prst="rect">
            <a:avLst/>
          </a:prstGeom>
          <a:noFill/>
          <a:ln/>
        </p:spPr>
        <p:txBody>
          <a:bodyPr wrap="square" rtlCol="0" anchor="ctr"/>
          <a:lstStyle/>
          <a:p>
            <a:pPr indent="0" marL="0">
              <a:lnSpc>
                <a:spcPct val="112000"/>
              </a:lnSpc>
              <a:buNone/>
            </a:pPr>
            <a:r>
              <a:rPr lang="en-US" sz="1200" b="1" dirty="0">
                <a:solidFill>
                  <a:srgbClr val="1B2A41"/>
                </a:solidFill>
                <a:latin typeface="Apple SD Gothic Neo" pitchFamily="34" charset="0"/>
                <a:ea typeface="Apple SD Gothic Neo" pitchFamily="34" charset="-122"/>
                <a:cs typeface="Apple SD Gothic Neo" pitchFamily="34" charset="-120"/>
              </a:rPr>
              <a:t>AI는 '실행하는' 에이전트 시대로 전환했다</a:t>
            </a:r>
            <a:endParaRPr lang="en-US" sz="1200" dirty="0"/>
          </a:p>
        </p:txBody>
      </p:sp>
      <p:sp>
        <p:nvSpPr>
          <p:cNvPr id="12" name="Shape 10"/>
          <p:cNvSpPr/>
          <p:nvPr/>
        </p:nvSpPr>
        <p:spPr>
          <a:xfrm>
            <a:off x="548640" y="2834640"/>
            <a:ext cx="5486400" cy="914400"/>
          </a:xfrm>
          <a:prstGeom prst="roundRect">
            <a:avLst>
              <a:gd name="adj" fmla="val 900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3" name="Shape 11"/>
          <p:cNvSpPr/>
          <p:nvPr/>
        </p:nvSpPr>
        <p:spPr>
          <a:xfrm>
            <a:off x="749808" y="3081528"/>
            <a:ext cx="420624" cy="420624"/>
          </a:xfrm>
          <a:prstGeom prst="roundRect">
            <a:avLst>
              <a:gd name="adj" fmla="val 21739"/>
            </a:avLst>
          </a:prstGeom>
          <a:solidFill>
            <a:srgbClr val="1A3D6D"/>
          </a:solidFill>
          <a:ln/>
        </p:spPr>
      </p:sp>
      <p:sp>
        <p:nvSpPr>
          <p:cNvPr id="14" name="Text 12"/>
          <p:cNvSpPr/>
          <p:nvPr/>
        </p:nvSpPr>
        <p:spPr>
          <a:xfrm>
            <a:off x="749808" y="3081528"/>
            <a:ext cx="420624" cy="420624"/>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2</a:t>
            </a:r>
            <a:endParaRPr lang="en-US" sz="1500" dirty="0"/>
          </a:p>
        </p:txBody>
      </p:sp>
      <p:sp>
        <p:nvSpPr>
          <p:cNvPr id="15" name="Text 13"/>
          <p:cNvSpPr/>
          <p:nvPr/>
        </p:nvSpPr>
        <p:spPr>
          <a:xfrm>
            <a:off x="1371600" y="2907792"/>
            <a:ext cx="4572000" cy="777240"/>
          </a:xfrm>
          <a:prstGeom prst="rect">
            <a:avLst/>
          </a:prstGeom>
          <a:noFill/>
          <a:ln/>
        </p:spPr>
        <p:txBody>
          <a:bodyPr wrap="square" rtlCol="0" anchor="ctr"/>
          <a:lstStyle/>
          <a:p>
            <a:pPr indent="0" marL="0">
              <a:lnSpc>
                <a:spcPct val="112000"/>
              </a:lnSpc>
              <a:buNone/>
            </a:pPr>
            <a:r>
              <a:rPr lang="en-US" sz="1200" b="1" dirty="0">
                <a:solidFill>
                  <a:srgbClr val="1B2A41"/>
                </a:solidFill>
                <a:latin typeface="Apple SD Gothic Neo" pitchFamily="34" charset="0"/>
                <a:ea typeface="Apple SD Gothic Neo" pitchFamily="34" charset="-122"/>
                <a:cs typeface="Apple SD Gothic Neo" pitchFamily="34" charset="-120"/>
              </a:rPr>
              <a:t>다섯 개의 벽은 하나의 완결 스택으로 넘는다</a:t>
            </a:r>
            <a:endParaRPr lang="en-US" sz="1200" dirty="0"/>
          </a:p>
        </p:txBody>
      </p:sp>
      <p:sp>
        <p:nvSpPr>
          <p:cNvPr id="16" name="Shape 14"/>
          <p:cNvSpPr/>
          <p:nvPr/>
        </p:nvSpPr>
        <p:spPr>
          <a:xfrm>
            <a:off x="548640" y="3886200"/>
            <a:ext cx="5486400" cy="914400"/>
          </a:xfrm>
          <a:prstGeom prst="roundRect">
            <a:avLst>
              <a:gd name="adj" fmla="val 900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17" name="Shape 15"/>
          <p:cNvSpPr/>
          <p:nvPr/>
        </p:nvSpPr>
        <p:spPr>
          <a:xfrm>
            <a:off x="749808" y="4133088"/>
            <a:ext cx="420624" cy="420624"/>
          </a:xfrm>
          <a:prstGeom prst="roundRect">
            <a:avLst>
              <a:gd name="adj" fmla="val 21739"/>
            </a:avLst>
          </a:prstGeom>
          <a:solidFill>
            <a:srgbClr val="1A3D6D"/>
          </a:solidFill>
          <a:ln/>
        </p:spPr>
      </p:sp>
      <p:sp>
        <p:nvSpPr>
          <p:cNvPr id="18" name="Text 16"/>
          <p:cNvSpPr/>
          <p:nvPr/>
        </p:nvSpPr>
        <p:spPr>
          <a:xfrm>
            <a:off x="749808" y="4133088"/>
            <a:ext cx="420624" cy="420624"/>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3</a:t>
            </a:r>
            <a:endParaRPr lang="en-US" sz="1500" dirty="0"/>
          </a:p>
        </p:txBody>
      </p:sp>
      <p:sp>
        <p:nvSpPr>
          <p:cNvPr id="19" name="Text 17"/>
          <p:cNvSpPr/>
          <p:nvPr/>
        </p:nvSpPr>
        <p:spPr>
          <a:xfrm>
            <a:off x="1371600" y="3959352"/>
            <a:ext cx="4572000" cy="777240"/>
          </a:xfrm>
          <a:prstGeom prst="rect">
            <a:avLst/>
          </a:prstGeom>
          <a:noFill/>
          <a:ln/>
        </p:spPr>
        <p:txBody>
          <a:bodyPr wrap="square" rtlCol="0" anchor="ctr"/>
          <a:lstStyle/>
          <a:p>
            <a:pPr indent="0" marL="0">
              <a:lnSpc>
                <a:spcPct val="112000"/>
              </a:lnSpc>
              <a:buNone/>
            </a:pPr>
            <a:r>
              <a:rPr lang="en-US" sz="1200" b="1" dirty="0">
                <a:solidFill>
                  <a:srgbClr val="1B2A41"/>
                </a:solidFill>
                <a:latin typeface="Apple SD Gothic Neo" pitchFamily="34" charset="0"/>
                <a:ea typeface="Apple SD Gothic Neo" pitchFamily="34" charset="-122"/>
                <a:cs typeface="Apple SD Gothic Neo" pitchFamily="34" charset="-120"/>
              </a:rPr>
              <a:t>왜 Azure — 데이터주권·보안경계·모델운영·거버넌스·비용</a:t>
            </a:r>
            <a:endParaRPr lang="en-US" sz="1200" dirty="0"/>
          </a:p>
        </p:txBody>
      </p:sp>
      <p:sp>
        <p:nvSpPr>
          <p:cNvPr id="20" name="Shape 18"/>
          <p:cNvSpPr/>
          <p:nvPr/>
        </p:nvSpPr>
        <p:spPr>
          <a:xfrm>
            <a:off x="548640" y="4937760"/>
            <a:ext cx="5486400" cy="914400"/>
          </a:xfrm>
          <a:prstGeom prst="roundRect">
            <a:avLst>
              <a:gd name="adj" fmla="val 900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1" name="Shape 19"/>
          <p:cNvSpPr/>
          <p:nvPr/>
        </p:nvSpPr>
        <p:spPr>
          <a:xfrm>
            <a:off x="749808" y="5184648"/>
            <a:ext cx="420624" cy="420624"/>
          </a:xfrm>
          <a:prstGeom prst="roundRect">
            <a:avLst>
              <a:gd name="adj" fmla="val 21739"/>
            </a:avLst>
          </a:prstGeom>
          <a:solidFill>
            <a:srgbClr val="1A3D6D"/>
          </a:solidFill>
          <a:ln/>
        </p:spPr>
      </p:sp>
      <p:sp>
        <p:nvSpPr>
          <p:cNvPr id="22" name="Text 20"/>
          <p:cNvSpPr/>
          <p:nvPr/>
        </p:nvSpPr>
        <p:spPr>
          <a:xfrm>
            <a:off x="749808" y="5184648"/>
            <a:ext cx="420624" cy="420624"/>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4</a:t>
            </a:r>
            <a:endParaRPr lang="en-US" sz="1500" dirty="0"/>
          </a:p>
        </p:txBody>
      </p:sp>
      <p:sp>
        <p:nvSpPr>
          <p:cNvPr id="23" name="Text 21"/>
          <p:cNvSpPr/>
          <p:nvPr/>
        </p:nvSpPr>
        <p:spPr>
          <a:xfrm>
            <a:off x="1371600" y="5010912"/>
            <a:ext cx="4572000" cy="777240"/>
          </a:xfrm>
          <a:prstGeom prst="rect">
            <a:avLst/>
          </a:prstGeom>
          <a:noFill/>
          <a:ln/>
        </p:spPr>
        <p:txBody>
          <a:bodyPr wrap="square" rtlCol="0" anchor="ctr"/>
          <a:lstStyle/>
          <a:p>
            <a:pPr indent="0" marL="0">
              <a:lnSpc>
                <a:spcPct val="112000"/>
              </a:lnSpc>
              <a:buNone/>
            </a:pPr>
            <a:r>
              <a:rPr lang="en-US" sz="1200" b="1" dirty="0">
                <a:solidFill>
                  <a:srgbClr val="1B2A41"/>
                </a:solidFill>
                <a:latin typeface="Apple SD Gothic Neo" pitchFamily="34" charset="0"/>
                <a:ea typeface="Apple SD Gothic Neo" pitchFamily="34" charset="-122"/>
                <a:cs typeface="Apple SD Gothic Neo" pitchFamily="34" charset="-120"/>
              </a:rPr>
              <a:t>6개 서비스가 데이터→에이전트→경험을 완성한다</a:t>
            </a:r>
            <a:endParaRPr lang="en-US" sz="1200" dirty="0"/>
          </a:p>
        </p:txBody>
      </p:sp>
      <p:sp>
        <p:nvSpPr>
          <p:cNvPr id="24" name="Shape 22"/>
          <p:cNvSpPr/>
          <p:nvPr/>
        </p:nvSpPr>
        <p:spPr>
          <a:xfrm>
            <a:off x="6172200" y="1783080"/>
            <a:ext cx="5486400" cy="914400"/>
          </a:xfrm>
          <a:prstGeom prst="roundRect">
            <a:avLst>
              <a:gd name="adj" fmla="val 900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5" name="Shape 23"/>
          <p:cNvSpPr/>
          <p:nvPr/>
        </p:nvSpPr>
        <p:spPr>
          <a:xfrm>
            <a:off x="6373368" y="2029968"/>
            <a:ext cx="420624" cy="420624"/>
          </a:xfrm>
          <a:prstGeom prst="roundRect">
            <a:avLst>
              <a:gd name="adj" fmla="val 21739"/>
            </a:avLst>
          </a:prstGeom>
          <a:solidFill>
            <a:srgbClr val="1A3D6D"/>
          </a:solidFill>
          <a:ln/>
        </p:spPr>
      </p:sp>
      <p:sp>
        <p:nvSpPr>
          <p:cNvPr id="26" name="Text 24"/>
          <p:cNvSpPr/>
          <p:nvPr/>
        </p:nvSpPr>
        <p:spPr>
          <a:xfrm>
            <a:off x="6373368" y="2029968"/>
            <a:ext cx="420624" cy="420624"/>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5</a:t>
            </a:r>
            <a:endParaRPr lang="en-US" sz="1500" dirty="0"/>
          </a:p>
        </p:txBody>
      </p:sp>
      <p:sp>
        <p:nvSpPr>
          <p:cNvPr id="27" name="Text 25"/>
          <p:cNvSpPr/>
          <p:nvPr/>
        </p:nvSpPr>
        <p:spPr>
          <a:xfrm>
            <a:off x="6995160" y="1856232"/>
            <a:ext cx="4572000" cy="777240"/>
          </a:xfrm>
          <a:prstGeom prst="rect">
            <a:avLst/>
          </a:prstGeom>
          <a:noFill/>
          <a:ln/>
        </p:spPr>
        <p:txBody>
          <a:bodyPr wrap="square" rtlCol="0" anchor="ctr"/>
          <a:lstStyle/>
          <a:p>
            <a:pPr indent="0" marL="0">
              <a:lnSpc>
                <a:spcPct val="112000"/>
              </a:lnSpc>
              <a:buNone/>
            </a:pPr>
            <a:r>
              <a:rPr lang="en-US" sz="1200" b="1" dirty="0">
                <a:solidFill>
                  <a:srgbClr val="1B2A41"/>
                </a:solidFill>
                <a:latin typeface="Apple SD Gothic Neo" pitchFamily="34" charset="0"/>
                <a:ea typeface="Apple SD Gothic Neo" pitchFamily="34" charset="-122"/>
                <a:cs typeface="Apple SD Gothic Neo" pitchFamily="34" charset="-120"/>
              </a:rPr>
              <a:t>거버넌스는 전 계층을 관통하는 GA 기반이다</a:t>
            </a:r>
            <a:endParaRPr lang="en-US" sz="1200" dirty="0"/>
          </a:p>
        </p:txBody>
      </p:sp>
      <p:sp>
        <p:nvSpPr>
          <p:cNvPr id="28" name="Shape 26"/>
          <p:cNvSpPr/>
          <p:nvPr/>
        </p:nvSpPr>
        <p:spPr>
          <a:xfrm>
            <a:off x="6172200" y="2834640"/>
            <a:ext cx="5486400" cy="914400"/>
          </a:xfrm>
          <a:prstGeom prst="roundRect">
            <a:avLst>
              <a:gd name="adj" fmla="val 900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29" name="Shape 27"/>
          <p:cNvSpPr/>
          <p:nvPr/>
        </p:nvSpPr>
        <p:spPr>
          <a:xfrm>
            <a:off x="6373368" y="3081528"/>
            <a:ext cx="420624" cy="420624"/>
          </a:xfrm>
          <a:prstGeom prst="roundRect">
            <a:avLst>
              <a:gd name="adj" fmla="val 21739"/>
            </a:avLst>
          </a:prstGeom>
          <a:solidFill>
            <a:srgbClr val="1A3D6D"/>
          </a:solidFill>
          <a:ln/>
        </p:spPr>
      </p:sp>
      <p:sp>
        <p:nvSpPr>
          <p:cNvPr id="30" name="Text 28"/>
          <p:cNvSpPr/>
          <p:nvPr/>
        </p:nvSpPr>
        <p:spPr>
          <a:xfrm>
            <a:off x="6373368" y="3081528"/>
            <a:ext cx="420624" cy="420624"/>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6</a:t>
            </a:r>
            <a:endParaRPr lang="en-US" sz="1500" dirty="0"/>
          </a:p>
        </p:txBody>
      </p:sp>
      <p:sp>
        <p:nvSpPr>
          <p:cNvPr id="31" name="Text 29"/>
          <p:cNvSpPr/>
          <p:nvPr/>
        </p:nvSpPr>
        <p:spPr>
          <a:xfrm>
            <a:off x="6995160" y="2907792"/>
            <a:ext cx="4572000" cy="777240"/>
          </a:xfrm>
          <a:prstGeom prst="rect">
            <a:avLst/>
          </a:prstGeom>
          <a:noFill/>
          <a:ln/>
        </p:spPr>
        <p:txBody>
          <a:bodyPr wrap="square" rtlCol="0" anchor="ctr"/>
          <a:lstStyle/>
          <a:p>
            <a:pPr indent="0" marL="0">
              <a:lnSpc>
                <a:spcPct val="112000"/>
              </a:lnSpc>
              <a:buNone/>
            </a:pPr>
            <a:r>
              <a:rPr lang="en-US" sz="1200" b="1" dirty="0">
                <a:solidFill>
                  <a:srgbClr val="1B2A41"/>
                </a:solidFill>
                <a:latin typeface="Apple SD Gothic Neo" pitchFamily="34" charset="0"/>
                <a:ea typeface="Apple SD Gothic Neo" pitchFamily="34" charset="-122"/>
                <a:cs typeface="Apple SD Gothic Neo" pitchFamily="34" charset="-120"/>
              </a:rPr>
              <a:t>GA 서비스만으로 대표 시나리오를 지금 시작할 수 있다</a:t>
            </a:r>
            <a:endParaRPr lang="en-US" sz="1200" dirty="0"/>
          </a:p>
        </p:txBody>
      </p:sp>
      <p:sp>
        <p:nvSpPr>
          <p:cNvPr id="32" name="Shape 30"/>
          <p:cNvSpPr/>
          <p:nvPr/>
        </p:nvSpPr>
        <p:spPr>
          <a:xfrm>
            <a:off x="6172200" y="3886200"/>
            <a:ext cx="5486400" cy="914400"/>
          </a:xfrm>
          <a:prstGeom prst="roundRect">
            <a:avLst>
              <a:gd name="adj" fmla="val 9000"/>
            </a:avLst>
          </a:prstGeom>
          <a:solidFill>
            <a:srgbClr val="FFFFFF"/>
          </a:solidFill>
          <a:ln w="12700">
            <a:solidFill>
              <a:srgbClr val="D4E0F0"/>
            </a:solidFill>
            <a:prstDash val="solid"/>
          </a:ln>
          <a:effectLst>
            <a:outerShdw sx="100000" sy="100000" kx="0" ky="0" algn="bl" rotWithShape="0" blurRad="76200" dist="25400" dir="5400000">
              <a:srgbClr val="1A2A44">
                <a:alpha val="14000"/>
              </a:srgbClr>
            </a:outerShdw>
          </a:effectLst>
        </p:spPr>
      </p:sp>
      <p:sp>
        <p:nvSpPr>
          <p:cNvPr id="33" name="Shape 31"/>
          <p:cNvSpPr/>
          <p:nvPr/>
        </p:nvSpPr>
        <p:spPr>
          <a:xfrm>
            <a:off x="6373368" y="4133088"/>
            <a:ext cx="420624" cy="420624"/>
          </a:xfrm>
          <a:prstGeom prst="roundRect">
            <a:avLst>
              <a:gd name="adj" fmla="val 21739"/>
            </a:avLst>
          </a:prstGeom>
          <a:solidFill>
            <a:srgbClr val="1A3D6D"/>
          </a:solidFill>
          <a:ln/>
        </p:spPr>
      </p:sp>
      <p:sp>
        <p:nvSpPr>
          <p:cNvPr id="34" name="Text 32"/>
          <p:cNvSpPr/>
          <p:nvPr/>
        </p:nvSpPr>
        <p:spPr>
          <a:xfrm>
            <a:off x="6373368" y="4133088"/>
            <a:ext cx="420624" cy="420624"/>
          </a:xfrm>
          <a:prstGeom prst="rect">
            <a:avLst/>
          </a:prstGeom>
          <a:noFill/>
          <a:ln/>
        </p:spPr>
        <p:txBody>
          <a:bodyPr wrap="square" rtlCol="0" anchor="ctr"/>
          <a:lstStyle/>
          <a:p>
            <a:pPr algn="ct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7</a:t>
            </a:r>
            <a:endParaRPr lang="en-US" sz="1500" dirty="0"/>
          </a:p>
        </p:txBody>
      </p:sp>
      <p:sp>
        <p:nvSpPr>
          <p:cNvPr id="35" name="Text 33"/>
          <p:cNvSpPr/>
          <p:nvPr/>
        </p:nvSpPr>
        <p:spPr>
          <a:xfrm>
            <a:off x="6995160" y="3959352"/>
            <a:ext cx="4572000" cy="777240"/>
          </a:xfrm>
          <a:prstGeom prst="rect">
            <a:avLst/>
          </a:prstGeom>
          <a:noFill/>
          <a:ln/>
        </p:spPr>
        <p:txBody>
          <a:bodyPr wrap="square" rtlCol="0" anchor="ctr"/>
          <a:lstStyle/>
          <a:p>
            <a:pPr indent="0" marL="0">
              <a:lnSpc>
                <a:spcPct val="112000"/>
              </a:lnSpc>
              <a:buNone/>
            </a:pPr>
            <a:r>
              <a:rPr lang="en-US" sz="1200" b="1" dirty="0">
                <a:solidFill>
                  <a:srgbClr val="1B2A41"/>
                </a:solidFill>
                <a:latin typeface="Apple SD Gothic Neo" pitchFamily="34" charset="0"/>
                <a:ea typeface="Apple SD Gothic Neo" pitchFamily="34" charset="-122"/>
                <a:cs typeface="Apple SD Gothic Neo" pitchFamily="34" charset="-120"/>
              </a:rPr>
              <a:t>작게 시작해 검증된 패턴을 안전하게 확장한다</a:t>
            </a:r>
            <a:endParaRPr lang="en-US" sz="1200" dirty="0"/>
          </a:p>
        </p:txBody>
      </p:sp>
      <p:sp>
        <p:nvSpPr>
          <p:cNvPr id="36" name="Shape 34"/>
          <p:cNvSpPr/>
          <p:nvPr/>
        </p:nvSpPr>
        <p:spPr>
          <a:xfrm>
            <a:off x="6172200" y="4937760"/>
            <a:ext cx="5486400" cy="914400"/>
          </a:xfrm>
          <a:prstGeom prst="roundRect">
            <a:avLst>
              <a:gd name="adj" fmla="val 9000"/>
            </a:avLst>
          </a:prstGeom>
          <a:solidFill>
            <a:srgbClr val="1A3D6D"/>
          </a:solidFill>
          <a:ln/>
          <a:effectLst>
            <a:outerShdw sx="100000" sy="100000" kx="0" ky="0" algn="bl" rotWithShape="0" blurRad="76200" dist="25400" dir="5400000">
              <a:srgbClr val="1A2A44">
                <a:alpha val="14000"/>
              </a:srgbClr>
            </a:outerShdw>
          </a:effectLst>
        </p:spPr>
      </p:sp>
      <p:pic>
        <p:nvPicPr>
          <p:cNvPr id="37" name="Image 0" descr="preencoded.png">    </p:cNvPr>
          <p:cNvPicPr>
            <a:picLocks noChangeAspect="1"/>
          </p:cNvPicPr>
          <p:nvPr/>
        </p:nvPicPr>
        <p:blipFill>
          <a:blip r:embed="rId1"/>
          <a:stretch>
            <a:fillRect/>
          </a:stretch>
        </p:blipFill>
        <p:spPr>
          <a:xfrm>
            <a:off x="6428232" y="5193792"/>
            <a:ext cx="402336" cy="402336"/>
          </a:xfrm>
          <a:prstGeom prst="rect">
            <a:avLst/>
          </a:prstGeom>
        </p:spPr>
      </p:pic>
      <p:sp>
        <p:nvSpPr>
          <p:cNvPr id="38" name="Text 35"/>
          <p:cNvSpPr/>
          <p:nvPr/>
        </p:nvSpPr>
        <p:spPr>
          <a:xfrm>
            <a:off x="7040880" y="5010912"/>
            <a:ext cx="4480560" cy="777240"/>
          </a:xfrm>
          <a:prstGeom prst="rect">
            <a:avLst/>
          </a:prstGeom>
          <a:noFill/>
          <a:ln/>
        </p:spPr>
        <p:txBody>
          <a:bodyPr wrap="square" rtlCol="0" anchor="ctr"/>
          <a:lstStyle/>
          <a:p>
            <a:pPr indent="0" marL="0">
              <a:lnSpc>
                <a:spcPct val="112000"/>
              </a:lnSpc>
              <a:buNone/>
            </a:pPr>
            <a:r>
              <a:rPr lang="en-US" sz="1250" b="1" dirty="0">
                <a:solidFill>
                  <a:srgbClr val="FFFFFF"/>
                </a:solidFill>
                <a:latin typeface="Apple SD Gothic Neo" pitchFamily="34" charset="0"/>
                <a:ea typeface="Apple SD Gothic Neo" pitchFamily="34" charset="-122"/>
                <a:cs typeface="Apple SD Gothic Neo" pitchFamily="34" charset="-120"/>
              </a:rPr>
              <a:t>한 문장 — Azure는 신뢰할 수 있는 Enterprise AI Platform입니다</a:t>
            </a:r>
            <a:endParaRPr lang="en-US" sz="1250" dirty="0"/>
          </a:p>
        </p:txBody>
      </p:sp>
      <p:sp>
        <p:nvSpPr>
          <p:cNvPr id="39" name="Text 36"/>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5F708A"/>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40" name="Text 37"/>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5F708A"/>
                </a:solidFill>
                <a:latin typeface="Apple SD Gothic Neo" pitchFamily="34" charset="0"/>
                <a:ea typeface="Apple SD Gothic Neo" pitchFamily="34" charset="-122"/>
                <a:cs typeface="Apple SD Gothic Neo" pitchFamily="34" charset="-120"/>
              </a:rPr>
              <a:t>31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2547"/>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4F8FB6"/>
          </a:solidFill>
          <a:ln/>
        </p:spPr>
      </p:sp>
      <p:sp>
        <p:nvSpPr>
          <p:cNvPr id="3" name="Text 1"/>
          <p:cNvSpPr/>
          <p:nvPr/>
        </p:nvSpPr>
        <p:spPr>
          <a:xfrm>
            <a:off x="777240" y="731520"/>
            <a:ext cx="10058400" cy="457200"/>
          </a:xfrm>
          <a:prstGeom prst="rect">
            <a:avLst/>
          </a:prstGeom>
          <a:noFill/>
          <a:ln/>
        </p:spPr>
        <p:txBody>
          <a:bodyPr wrap="square" rtlCol="0" anchor="ctr"/>
          <a:lstStyle/>
          <a:p>
            <a:pPr indent="0" marL="0">
              <a:buNone/>
            </a:pPr>
            <a:r>
              <a:rPr lang="en-US" sz="1400" b="1" spc="200" kern="0" dirty="0">
                <a:solidFill>
                  <a:srgbClr val="C7D8EC"/>
                </a:solidFill>
                <a:latin typeface="Apple SD Gothic Neo" pitchFamily="34" charset="0"/>
                <a:ea typeface="Apple SD Gothic Neo" pitchFamily="34" charset="-122"/>
                <a:cs typeface="Apple SD Gothic Neo" pitchFamily="34" charset="-120"/>
              </a:rPr>
              <a:t>한 문장으로</a:t>
            </a:r>
            <a:endParaRPr lang="en-US" sz="1400" dirty="0"/>
          </a:p>
        </p:txBody>
      </p:sp>
      <p:sp>
        <p:nvSpPr>
          <p:cNvPr id="4" name="Text 2"/>
          <p:cNvSpPr/>
          <p:nvPr/>
        </p:nvSpPr>
        <p:spPr>
          <a:xfrm>
            <a:off x="777240" y="1234440"/>
            <a:ext cx="10607040" cy="1371600"/>
          </a:xfrm>
          <a:prstGeom prst="rect">
            <a:avLst/>
          </a:prstGeom>
          <a:noFill/>
          <a:ln/>
        </p:spPr>
        <p:txBody>
          <a:bodyPr wrap="square" rtlCol="0" anchor="ctr"/>
          <a:lstStyle/>
          <a:p>
            <a:pPr indent="0" marL="0">
              <a:lnSpc>
                <a:spcPct val="115000"/>
              </a:lnSpc>
              <a:buNone/>
            </a:pPr>
            <a:r>
              <a:rPr lang="en-US" sz="2700" b="1" dirty="0">
                <a:solidFill>
                  <a:srgbClr val="FFFFFF"/>
                </a:solidFill>
                <a:latin typeface="Apple SD Gothic Neo" pitchFamily="34" charset="0"/>
                <a:ea typeface="Apple SD Gothic Neo" pitchFamily="34" charset="-122"/>
                <a:cs typeface="Apple SD Gothic Neo" pitchFamily="34" charset="-120"/>
              </a:rPr>
              <a:t>Azure는 데이터·에이전트·거버넌스를 하나의 스택으로 잇는,</a:t>
            </a:r>
            <a:endParaRPr lang="en-US" sz="2700" dirty="0"/>
          </a:p>
          <a:p>
            <a:pPr indent="0" marL="0">
              <a:lnSpc>
                <a:spcPct val="115000"/>
              </a:lnSpc>
              <a:buNone/>
            </a:pPr>
            <a:r>
              <a:rPr lang="en-US" sz="2700" b="1" dirty="0">
                <a:solidFill>
                  <a:srgbClr val="FFFFFF"/>
                </a:solidFill>
                <a:latin typeface="Apple SD Gothic Neo" pitchFamily="34" charset="0"/>
                <a:ea typeface="Apple SD Gothic Neo" pitchFamily="34" charset="-122"/>
                <a:cs typeface="Apple SD Gothic Neo" pitchFamily="34" charset="-120"/>
              </a:rPr>
              <a:t>신뢰할 수 있는 Enterprise AI Platform입니다.</a:t>
            </a:r>
            <a:endParaRPr lang="en-US" sz="2700" dirty="0"/>
          </a:p>
        </p:txBody>
      </p:sp>
      <p:sp>
        <p:nvSpPr>
          <p:cNvPr id="5" name="Shape 3"/>
          <p:cNvSpPr/>
          <p:nvPr/>
        </p:nvSpPr>
        <p:spPr>
          <a:xfrm>
            <a:off x="777240" y="3063240"/>
            <a:ext cx="2743200" cy="45720"/>
          </a:xfrm>
          <a:prstGeom prst="rect">
            <a:avLst/>
          </a:prstGeom>
          <a:solidFill>
            <a:srgbClr val="4F8FB6"/>
          </a:solidFill>
          <a:ln/>
        </p:spPr>
      </p:sp>
      <p:sp>
        <p:nvSpPr>
          <p:cNvPr id="6" name="Text 4"/>
          <p:cNvSpPr/>
          <p:nvPr/>
        </p:nvSpPr>
        <p:spPr>
          <a:xfrm>
            <a:off x="777240" y="3383280"/>
            <a:ext cx="10607040" cy="411480"/>
          </a:xfrm>
          <a:prstGeom prst="rect">
            <a:avLst/>
          </a:prstGeom>
          <a:noFill/>
          <a:ln/>
        </p:spPr>
        <p:txBody>
          <a:bodyPr wrap="square" rtlCol="0" anchor="ctr"/>
          <a:lstStyle/>
          <a:p>
            <a:pPr indent="0" marL="0">
              <a:buNone/>
            </a:pPr>
            <a:r>
              <a:rPr lang="en-US" sz="1700" b="1" dirty="0">
                <a:solidFill>
                  <a:srgbClr val="DBE7F6"/>
                </a:solidFill>
                <a:latin typeface="Apple SD Gothic Neo" pitchFamily="34" charset="0"/>
                <a:ea typeface="Apple SD Gothic Neo" pitchFamily="34" charset="-122"/>
                <a:cs typeface="Apple SD Gothic Neo" pitchFamily="34" charset="-120"/>
              </a:rPr>
              <a:t>제안하는 다음 단계 — 함께 여는 90분 워크숍</a:t>
            </a:r>
            <a:endParaRPr lang="en-US" sz="1700" dirty="0"/>
          </a:p>
        </p:txBody>
      </p:sp>
      <p:sp>
        <p:nvSpPr>
          <p:cNvPr id="7" name="Shape 5"/>
          <p:cNvSpPr/>
          <p:nvPr/>
        </p:nvSpPr>
        <p:spPr>
          <a:xfrm>
            <a:off x="777240" y="3977640"/>
            <a:ext cx="3429000" cy="1783080"/>
          </a:xfrm>
          <a:prstGeom prst="roundRect">
            <a:avLst>
              <a:gd name="adj" fmla="val 4103"/>
            </a:avLst>
          </a:prstGeom>
          <a:solidFill>
            <a:srgbClr val="1A3D6D"/>
          </a:solidFill>
          <a:ln w="12700">
            <a:solidFill>
              <a:srgbClr val="2F5B93"/>
            </a:solidFill>
            <a:prstDash val="solid"/>
          </a:ln>
        </p:spPr>
      </p:sp>
      <p:sp>
        <p:nvSpPr>
          <p:cNvPr id="8" name="Shape 6"/>
          <p:cNvSpPr/>
          <p:nvPr/>
        </p:nvSpPr>
        <p:spPr>
          <a:xfrm>
            <a:off x="1051560" y="4206240"/>
            <a:ext cx="457200" cy="457200"/>
          </a:xfrm>
          <a:prstGeom prst="roundRect">
            <a:avLst>
              <a:gd name="adj" fmla="val 20000"/>
            </a:avLst>
          </a:prstGeom>
          <a:solidFill>
            <a:srgbClr val="2F5B93"/>
          </a:solidFill>
          <a:ln/>
        </p:spPr>
      </p:sp>
      <p:sp>
        <p:nvSpPr>
          <p:cNvPr id="9" name="Text 7"/>
          <p:cNvSpPr/>
          <p:nvPr/>
        </p:nvSpPr>
        <p:spPr>
          <a:xfrm>
            <a:off x="1051560" y="4206240"/>
            <a:ext cx="457200" cy="457200"/>
          </a:xfrm>
          <a:prstGeom prst="rect">
            <a:avLst/>
          </a:prstGeom>
          <a:noFill/>
          <a:ln/>
        </p:spPr>
        <p:txBody>
          <a:bodyPr wrap="square" rtlCol="0" anchor="ctr"/>
          <a:lstStyle/>
          <a:p>
            <a:pPr algn="ctr" indent="0" marL="0">
              <a:buNone/>
            </a:pPr>
            <a:r>
              <a:rPr lang="en-US" sz="1700" b="1" dirty="0">
                <a:solidFill>
                  <a:srgbClr val="FFFFFF"/>
                </a:solidFill>
                <a:latin typeface="Apple SD Gothic Neo" pitchFamily="34" charset="0"/>
                <a:ea typeface="Apple SD Gothic Neo" pitchFamily="34" charset="-122"/>
                <a:cs typeface="Apple SD Gothic Neo" pitchFamily="34" charset="-120"/>
              </a:rPr>
              <a:t>1</a:t>
            </a:r>
            <a:endParaRPr lang="en-US" sz="1700" dirty="0"/>
          </a:p>
        </p:txBody>
      </p:sp>
      <p:sp>
        <p:nvSpPr>
          <p:cNvPr id="10" name="Text 8"/>
          <p:cNvSpPr/>
          <p:nvPr/>
        </p:nvSpPr>
        <p:spPr>
          <a:xfrm>
            <a:off x="1051560" y="4773168"/>
            <a:ext cx="2880360" cy="457200"/>
          </a:xfrm>
          <a:prstGeom prst="rect">
            <a:avLst/>
          </a:prstGeom>
          <a:noFill/>
          <a:ln/>
        </p:spPr>
        <p:txBody>
          <a:bodyPr wrap="square" rtlCol="0" anchor="ctr"/>
          <a:lstStyle/>
          <a:p>
            <a:pP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후보 업무 1개</a:t>
            </a:r>
            <a:endParaRPr lang="en-US" sz="1600" dirty="0"/>
          </a:p>
        </p:txBody>
      </p:sp>
      <p:sp>
        <p:nvSpPr>
          <p:cNvPr id="11" name="Text 9"/>
          <p:cNvSpPr/>
          <p:nvPr/>
        </p:nvSpPr>
        <p:spPr>
          <a:xfrm>
            <a:off x="1051560" y="5230368"/>
            <a:ext cx="2880360" cy="457200"/>
          </a:xfrm>
          <a:prstGeom prst="rect">
            <a:avLst/>
          </a:prstGeom>
          <a:noFill/>
          <a:ln/>
        </p:spPr>
        <p:txBody>
          <a:bodyPr wrap="square" rtlCol="0" anchor="ctr"/>
          <a:lstStyle/>
          <a:p>
            <a:pPr indent="0" marL="0">
              <a:lnSpc>
                <a:spcPct val="115000"/>
              </a:lnSpc>
              <a:buNone/>
            </a:pPr>
            <a:r>
              <a:rPr lang="en-US" sz="1150" dirty="0">
                <a:solidFill>
                  <a:srgbClr val="DBE7F6"/>
                </a:solidFill>
                <a:latin typeface="Apple SD Gothic Neo" pitchFamily="34" charset="0"/>
                <a:ea typeface="Apple SD Gothic Neo" pitchFamily="34" charset="-122"/>
                <a:cs typeface="Apple SD Gothic Neo" pitchFamily="34" charset="-120"/>
              </a:rPr>
              <a:t>ROI가 크고 데이터가 준비된 워크플로 선정</a:t>
            </a:r>
            <a:endParaRPr lang="en-US" sz="1150" dirty="0"/>
          </a:p>
        </p:txBody>
      </p:sp>
      <p:sp>
        <p:nvSpPr>
          <p:cNvPr id="12" name="Shape 10"/>
          <p:cNvSpPr/>
          <p:nvPr/>
        </p:nvSpPr>
        <p:spPr>
          <a:xfrm>
            <a:off x="4389120" y="3977640"/>
            <a:ext cx="3429000" cy="1783080"/>
          </a:xfrm>
          <a:prstGeom prst="roundRect">
            <a:avLst>
              <a:gd name="adj" fmla="val 4103"/>
            </a:avLst>
          </a:prstGeom>
          <a:solidFill>
            <a:srgbClr val="1A3D6D"/>
          </a:solidFill>
          <a:ln w="12700">
            <a:solidFill>
              <a:srgbClr val="2F5B93"/>
            </a:solidFill>
            <a:prstDash val="solid"/>
          </a:ln>
        </p:spPr>
      </p:sp>
      <p:sp>
        <p:nvSpPr>
          <p:cNvPr id="13" name="Shape 11"/>
          <p:cNvSpPr/>
          <p:nvPr/>
        </p:nvSpPr>
        <p:spPr>
          <a:xfrm>
            <a:off x="4663440" y="4206240"/>
            <a:ext cx="457200" cy="457200"/>
          </a:xfrm>
          <a:prstGeom prst="roundRect">
            <a:avLst>
              <a:gd name="adj" fmla="val 20000"/>
            </a:avLst>
          </a:prstGeom>
          <a:solidFill>
            <a:srgbClr val="2F5B93"/>
          </a:solidFill>
          <a:ln/>
        </p:spPr>
      </p:sp>
      <p:sp>
        <p:nvSpPr>
          <p:cNvPr id="14" name="Text 12"/>
          <p:cNvSpPr/>
          <p:nvPr/>
        </p:nvSpPr>
        <p:spPr>
          <a:xfrm>
            <a:off x="4663440" y="4206240"/>
            <a:ext cx="457200" cy="457200"/>
          </a:xfrm>
          <a:prstGeom prst="rect">
            <a:avLst/>
          </a:prstGeom>
          <a:noFill/>
          <a:ln/>
        </p:spPr>
        <p:txBody>
          <a:bodyPr wrap="square" rtlCol="0" anchor="ctr"/>
          <a:lstStyle/>
          <a:p>
            <a:pPr algn="ctr" indent="0" marL="0">
              <a:buNone/>
            </a:pPr>
            <a:r>
              <a:rPr lang="en-US" sz="1700" b="1" dirty="0">
                <a:solidFill>
                  <a:srgbClr val="FFFFFF"/>
                </a:solidFill>
                <a:latin typeface="Apple SD Gothic Neo" pitchFamily="34" charset="0"/>
                <a:ea typeface="Apple SD Gothic Neo" pitchFamily="34" charset="-122"/>
                <a:cs typeface="Apple SD Gothic Neo" pitchFamily="34" charset="-120"/>
              </a:rPr>
              <a:t>2</a:t>
            </a:r>
            <a:endParaRPr lang="en-US" sz="1700" dirty="0"/>
          </a:p>
        </p:txBody>
      </p:sp>
      <p:sp>
        <p:nvSpPr>
          <p:cNvPr id="15" name="Text 13"/>
          <p:cNvSpPr/>
          <p:nvPr/>
        </p:nvSpPr>
        <p:spPr>
          <a:xfrm>
            <a:off x="4663440" y="4773168"/>
            <a:ext cx="2880360" cy="457200"/>
          </a:xfrm>
          <a:prstGeom prst="rect">
            <a:avLst/>
          </a:prstGeom>
          <a:noFill/>
          <a:ln/>
        </p:spPr>
        <p:txBody>
          <a:bodyPr wrap="square" rtlCol="0" anchor="ctr"/>
          <a:lstStyle/>
          <a:p>
            <a:pP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데이터·보안 요건</a:t>
            </a:r>
            <a:endParaRPr lang="en-US" sz="1600" dirty="0"/>
          </a:p>
        </p:txBody>
      </p:sp>
      <p:sp>
        <p:nvSpPr>
          <p:cNvPr id="16" name="Text 14"/>
          <p:cNvSpPr/>
          <p:nvPr/>
        </p:nvSpPr>
        <p:spPr>
          <a:xfrm>
            <a:off x="4663440" y="5230368"/>
            <a:ext cx="2880360" cy="457200"/>
          </a:xfrm>
          <a:prstGeom prst="rect">
            <a:avLst/>
          </a:prstGeom>
          <a:noFill/>
          <a:ln/>
        </p:spPr>
        <p:txBody>
          <a:bodyPr wrap="square" rtlCol="0" anchor="ctr"/>
          <a:lstStyle/>
          <a:p>
            <a:pPr indent="0" marL="0">
              <a:lnSpc>
                <a:spcPct val="115000"/>
              </a:lnSpc>
              <a:buNone/>
            </a:pPr>
            <a:r>
              <a:rPr lang="en-US" sz="1150" dirty="0">
                <a:solidFill>
                  <a:srgbClr val="DBE7F6"/>
                </a:solidFill>
                <a:latin typeface="Apple SD Gothic Neo" pitchFamily="34" charset="0"/>
                <a:ea typeface="Apple SD Gothic Neo" pitchFamily="34" charset="-122"/>
                <a:cs typeface="Apple SD Gothic Neo" pitchFamily="34" charset="-120"/>
              </a:rPr>
              <a:t>리전·규제·민감정보·ID 기준 정리</a:t>
            </a:r>
            <a:endParaRPr lang="en-US" sz="1150" dirty="0"/>
          </a:p>
        </p:txBody>
      </p:sp>
      <p:sp>
        <p:nvSpPr>
          <p:cNvPr id="17" name="Shape 15"/>
          <p:cNvSpPr/>
          <p:nvPr/>
        </p:nvSpPr>
        <p:spPr>
          <a:xfrm>
            <a:off x="8001000" y="3977640"/>
            <a:ext cx="3429000" cy="1783080"/>
          </a:xfrm>
          <a:prstGeom prst="roundRect">
            <a:avLst>
              <a:gd name="adj" fmla="val 4103"/>
            </a:avLst>
          </a:prstGeom>
          <a:solidFill>
            <a:srgbClr val="1A3D6D"/>
          </a:solidFill>
          <a:ln w="12700">
            <a:solidFill>
              <a:srgbClr val="2F5B93"/>
            </a:solidFill>
            <a:prstDash val="solid"/>
          </a:ln>
        </p:spPr>
      </p:sp>
      <p:sp>
        <p:nvSpPr>
          <p:cNvPr id="18" name="Shape 16"/>
          <p:cNvSpPr/>
          <p:nvPr/>
        </p:nvSpPr>
        <p:spPr>
          <a:xfrm>
            <a:off x="8275320" y="4206240"/>
            <a:ext cx="457200" cy="457200"/>
          </a:xfrm>
          <a:prstGeom prst="roundRect">
            <a:avLst>
              <a:gd name="adj" fmla="val 20000"/>
            </a:avLst>
          </a:prstGeom>
          <a:solidFill>
            <a:srgbClr val="2F5B93"/>
          </a:solidFill>
          <a:ln/>
        </p:spPr>
      </p:sp>
      <p:sp>
        <p:nvSpPr>
          <p:cNvPr id="19" name="Text 17"/>
          <p:cNvSpPr/>
          <p:nvPr/>
        </p:nvSpPr>
        <p:spPr>
          <a:xfrm>
            <a:off x="8275320" y="4206240"/>
            <a:ext cx="457200" cy="457200"/>
          </a:xfrm>
          <a:prstGeom prst="rect">
            <a:avLst/>
          </a:prstGeom>
          <a:noFill/>
          <a:ln/>
        </p:spPr>
        <p:txBody>
          <a:bodyPr wrap="square" rtlCol="0" anchor="ctr"/>
          <a:lstStyle/>
          <a:p>
            <a:pPr algn="ctr" indent="0" marL="0">
              <a:buNone/>
            </a:pPr>
            <a:r>
              <a:rPr lang="en-US" sz="1700" b="1" dirty="0">
                <a:solidFill>
                  <a:srgbClr val="FFFFFF"/>
                </a:solidFill>
                <a:latin typeface="Apple SD Gothic Neo" pitchFamily="34" charset="0"/>
                <a:ea typeface="Apple SD Gothic Neo" pitchFamily="34" charset="-122"/>
                <a:cs typeface="Apple SD Gothic Neo" pitchFamily="34" charset="-120"/>
              </a:rPr>
              <a:t>3</a:t>
            </a:r>
            <a:endParaRPr lang="en-US" sz="1700" dirty="0"/>
          </a:p>
        </p:txBody>
      </p:sp>
      <p:sp>
        <p:nvSpPr>
          <p:cNvPr id="20" name="Text 18"/>
          <p:cNvSpPr/>
          <p:nvPr/>
        </p:nvSpPr>
        <p:spPr>
          <a:xfrm>
            <a:off x="8275320" y="4773168"/>
            <a:ext cx="2880360" cy="457200"/>
          </a:xfrm>
          <a:prstGeom prst="rect">
            <a:avLst/>
          </a:prstGeom>
          <a:noFill/>
          <a:ln/>
        </p:spPr>
        <p:txBody>
          <a:bodyPr wrap="square" rtlCol="0" anchor="ctr"/>
          <a:lstStyle/>
          <a:p>
            <a:pP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파일럿 스코프·KPI</a:t>
            </a:r>
            <a:endParaRPr lang="en-US" sz="1600" dirty="0"/>
          </a:p>
        </p:txBody>
      </p:sp>
      <p:sp>
        <p:nvSpPr>
          <p:cNvPr id="21" name="Text 19"/>
          <p:cNvSpPr/>
          <p:nvPr/>
        </p:nvSpPr>
        <p:spPr>
          <a:xfrm>
            <a:off x="8275320" y="5230368"/>
            <a:ext cx="2880360" cy="457200"/>
          </a:xfrm>
          <a:prstGeom prst="rect">
            <a:avLst/>
          </a:prstGeom>
          <a:noFill/>
          <a:ln/>
        </p:spPr>
        <p:txBody>
          <a:bodyPr wrap="square" rtlCol="0" anchor="ctr"/>
          <a:lstStyle/>
          <a:p>
            <a:pPr indent="0" marL="0">
              <a:lnSpc>
                <a:spcPct val="115000"/>
              </a:lnSpc>
              <a:buNone/>
            </a:pPr>
            <a:r>
              <a:rPr lang="en-US" sz="1150" dirty="0">
                <a:solidFill>
                  <a:srgbClr val="DBE7F6"/>
                </a:solidFill>
                <a:latin typeface="Apple SD Gothic Neo" pitchFamily="34" charset="0"/>
                <a:ea typeface="Apple SD Gothic Neo" pitchFamily="34" charset="-122"/>
                <a:cs typeface="Apple SD Gothic Neo" pitchFamily="34" charset="-120"/>
              </a:rPr>
              <a:t>GA 서비스로 2~6주 구현 범위·성공 기준</a:t>
            </a:r>
            <a:endParaRPr lang="en-US" sz="1150" dirty="0"/>
          </a:p>
        </p:txBody>
      </p:sp>
      <p:sp>
        <p:nvSpPr>
          <p:cNvPr id="22" name="Text 20"/>
          <p:cNvSpPr/>
          <p:nvPr/>
        </p:nvSpPr>
        <p:spPr>
          <a:xfrm>
            <a:off x="777240" y="5943600"/>
            <a:ext cx="10607040" cy="365760"/>
          </a:xfrm>
          <a:prstGeom prst="rect">
            <a:avLst/>
          </a:prstGeom>
          <a:noFill/>
          <a:ln/>
        </p:spPr>
        <p:txBody>
          <a:bodyPr wrap="square" rtlCol="0" anchor="ctr"/>
          <a:lstStyle/>
          <a:p>
            <a:pPr indent="0" marL="0">
              <a:buNone/>
            </a:pPr>
            <a:r>
              <a:rPr lang="en-US" sz="1150" b="1" dirty="0">
                <a:solidFill>
                  <a:srgbClr val="C7D8EC"/>
                </a:solidFill>
                <a:latin typeface="Apple SD Gothic Neo" pitchFamily="34" charset="0"/>
                <a:ea typeface="Apple SD Gothic Neo" pitchFamily="34" charset="-122"/>
                <a:cs typeface="Apple SD Gothic Neo" pitchFamily="34" charset="-120"/>
              </a:rPr>
              <a:t>함께할 분  </a:t>
            </a:r>
            <a:pPr indent="0" marL="0">
              <a:buNone/>
            </a:pPr>
            <a:r>
              <a:rPr lang="en-US" sz="1150" dirty="0">
                <a:solidFill>
                  <a:srgbClr val="DBE7F6"/>
                </a:solidFill>
                <a:latin typeface="Apple SD Gothic Neo" pitchFamily="34" charset="0"/>
                <a:ea typeface="Apple SD Gothic Neo" pitchFamily="34" charset="-122"/>
                <a:cs typeface="Apple SD Gothic Neo" pitchFamily="34" charset="-120"/>
              </a:rPr>
              <a:t>업무 오너 · 데이터 · 보안/컴플라이언스 · IT      </a:t>
            </a:r>
            <a:pPr indent="0" marL="0">
              <a:buNone/>
            </a:pPr>
            <a:r>
              <a:rPr lang="en-US" sz="1150" b="1" dirty="0">
                <a:solidFill>
                  <a:srgbClr val="C7D8EC"/>
                </a:solidFill>
                <a:latin typeface="Apple SD Gothic Neo" pitchFamily="34" charset="0"/>
                <a:ea typeface="Apple SD Gothic Neo" pitchFamily="34" charset="-122"/>
                <a:cs typeface="Apple SD Gothic Neo" pitchFamily="34" charset="-120"/>
              </a:rPr>
              <a:t>산출물  </a:t>
            </a:r>
            <a:pPr indent="0" marL="0">
              <a:buNone/>
            </a:pPr>
            <a:r>
              <a:rPr lang="en-US" sz="1150" dirty="0">
                <a:solidFill>
                  <a:srgbClr val="DBE7F6"/>
                </a:solidFill>
                <a:latin typeface="Apple SD Gothic Neo" pitchFamily="34" charset="0"/>
                <a:ea typeface="Apple SD Gothic Neo" pitchFamily="34" charset="-122"/>
                <a:cs typeface="Apple SD Gothic Neo" pitchFamily="34" charset="-120"/>
              </a:rPr>
              <a:t>파일럿 설계서 1장</a:t>
            </a:r>
            <a:endParaRPr lang="en-US" sz="1150" dirty="0"/>
          </a:p>
        </p:txBody>
      </p:sp>
      <p:sp>
        <p:nvSpPr>
          <p:cNvPr id="23" name="Text 21"/>
          <p:cNvSpPr/>
          <p:nvPr/>
        </p:nvSpPr>
        <p:spPr>
          <a:xfrm>
            <a:off x="457200" y="6455664"/>
            <a:ext cx="5486400" cy="274320"/>
          </a:xfrm>
          <a:prstGeom prst="rect">
            <a:avLst/>
          </a:prstGeom>
          <a:noFill/>
          <a:ln/>
        </p:spPr>
        <p:txBody>
          <a:bodyPr wrap="square" rtlCol="0" anchor="ctr"/>
          <a:lstStyle/>
          <a:p>
            <a:pPr algn="l" indent="0" marL="0">
              <a:buNone/>
            </a:pPr>
            <a:r>
              <a:rPr lang="en-US" sz="850" dirty="0">
                <a:solidFill>
                  <a:srgbClr val="7AA5D6"/>
                </a:solidFill>
                <a:latin typeface="Apple SD Gothic Neo" pitchFamily="34" charset="0"/>
                <a:ea typeface="Apple SD Gothic Neo" pitchFamily="34" charset="-122"/>
                <a:cs typeface="Apple SD Gothic Neo" pitchFamily="34" charset="-120"/>
              </a:rPr>
              <a:t>Why Build AI on Azure?</a:t>
            </a:r>
            <a:endParaRPr lang="en-US" sz="850" dirty="0"/>
          </a:p>
        </p:txBody>
      </p:sp>
      <p:sp>
        <p:nvSpPr>
          <p:cNvPr id="24" name="Text 22"/>
          <p:cNvSpPr/>
          <p:nvPr/>
        </p:nvSpPr>
        <p:spPr>
          <a:xfrm>
            <a:off x="11338560" y="6455664"/>
            <a:ext cx="457200" cy="274320"/>
          </a:xfrm>
          <a:prstGeom prst="rect">
            <a:avLst/>
          </a:prstGeom>
          <a:noFill/>
          <a:ln/>
        </p:spPr>
        <p:txBody>
          <a:bodyPr wrap="square" rtlCol="0" anchor="ctr"/>
          <a:lstStyle/>
          <a:p>
            <a:pPr algn="r" indent="0" marL="0">
              <a:buNone/>
            </a:pPr>
            <a:r>
              <a:rPr lang="en-US" sz="850" dirty="0">
                <a:solidFill>
                  <a:srgbClr val="7AA5D6"/>
                </a:solidFill>
                <a:latin typeface="Apple SD Gothic Neo" pitchFamily="34" charset="0"/>
                <a:ea typeface="Apple SD Gothic Neo" pitchFamily="34" charset="-122"/>
                <a:cs typeface="Apple SD Gothic Neo" pitchFamily="34" charset="-120"/>
              </a:rPr>
              <a:t>31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Build AI on Azure?</dc:title>
  <dc:subject>PptxGenJS Presentation</dc:subject>
  <dc:creator>Kichul Kim</dc:creator>
  <cp:lastModifiedBy>Kichul Kim</cp:lastModifiedBy>
  <cp:revision>1</cp:revision>
  <dcterms:created xsi:type="dcterms:W3CDTF">2026-07-10T10:50:01Z</dcterms:created>
  <dcterms:modified xsi:type="dcterms:W3CDTF">2026-07-10T10:50:01Z</dcterms:modified>
</cp:coreProperties>
</file>