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8580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9235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AZURE · ENTERPRISE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Azure 위에서 만드는 신뢰할 수 있는 Enterprise AI Platform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· 온톨로지 · 에이전트 · 거버넌스를 하나의 스택으로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40분 발표 · 6개 완결 서비스 · 6계층 아키텍처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AGENDA · 오늘의 흐름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 개의 파트로 나눠 이야기합니다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665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D6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27080" y="2075688"/>
            <a:ext cx="438912" cy="438912"/>
          </a:xfrm>
          <a:prstGeom prst="ellipse">
            <a:avLst/>
          </a:prstGeom>
          <a:solidFill>
            <a:srgbClr val="1A3D6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197" y="2189805"/>
            <a:ext cx="210678" cy="2106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9293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지금, 왜 Azure인가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435608" y="23134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시대의 전환 · 고객 과제 · 4대 신뢰 근거 · 6가지 판단 기준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509760" y="192938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~14분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935224"/>
            <a:ext cx="111099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2186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D6D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927080" y="3227832"/>
            <a:ext cx="438912" cy="438912"/>
          </a:xfrm>
          <a:prstGeom prst="ellipse">
            <a:avLst/>
          </a:prstGeom>
          <a:solidFill>
            <a:srgbClr val="1A3D6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197" y="3341949"/>
            <a:ext cx="210678" cy="21067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30815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AX 전략과 비즈니스 가치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435608" y="346557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AX 3대 전략 · 에이전트 = 디지털 직원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9509760" y="30815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~4분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087368"/>
            <a:ext cx="111099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77240" y="4370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D6D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927080" y="4379976"/>
            <a:ext cx="438912" cy="438912"/>
          </a:xfrm>
          <a:prstGeom prst="ellipse">
            <a:avLst/>
          </a:prstGeom>
          <a:solidFill>
            <a:srgbClr val="1A3D6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197" y="4494093"/>
            <a:ext cx="210678" cy="21067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17320" y="42336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Enterprise AI Platform (근거)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435608" y="461772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완결 서비스 · 6계층 아키텍처 · Agentic DevOps · Governance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9509760" y="42336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~15분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5239512"/>
            <a:ext cx="111099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77240" y="55229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3D6D"/>
          </a:solidFill>
          <a:ln/>
        </p:spPr>
      </p:sp>
      <p:sp>
        <p:nvSpPr>
          <p:cNvPr id="31" name="Text 26"/>
          <p:cNvSpPr/>
          <p:nvPr/>
        </p:nvSpPr>
        <p:spPr>
          <a:xfrm>
            <a:off x="777240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0927080" y="5532120"/>
            <a:ext cx="438912" cy="438912"/>
          </a:xfrm>
          <a:prstGeom prst="ellipse">
            <a:avLst/>
          </a:prstGeom>
          <a:solidFill>
            <a:srgbClr val="1A3D6D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1197" y="5646237"/>
            <a:ext cx="210678" cy="21067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417320" y="53858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실현 — 다음 단계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1435608" y="57698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역할별 시나리오 · 도입 로드맵 · 핵심 요약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9509760" y="538581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~7분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468880"/>
            <a:ext cx="1463040" cy="146304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90" y="284927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09160" y="2743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지금, 왜 Azure인가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754880" y="37947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시대의 전환과 신뢰의 근거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왜 지금 AI인가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AI는 3세대를 거쳐 '실행'의 단계로 왔습니다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240280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24780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1세대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예측 AI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8580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데이터로 미래를 예측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(수요·이탈·리스크)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862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343400" y="192024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32120" y="2240280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247802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2세대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34340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AI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434340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콘텐츠를 생성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(문서·코드·이미지)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5438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8001000" y="192024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189720" y="224028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47802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01000" y="3246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3세대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00100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AI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8001000" y="4069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스스로 계획하고 실행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(업무를 대신 수행)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AI는 '무엇을 알려주는' 도구에서 '무엇을 대신 해주는' 실행 주체로 전환되고 있습니다.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왜 지금 AI인가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에이전트가 바꾸는 것 — 그리고 왜 '지금'인가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4792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1673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에이전트가 바꾸는 것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532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2148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구분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기존 방식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에이전트 시대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업무 수행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사람이 직접 처리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에이전트가 대신 실행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시스템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사람이 도구를 조작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에이전트가 도구를 호출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확장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인력 증원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에이전트 확장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속도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업무시간에 종속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24/7 상시 실행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0" y="1691640"/>
            <a:ext cx="310896" cy="310896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64792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03136" y="1673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지금인가 — 4가지 압력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0" y="205740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583680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14" name="Text 9"/>
          <p:cNvSpPr/>
          <p:nvPr/>
        </p:nvSpPr>
        <p:spPr>
          <a:xfrm>
            <a:off x="6583680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132320" y="2139696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프론티어 모델의 성숙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132320" y="244144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복잡한 업무를 맡길 수준으로 도약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0" y="288036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83680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19" name="Text 14"/>
          <p:cNvSpPr/>
          <p:nvPr/>
        </p:nvSpPr>
        <p:spPr>
          <a:xfrm>
            <a:off x="6583680" y="3035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132320" y="2962656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경쟁사의 선점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132320" y="32644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도입 격차가 시장 격차로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0" y="370332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38587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24" name="Text 19"/>
          <p:cNvSpPr/>
          <p:nvPr/>
        </p:nvSpPr>
        <p:spPr>
          <a:xfrm>
            <a:off x="6583680" y="3858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132320" y="3785616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준비 비용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132320" y="40873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미루면 부채가 계속 쌓임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00800" y="452628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583680" y="468172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29" name="Text 24"/>
          <p:cNvSpPr/>
          <p:nvPr/>
        </p:nvSpPr>
        <p:spPr>
          <a:xfrm>
            <a:off x="6583680" y="4681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7132320" y="4608576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Shadow AI 확산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7132320" y="491032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통제 밖 AI 사용이 이미 시작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고객이 겪는 과제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도입을 막는 5개의 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212848" cy="3200400"/>
          </a:xfrm>
          <a:prstGeom prst="roundRect">
            <a:avLst>
              <a:gd name="adj" fmla="val 3719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144" y="219456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4323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24612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데이터의 벽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" y="3886200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흩어진 데이터, 사일로. AI가 쓸 준비가 안 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25496" y="1874520"/>
            <a:ext cx="2212848" cy="3200400"/>
          </a:xfrm>
          <a:prstGeom prst="roundRect">
            <a:avLst>
              <a:gd name="adj" fmla="val 3719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219456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4323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25496" y="324612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신뢰의 벽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935224" y="3886200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환각·보안·규제. '믿고 맡길 수 있나'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148072" y="1874520"/>
            <a:ext cx="2212848" cy="3200400"/>
          </a:xfrm>
          <a:prstGeom prst="roundRect">
            <a:avLst>
              <a:gd name="adj" fmla="val 3719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97296" y="219456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323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8072" y="324612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통합의 벽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257800" y="3886200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시스템·업무와 어떻게 연결하나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470648" y="1874520"/>
            <a:ext cx="2212848" cy="3200400"/>
          </a:xfrm>
          <a:prstGeom prst="roundRect">
            <a:avLst>
              <a:gd name="adj" fmla="val 3719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119872" y="219456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4323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0648" y="324612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인재·역량의 벽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80376" y="3886200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만들 사람도, 운영할 체계도 부족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793224" y="1874520"/>
            <a:ext cx="2212848" cy="3200400"/>
          </a:xfrm>
          <a:prstGeom prst="roundRect">
            <a:avLst>
              <a:gd name="adj" fmla="val 3719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442448" y="219456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92" y="2432304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93224" y="324612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확장의 벽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902952" y="3886200"/>
            <a:ext cx="19933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PoC는 됐지만 전사 확장이 안 됨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다섯 개의 벽을 한 번에, 하나의 스택에서 넘을 수 있는가 — 그것이 플랫폼 선택의 핵심입니다.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왜 AZURE인가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신뢰의 4대 근거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4323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965960" y="22128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리더십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965960" y="269748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프론티어 모델(OpenAI)부터 오픈 모델까지 폭넓은 카탈로그를 안전하게 운영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94560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43230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356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589520" y="22128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Responsible AI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589520" y="269748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단계부터 내장된 책임·안전·투명성 원칙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224528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4590288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828032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4453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1965960" y="4608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End-to-End 완결 스택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965960" y="5093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데이터→온톨로지→에이전트→거버넌스를 하나의 스택에서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4224528"/>
            <a:ext cx="54864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92240" y="4590288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828032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835640" y="4453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7589520" y="4608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개발자 생태계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589520" y="509320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GitHub·VS Code부터 Copilot까지, 세계 최대 개발 생태계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왜 AZURE인가 · RESPONSIBLE AI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신뢰는 기능이 아니라 설계 원칙입니다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09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51663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원칙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의미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Azure에서의 실현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공정성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편향 없는 결과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모델 평가·편향 탐지 도구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신뢰성·안전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예측 가능하고 안전한 동작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Content Safety · 평가 파이프라인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개인정보·보안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 주권과 보호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고객 데이터 학습 미사용 · 리전 격리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투명성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설명 가능성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추적·관측(Observability)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책임성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거버넌스와 통제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Entra · Purview · Defender 연동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고객 데이터로 파운데이션 모델을 학습하지 않으며, 데이터는 고객의 테넌트·리전 안에 머뭅니다.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 왜 AZURE인가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실무 관점의 6가지 판단 기준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21408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323490"/>
            <a:ext cx="373075" cy="3730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0" y="21031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7AA5D6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999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주권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36499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데이터가 어디에 머무는가 — 리전·테넌트 격리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79392" y="18288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3712" y="2121408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794" y="2323490"/>
            <a:ext cx="373075" cy="3730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05472" y="21031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7AA5D6"/>
          </a:solidFill>
          <a:ln/>
        </p:spPr>
      </p:sp>
      <p:sp>
        <p:nvSpPr>
          <p:cNvPr id="16" name="Text 12"/>
          <p:cNvSpPr/>
          <p:nvPr/>
        </p:nvSpPr>
        <p:spPr>
          <a:xfrm>
            <a:off x="7205472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53712" y="2999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 경계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53712" y="336499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조직의 보안·ID 체계 안에서 도는가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10144" y="18288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84464" y="2121408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546" y="2323490"/>
            <a:ext cx="373075" cy="3730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936224" y="21031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7AA5D6"/>
          </a:solidFill>
          <a:ln/>
        </p:spPr>
      </p:sp>
      <p:sp>
        <p:nvSpPr>
          <p:cNvPr id="23" name="Text 18"/>
          <p:cNvSpPr/>
          <p:nvPr/>
        </p:nvSpPr>
        <p:spPr>
          <a:xfrm>
            <a:off x="10936224" y="2103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84464" y="2999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선택·운영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284464" y="336499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최신 모델을 안전하게 바꿔 쓸 수 있는가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1148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2960" y="4407408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4609490"/>
            <a:ext cx="373075" cy="3730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3474720" y="43891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7AA5D6"/>
          </a:solidFill>
          <a:ln/>
        </p:spPr>
      </p:sp>
      <p:sp>
        <p:nvSpPr>
          <p:cNvPr id="30" name="Text 24"/>
          <p:cNvSpPr/>
          <p:nvPr/>
        </p:nvSpPr>
        <p:spPr>
          <a:xfrm>
            <a:off x="3474720" y="4389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22960" y="5285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거버넌스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822960" y="565099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누가·무엇을·어떻게 쓰는지 통제되는가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279392" y="41148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53712" y="4407408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794" y="4609490"/>
            <a:ext cx="373075" cy="37307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205472" y="43891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7AA5D6"/>
          </a:solidFill>
          <a:ln/>
        </p:spPr>
      </p:sp>
      <p:sp>
        <p:nvSpPr>
          <p:cNvPr id="37" name="Text 30"/>
          <p:cNvSpPr/>
          <p:nvPr/>
        </p:nvSpPr>
        <p:spPr>
          <a:xfrm>
            <a:off x="7205472" y="4389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553712" y="5285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통합 가치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4553712" y="565099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 쓰는 시스템과 연결되는가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010144" y="41148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284464" y="4407408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546" y="4609490"/>
            <a:ext cx="373075" cy="373075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0936224" y="43891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7AA5D6"/>
          </a:solidFill>
          <a:ln/>
        </p:spPr>
      </p:sp>
      <p:sp>
        <p:nvSpPr>
          <p:cNvPr id="44" name="Text 36"/>
          <p:cNvSpPr/>
          <p:nvPr/>
        </p:nvSpPr>
        <p:spPr>
          <a:xfrm>
            <a:off x="10936224" y="4389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8284464" y="5285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예측성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8284464" y="565099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 시 비용이 통제 가능한가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AZURE의 관점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제품이 아니라 비즈니스 성과입니다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4792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1673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3가지 원칙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32257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2322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25880" y="223113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 우선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25880" y="256032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벤더 교체가 아니라 성과가 목표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081528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3009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300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25880" y="320954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투자 보호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325880" y="353872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원본은 그대로, AI가 쓰도록 연결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059936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42793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279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25880" y="418795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작게 시작해 확장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325880" y="451713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업무에서 검증 후 패턴 확장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1691640"/>
            <a:ext cx="310896" cy="310896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64792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03136" y="1673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자주 묻는 4가지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03120"/>
          <a:ext cx="5257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29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질문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짧은 답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기존 투자?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옮기지 않고 연결부터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보안·규제?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리전·테넌트 격리, 학습 미사용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비용?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작게 시작, 성과로 확장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어디부터?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ROI 높은 한 업무부터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2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468880"/>
            <a:ext cx="1463040" cy="146304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90" y="284927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09160" y="2743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AX 전략과 비즈니스 가치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754880" y="37947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Transformation을 성과로 연결하는 법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 AX 3대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AI를 성과로 바꾸는 세 개의 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2286000"/>
            <a:ext cx="1005840" cy="100584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898" y="254751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REIMAGINE WORK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업무를 재설계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프로세스에 AI를 얹는 게 아니라, 에이전트 중심으로 업무를 다시 설계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9202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0700" y="2286000"/>
            <a:ext cx="1005840" cy="100584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218" y="254751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3429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EMPOWER PEOPLE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343400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직원을 강화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572000" y="42062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직원이 Copilot으로 더 높은 가치의 일에 집중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0" y="192024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04020" y="2286000"/>
            <a:ext cx="1005840" cy="100584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538" y="2547518"/>
            <a:ext cx="482803" cy="482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0" y="3429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SCALE AGENTS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046720" y="3703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에이전트를 확장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275320" y="42062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에이전트를 전사로 확장하고 안전하게 운영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축은 순서가 아니라 동시에 맞물려 돌아갑니다 — 업무·사람·에이전트가 함께 진화합니다.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 AX 3대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= '디지털 직원'으로 생각하기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251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직원에게 필요한 것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에이전트에게 필요한 것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Azure에서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업무 지식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데이터·온톨로지 이해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Fabric · OneLake · 3개 IQ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일하는 도구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시스템·API 연결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Foundry Tools · 커넥터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판단·실행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모델·추론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Foundry 모델 카탈로그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소속·권한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ID·접근 통제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Entra Agent ID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관리·평가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성과·안전 관측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Purview · Defender · 평가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77840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에이전트를 '새로 합류한 직원'처럼 생각하면, 필요한 것이 분명해집니다 — 그리고 그 모두를 Azure가 제공합니다.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468880"/>
            <a:ext cx="1463040" cy="146304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90" y="284927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09160" y="2743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Enterprise AI Platform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754880" y="37947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완결 서비스 · 6계층 아키텍처 (근거)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 완결 스택의 핵심 서비스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서비스가 하나의 스택을 완성합니다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247595"/>
            <a:ext cx="351130" cy="3511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0" y="21671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21671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28620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기반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3081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Fabric · OneLake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5387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흩어진 데이터를 하나의 논리적 레이크로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79392" y="17830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53712" y="2057400"/>
            <a:ext cx="731520" cy="7315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907" y="2247595"/>
            <a:ext cx="351130" cy="35113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56832" y="2167128"/>
            <a:ext cx="690372" cy="256032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17" name="Text 13"/>
          <p:cNvSpPr/>
          <p:nvPr/>
        </p:nvSpPr>
        <p:spPr>
          <a:xfrm>
            <a:off x="6656832" y="2167128"/>
            <a:ext cx="690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Preview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53712" y="28620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지능 레이어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553712" y="3081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3개의 IQ + Azure AI Search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53712" y="35387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데이터·업무·지식의 의미를 이해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10144" y="17830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84464" y="2057400"/>
            <a:ext cx="731520" cy="7315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47595"/>
            <a:ext cx="351130" cy="35113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661904" y="21671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5" name="Text 20"/>
          <p:cNvSpPr/>
          <p:nvPr/>
        </p:nvSpPr>
        <p:spPr>
          <a:xfrm>
            <a:off x="10661904" y="21671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84464" y="28620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개발·운영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284464" y="3081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Foundry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284464" y="35387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모델·에이전트·평가·안전을 하나로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8640" y="39959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22960" y="4270248"/>
            <a:ext cx="731520" cy="7315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4460443"/>
            <a:ext cx="351130" cy="35113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200400" y="4379976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3" name="Text 27"/>
          <p:cNvSpPr/>
          <p:nvPr/>
        </p:nvSpPr>
        <p:spPr>
          <a:xfrm>
            <a:off x="3200400" y="43799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22960" y="50749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현업·IT 에이전트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822960" y="529437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Copilot Studio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822960" y="57515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없이 업무 에이전트 제작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279392" y="39959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553712" y="4270248"/>
            <a:ext cx="731520" cy="7315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907" y="4460443"/>
            <a:ext cx="351130" cy="35113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931152" y="4379976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1" name="Text 34"/>
          <p:cNvSpPr/>
          <p:nvPr/>
        </p:nvSpPr>
        <p:spPr>
          <a:xfrm>
            <a:off x="6931152" y="43799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4553712" y="50749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업무 현장 통합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4553712" y="529437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365 · Agent 365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4553712" y="57515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일하는 곳에서 바로 에이전트 활용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8010144" y="39959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284464" y="4270248"/>
            <a:ext cx="731520" cy="7315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460443"/>
            <a:ext cx="351130" cy="351130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10661904" y="4379976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9" name="Text 41"/>
          <p:cNvSpPr/>
          <p:nvPr/>
        </p:nvSpPr>
        <p:spPr>
          <a:xfrm>
            <a:off x="10661904" y="43799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8284464" y="50749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생태계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8284464" y="529437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52" name="Text 44"/>
          <p:cNvSpPr/>
          <p:nvPr/>
        </p:nvSpPr>
        <p:spPr>
          <a:xfrm>
            <a:off x="8284464" y="57515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에이전트를 만드는 개발자 생산성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548640" y="6199632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Fabric IQ · Work IQ · Foundry IQ는 Preview 단계 — 발표 시점 GA·한국 리전 재확인 권장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6-① 데이터 기반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Fabric · OneLake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66960" y="457200"/>
            <a:ext cx="1280160" cy="128016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9802" y="790042"/>
            <a:ext cx="614477" cy="6144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830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흩어진 데이터를 하나의 논리적 레이크(OneLake)로 통합합니다. 복사·이동 없이 있는 자리에서 연결(Shortcut)하고, AI가 바로 쓸 수 있는 형태로 정돈합니다.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111099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816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OneLake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11880" y="2871216"/>
            <a:ext cx="18288" cy="347472"/>
          </a:xfrm>
          <a:prstGeom prst="rect">
            <a:avLst/>
          </a:prstGeom>
          <a:solidFill>
            <a:srgbClr val="D4E0F0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2816352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조직 전체의 단일 논리 데이터 레이크 — 원본은 그대로, 논리적으로 하나로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401568"/>
            <a:ext cx="111099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Shortcut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11880" y="3529584"/>
            <a:ext cx="18288" cy="347472"/>
          </a:xfrm>
          <a:prstGeom prst="rect">
            <a:avLst/>
          </a:prstGeom>
          <a:solidFill>
            <a:srgbClr val="D4E0F0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0" y="3474720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복사 없이 외부 스토리지·소스를 연결 (기존 투자 보호)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59936"/>
            <a:ext cx="111099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4133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100+ 커넥터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11880" y="4187952"/>
            <a:ext cx="18288" cy="347472"/>
          </a:xfrm>
          <a:prstGeom prst="rect">
            <a:avLst/>
          </a:prstGeom>
          <a:solidFill>
            <a:srgbClr val="D4E0F0"/>
          </a:solidFill>
          <a:ln/>
        </p:spPr>
      </p:sp>
      <p:sp>
        <p:nvSpPr>
          <p:cNvPr id="19" name="Text 16"/>
          <p:cNvSpPr/>
          <p:nvPr/>
        </p:nvSpPr>
        <p:spPr>
          <a:xfrm>
            <a:off x="3840480" y="4133088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Azure Data Factory로 다양한 소스를 자동 수집·정제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718304"/>
            <a:ext cx="111099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" y="4791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개방형 포맷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11880" y="4846320"/>
            <a:ext cx="18288" cy="347472"/>
          </a:xfrm>
          <a:prstGeom prst="rect">
            <a:avLst/>
          </a:prstGeom>
          <a:solidFill>
            <a:srgbClr val="D4E0F0"/>
          </a:solidFill>
          <a:ln/>
        </p:spPr>
      </p:sp>
      <p:sp>
        <p:nvSpPr>
          <p:cNvPr id="23" name="Text 20"/>
          <p:cNvSpPr/>
          <p:nvPr/>
        </p:nvSpPr>
        <p:spPr>
          <a:xfrm>
            <a:off x="3840480" y="4791456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Delta·Parquet 기반 — 특정 벤더에 잠기지 않음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544068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5440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28016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데이터를 옮기지 않고도 AI가 쓸 수 있게 — 이것이 시작점입니다.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6-② 지능 레이어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3개의 IQ + Azure AI 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66960" y="457200"/>
            <a:ext cx="1280160" cy="128016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9802" y="790042"/>
            <a:ext cx="614477" cy="6144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3310128" cy="2148840"/>
          </a:xfrm>
          <a:prstGeom prst="roundRect">
            <a:avLst>
              <a:gd name="adj" fmla="val 3830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2103120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Fabric IQ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254203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데이터의 의미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907792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테이블·컬럼이 '무엇을 뜻하는지' 이해 (온톨로지)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586484" y="3675888"/>
            <a:ext cx="690372" cy="256032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12" name="Text 9"/>
          <p:cNvSpPr/>
          <p:nvPr/>
        </p:nvSpPr>
        <p:spPr>
          <a:xfrm>
            <a:off x="1586484" y="3675888"/>
            <a:ext cx="690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Preview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005072" y="1874520"/>
            <a:ext cx="3310128" cy="2148840"/>
          </a:xfrm>
          <a:prstGeom prst="roundRect">
            <a:avLst>
              <a:gd name="adj" fmla="val 3830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05072" y="2103120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Work IQ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005072" y="254203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일의 맥락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87952" y="2907792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M365 속 업무·협업의 흐름을 이해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42916" y="3675888"/>
            <a:ext cx="690372" cy="256032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18" name="Text 15"/>
          <p:cNvSpPr/>
          <p:nvPr/>
        </p:nvSpPr>
        <p:spPr>
          <a:xfrm>
            <a:off x="5042916" y="3675888"/>
            <a:ext cx="690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Preview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61504" y="1874520"/>
            <a:ext cx="3310128" cy="2148840"/>
          </a:xfrm>
          <a:prstGeom prst="roundRect">
            <a:avLst>
              <a:gd name="adj" fmla="val 3830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61504" y="2103120"/>
            <a:ext cx="3310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Foundry IQ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461504" y="2542032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지식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44384" y="2907792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에이전트가 참조할 지식을 관리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499348" y="3675888"/>
            <a:ext cx="690372" cy="256032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24" name="Text 21"/>
          <p:cNvSpPr/>
          <p:nvPr/>
        </p:nvSpPr>
        <p:spPr>
          <a:xfrm>
            <a:off x="8499348" y="3675888"/>
            <a:ext cx="6903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Preview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429768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EEF4FB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53712"/>
            <a:ext cx="548640" cy="5486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508760" y="4434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Azure AI Search  </a:t>
            </a:r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508760" y="4754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IQ를 뒷받침하는 검색·검색증강(RAG)의 엔진 — 에이전트가 정확한 근거를 찾도록 합니다.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" y="553212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IQ가 합쳐질 때 '데이터 + 업무 + 지식'을 아는, 비즈니스를 이해하는 지능이 됩니다.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6-③ 에이전트 개발·운영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Foundry (구 Azure AI Foundry)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앱과 에이전트를 만들고 운영하는 통합 플랫폼. '실험'이 아니라 '운영'을 전제로 설계되었습니다.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83464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529" y="3060497"/>
            <a:ext cx="416966" cy="41696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27249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7AA5D6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828800" y="2724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카탈로그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28800" y="31272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OpenAI 프론티어 모델부터 오픈 모델까지 — 선택의 자유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246888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28232" y="283464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89" y="3060497"/>
            <a:ext cx="416966" cy="41696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1018520" y="27249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7AA5D6"/>
          </a:solidFill>
          <a:ln/>
        </p:spPr>
      </p:sp>
      <p:sp>
        <p:nvSpPr>
          <p:cNvPr id="17" name="Text 13"/>
          <p:cNvSpPr/>
          <p:nvPr/>
        </p:nvSpPr>
        <p:spPr>
          <a:xfrm>
            <a:off x="1101852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452360" y="2724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개발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452360" y="31272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Foundry Agent Service로 에이전트를 만들고 배포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420624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4672" y="457200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29" y="4797857"/>
            <a:ext cx="416966" cy="41696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394960" y="44622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7AA5D6"/>
          </a:solidFill>
          <a:ln/>
        </p:spPr>
      </p:sp>
      <p:sp>
        <p:nvSpPr>
          <p:cNvPr id="24" name="Text 19"/>
          <p:cNvSpPr/>
          <p:nvPr/>
        </p:nvSpPr>
        <p:spPr>
          <a:xfrm>
            <a:off x="539496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828800" y="4462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 · 관측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828800" y="48646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품질·안전을 지속 측정하는 평가·Observability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172200" y="420624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28232" y="457200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089" y="4797857"/>
            <a:ext cx="416966" cy="41696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1018520" y="44622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7AA5D6"/>
          </a:solidFill>
          <a:ln/>
        </p:spPr>
      </p:sp>
      <p:sp>
        <p:nvSpPr>
          <p:cNvPr id="31" name="Text 25"/>
          <p:cNvSpPr/>
          <p:nvPr/>
        </p:nvSpPr>
        <p:spPr>
          <a:xfrm>
            <a:off x="1101852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452360" y="4462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안전 · 거버넌스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452360" y="48646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Content Safety로 안전 가드레일 내장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94360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5" name="Text 29"/>
          <p:cNvSpPr/>
          <p:nvPr/>
        </p:nvSpPr>
        <p:spPr>
          <a:xfrm>
            <a:off x="548640" y="5943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28016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선택 → 개발 → 평가 → 안전을 한 곳에서 — 에이전트를 '운영'하는 공장.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6-④⑤⑥ 만들고 · 일하고 · 개발한다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Copilot Studio · Microsoft 365 · GitHub Copilot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214884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23865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546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Copilot Studio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5478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현업·IT를 위한 에이전트 빌더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1248" y="4114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코드 없이 업무 에이전트 제작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M365·Teams로 바로 게시 (GA)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Foundry와 상호운용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34540" y="550468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2" name="Text 9"/>
          <p:cNvSpPr/>
          <p:nvPr/>
        </p:nvSpPr>
        <p:spPr>
          <a:xfrm>
            <a:off x="2034540" y="5504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79392" y="18288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28132" y="214884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38658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79392" y="31546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M365 · Agent 365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16552" y="35478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일하는 현장의 에이전트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0" y="4114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Teams·Outlook 등 업무 흐름 안에서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Agent 365로 에이전트를 관리·운영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Entra·Purview로 통제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65292" y="550468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0" name="Text 16"/>
          <p:cNvSpPr/>
          <p:nvPr/>
        </p:nvSpPr>
        <p:spPr>
          <a:xfrm>
            <a:off x="5765292" y="5504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010144" y="18288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358884" y="2148840"/>
            <a:ext cx="914400" cy="91440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628" y="2386584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10144" y="31546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GitHub Copilot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147304" y="35478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에이전트를 만드는 생산성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302752" y="4114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세계 최대 개발 생태계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코딩 에이전트로 개발 가속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Foundry와 함께 앱·에이전트 구축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496044" y="550468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8" name="Text 23"/>
          <p:cNvSpPr/>
          <p:nvPr/>
        </p:nvSpPr>
        <p:spPr>
          <a:xfrm>
            <a:off x="9496044" y="5504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 ENTERPRISE AI PLATFORM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한눈에 보는 6계층 아키텍처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169164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F5B93"/>
          </a:solidFill>
          <a:ln/>
          <a:effectLst>
            <a:outerShdw sx="100000" sy="100000" kx="0" ky="0" algn="bl" rotWithShape="0" blurRad="63500" dist="25400" dir="5400000">
              <a:srgbClr val="1A2A44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8379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74650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37760" y="174650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M365 · Teams · Copilot Studio 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188720" y="239572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A3D6D"/>
          </a:solidFill>
          <a:ln/>
          <a:effectLst>
            <a:outerShdw sx="100000" sy="100000" kx="0" ky="0" algn="bl" rotWithShape="0" blurRad="63500" dist="25400" dir="5400000">
              <a:srgbClr val="1A2A44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5420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24505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Agents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37760" y="245059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Foundry Agent Service · Copilot 에이전트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188720" y="309981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F5B93"/>
          </a:solidFill>
          <a:ln/>
          <a:effectLst>
            <a:outerShdw sx="100000" sy="100000" kx="0" ky="0" algn="bl" rotWithShape="0" blurRad="63500" dist="25400" dir="5400000">
              <a:srgbClr val="1A2A44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2461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3154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Agent Factory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937760" y="31546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Copilot Studio(현업·IT) · Foundry(개발자)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188720" y="380390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A3D6D"/>
          </a:solidFill>
          <a:ln/>
          <a:effectLst>
            <a:outerShdw sx="100000" sy="100000" kx="0" ky="0" algn="bl" rotWithShape="0" blurRad="63500" dist="25400" dir="5400000">
              <a:srgbClr val="1A2A44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95020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38587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Ontology / Intelligence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37760" y="385876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3개의 IQ · Azure AI Search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1188720" y="450799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F5B93"/>
          </a:solidFill>
          <a:ln/>
          <a:effectLst>
            <a:outerShdw sx="100000" sy="100000" kx="0" ky="0" algn="bl" rotWithShape="0" blurRad="63500" dist="25400" dir="5400000">
              <a:srgbClr val="1A2A44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65429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965960" y="456285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OneLake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937760" y="456285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Fabric · OneLake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1188720" y="52120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A3D6D"/>
          </a:solidFill>
          <a:ln/>
          <a:effectLst>
            <a:outerShdw sx="100000" sy="100000" kx="0" ky="0" algn="bl" rotWithShape="0" blurRad="63500" dist="25400" dir="5400000">
              <a:srgbClr val="1A2A44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5358384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65960" y="526694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937760" y="526694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100+ 커넥터 · Shortcut · 개방형 포맷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9646920" y="1691640"/>
            <a:ext cx="1645920" cy="4178808"/>
          </a:xfrm>
          <a:prstGeom prst="roundRect">
            <a:avLst>
              <a:gd name="adj" fmla="val 3333"/>
            </a:avLst>
          </a:prstGeom>
          <a:solidFill>
            <a:srgbClr val="0F2547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1965960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692640" y="2560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Governance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&amp; Security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9692640" y="4238244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Entra · Purview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Defender · Monitor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118872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데이터가 위로 올라가며 '지능 → 에이전트 → 경험'으로 실현됩니다.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 ENTERPRISE AI PLATFORM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데이터의 여정 — 6단계로 읽기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23160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" y="2625242"/>
            <a:ext cx="373075" cy="3730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10712" y="2359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9" name="Text 6"/>
          <p:cNvSpPr/>
          <p:nvPr/>
        </p:nvSpPr>
        <p:spPr>
          <a:xfrm>
            <a:off x="3410712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200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흩어진 원천을 연결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7764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79392" y="21031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35424" y="2423160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06" y="2625242"/>
            <a:ext cx="373075" cy="37307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141464" y="2359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17" name="Text 13"/>
          <p:cNvSpPr/>
          <p:nvPr/>
        </p:nvSpPr>
        <p:spPr>
          <a:xfrm>
            <a:off x="7141464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468112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통합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53712" y="3200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OneLake로 하나의 레이크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08392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8010144" y="21031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66176" y="2423160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258" y="2625242"/>
            <a:ext cx="373075" cy="37307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872216" y="2359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25" name="Text 20"/>
          <p:cNvSpPr/>
          <p:nvPr/>
        </p:nvSpPr>
        <p:spPr>
          <a:xfrm>
            <a:off x="10872216" y="23591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198864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의미 부여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284464" y="3200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온톨로지·3개 IQ로 의미화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04672" y="4572000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54" y="4774082"/>
            <a:ext cx="373075" cy="37307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3410712" y="45079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32" name="Text 26"/>
          <p:cNvSpPr/>
          <p:nvPr/>
        </p:nvSpPr>
        <p:spPr>
          <a:xfrm>
            <a:off x="3410712" y="4507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737360" y="4572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에이전트화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22960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Foundry·Copilot Studio로 제작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977640" y="4709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0"/>
          <p:cNvSpPr/>
          <p:nvPr/>
        </p:nvSpPr>
        <p:spPr>
          <a:xfrm>
            <a:off x="4279392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535424" y="4572000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506" y="4774082"/>
            <a:ext cx="373075" cy="37307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7141464" y="45079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40" name="Text 33"/>
          <p:cNvSpPr/>
          <p:nvPr/>
        </p:nvSpPr>
        <p:spPr>
          <a:xfrm>
            <a:off x="7141464" y="4507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5468112" y="4572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4553712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업무 현장에서 실행·자동화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708392" y="47091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44" name="Shape 37"/>
          <p:cNvSpPr/>
          <p:nvPr/>
        </p:nvSpPr>
        <p:spPr>
          <a:xfrm>
            <a:off x="8010144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266176" y="4572000"/>
            <a:ext cx="777240" cy="77724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258" y="4774082"/>
            <a:ext cx="373075" cy="373075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10872216" y="45079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A3D6D"/>
          </a:solidFill>
          <a:ln/>
        </p:spPr>
      </p:sp>
      <p:sp>
        <p:nvSpPr>
          <p:cNvPr id="48" name="Text 40"/>
          <p:cNvSpPr/>
          <p:nvPr/>
        </p:nvSpPr>
        <p:spPr>
          <a:xfrm>
            <a:off x="10872216" y="4507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9198864" y="4572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통제</a:t>
            </a:r>
            <a:endParaRPr lang="en-US" sz="1600" dirty="0"/>
          </a:p>
        </p:txBody>
      </p:sp>
      <p:sp>
        <p:nvSpPr>
          <p:cNvPr id="50" name="Text 42"/>
          <p:cNvSpPr/>
          <p:nvPr/>
        </p:nvSpPr>
        <p:spPr>
          <a:xfrm>
            <a:off x="8284464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Governance로 상시 관측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8. 계층별 요약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비즈니스 가치 → 이를 실현하는 Azure 서비스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77640"/>
                <a:gridCol w="4846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계층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비즈니스 가치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Azure / Microsoft 서비스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Experience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일하는 곳에서 바로 쓰는 경험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M365 · Teams · Copilot Studio 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Agents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업무를 대신 실행하는 디지털 직원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Foundry Agent Service · Copilot 에이전트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Agent Factory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현업·개발자 모두 에이전트 제작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Copilot Studio · Microsoft Foundry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Ontology / IQ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비즈니스를 이해하는 지능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Fabric IQ · Work IQ · Foundry IQ · AI Search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OneLake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흩어진 데이터를 하나로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Microsoft Fabric · OneLake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Data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기존 투자 보호하며 연결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100+ 커넥터 · Shortcut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계층은 '무엇을 위한 것(가치)'을 먼저, '무엇으로 실현하나(서비스)'를 다음에 봅니다.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9. AGENTIC DEVOPS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에이전트를 만드는 개발도 에이전트가 돕습니다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4688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286000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5237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이슈·요구사항 정리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520440" y="1965960"/>
            <a:ext cx="24688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2286000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5237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5760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Copilot이 코드 초안 생성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436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263640" y="1965960"/>
            <a:ext cx="24688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40880" y="2286000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252374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0080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리뷰·보안 점검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6868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006840" y="1965960"/>
            <a:ext cx="24688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784080" y="2286000"/>
            <a:ext cx="914400" cy="91440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252374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068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배포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14400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CI/CD로 안전하게 릴리스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77240" y="457200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EEF4FB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46320"/>
            <a:ext cx="640080" cy="6400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874520" y="48006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Copilot + Secret Protection · Code Security  </a:t>
            </a:r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1874520" y="513892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속도를 높이면서도, 코드 보안·시크릿 보호를 파이프라인에 내장합니다.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10. GOVERNANCE &amp; SECURITY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거버넌스는 전 계층을 가로지릅니다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Responsible AI를 '원칙'이 아니라 '동작'으로 만드는 4개의 축 — 모든 계층에 관통 적용됩니다.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74320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529" y="296905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 · 접근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828800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Entra Agent ID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28800" y="3246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에이전트에게도 신원과 권한을 부여·통제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237744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28232" y="274320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89" y="296905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거버넌스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452360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Microsoft Purview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452360" y="3246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민감정보 분류·데이터 정책·감사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" y="448056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29" y="470641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4343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위협 보호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828800" y="4590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Defender for Cloud/AI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828800" y="4983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워크로드의 위협 탐지·대응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172200" y="4114800"/>
            <a:ext cx="54864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28232" y="4480560"/>
            <a:ext cx="868680" cy="86868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089" y="4706417"/>
            <a:ext cx="416966" cy="41696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2360" y="4343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452360" y="45902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Azure Monitor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452360" y="4983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성능·품질·안전을 지속 관측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네 가지는 모두 GA — 지금 바로 표준 거버넌스로 시작할 수 있습니다.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11. AZURE 서비스 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계층 ↔ 서비스 총정리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309360"/>
                <a:gridCol w="2331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계층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핵심 서비스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성숙도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경험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Microsoft 365 · Teams · Copilot Studio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GA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에이전트 관리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Agent 365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GA · 2026.5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에이전트 제작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Copilot Studio · Microsoft Foundry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GA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지능(IQ)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Fabric IQ · Work IQ · Foundry IQ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6A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Preview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검색·RAG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Azure AI Search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GA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Microsoft Fabric · OneLake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GA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개발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GitHub Copilot · Secret Protection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GA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거버넌스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Entra · Purview · Defender · Monitor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GA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Fabric IQ · Work IQ · Foundry IQ는 Preview — 발표 시점 GA·한국 리전 재확인 권장. 나머지는 지금 GA로 시작 가능.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0"/>
            <a:ext cx="54864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468880"/>
            <a:ext cx="1463040" cy="1463040"/>
          </a:xfrm>
          <a:prstGeom prst="ellipse">
            <a:avLst/>
          </a:prstGeom>
          <a:solidFill>
            <a:srgbClr val="2F5B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990" y="284927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2331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BD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09160" y="2743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실현 — 다음 단계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754880" y="37947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역할별 시나리오 · 도입 로드맵 · 핵심 요약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12. 역할별 시나리오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누가, 무엇을 얻는가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94560"/>
            <a:ext cx="960120" cy="9601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44419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94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경영진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 가시성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11680" y="297180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KPI·리스크를 한눈에 보는 대시보드 에이전트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8288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2194560"/>
            <a:ext cx="960120" cy="9601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44419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5240" y="2194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현업 담당자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6352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반복업무 자동화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35240" y="297180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Copilot Studio로 직접 만든 업무 에이전트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133088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1248" y="4498848"/>
            <a:ext cx="960120" cy="9601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4748479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4498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개발자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011680" y="4910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생산성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011680" y="527608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 Copilot·Foundry로 앱·에이전트 구축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172200" y="4133088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64808" y="4498848"/>
            <a:ext cx="960120" cy="960120"/>
          </a:xfrm>
          <a:prstGeom prst="ellipse">
            <a:avLst/>
          </a:prstGeom>
          <a:solidFill>
            <a:srgbClr val="DBE7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4748479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44988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IT·보안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635240" y="4910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통제 가능한 확산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635240" y="5276088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Entra·Purview로 안전하게 관리·감사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13. 활용 시나리오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업무에서 바로 시작할 수 있습니다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623560"/>
                <a:gridCol w="45720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업무 시나리오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핵심 Azure 서비스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6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보고서·리서치 자동 작성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Foundry · AI Search · OneLake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내부 지식 Q&amp;A 어시스턴트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Copilot Studio · AI Search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업무 프로세스 자동화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Copilot Studio · Work IQ [Preview]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전사 에이전트 관리·운영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Agent 365 · Entra · Purview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 분석·인사이트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Fabric · Fabric IQ [Preview]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개발 가속·현대화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GitHub Copilot · Foundry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시나리오 #1은 이미 GA 서비스만으로 구현 가능 — 여기서 시작해 패턴을 확장합니다.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14. 도입 로드맵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작게 시작해 안전하게 확장합니다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A3D6D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194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F5B93"/>
          </a:solidFill>
          <a:ln/>
        </p:spPr>
      </p:sp>
      <p:sp>
        <p:nvSpPr>
          <p:cNvPr id="7" name="Text 5"/>
          <p:cNvSpPr/>
          <p:nvPr/>
        </p:nvSpPr>
        <p:spPr>
          <a:xfrm>
            <a:off x="16230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Envision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94460" y="33375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F5B93"/>
          </a:solidFill>
          <a:ln/>
        </p:spPr>
      </p:sp>
      <p:sp>
        <p:nvSpPr>
          <p:cNvPr id="10" name="Text 8"/>
          <p:cNvSpPr/>
          <p:nvPr/>
        </p:nvSpPr>
        <p:spPr>
          <a:xfrm>
            <a:off x="1394460" y="3337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0~2주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ROI 높은 한 업무 선정 · 데이터·보안 요건 정리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27832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83280" y="192024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57700" y="2194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D6D"/>
          </a:solidFill>
          <a:ln/>
        </p:spPr>
      </p:sp>
      <p:sp>
        <p:nvSpPr>
          <p:cNvPr id="15" name="Text 13"/>
          <p:cNvSpPr/>
          <p:nvPr/>
        </p:nvSpPr>
        <p:spPr>
          <a:xfrm>
            <a:off x="44577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880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Pilot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29100" y="33375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F5B93"/>
          </a:solidFill>
          <a:ln/>
        </p:spPr>
      </p:sp>
      <p:sp>
        <p:nvSpPr>
          <p:cNvPr id="18" name="Text 16"/>
          <p:cNvSpPr/>
          <p:nvPr/>
        </p:nvSpPr>
        <p:spPr>
          <a:xfrm>
            <a:off x="4229100" y="3337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2~6주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 서비스로 대표 시나리오 1개 구현·검증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62472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92340" y="2194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D6D"/>
          </a:solidFill>
          <a:ln/>
        </p:spPr>
      </p:sp>
      <p:sp>
        <p:nvSpPr>
          <p:cNvPr id="23" name="Text 21"/>
          <p:cNvSpPr/>
          <p:nvPr/>
        </p:nvSpPr>
        <p:spPr>
          <a:xfrm>
            <a:off x="72923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2880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Scale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63740" y="33375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F5B93"/>
          </a:solidFill>
          <a:ln/>
        </p:spPr>
      </p:sp>
      <p:sp>
        <p:nvSpPr>
          <p:cNvPr id="26" name="Text 24"/>
          <p:cNvSpPr/>
          <p:nvPr/>
        </p:nvSpPr>
        <p:spPr>
          <a:xfrm>
            <a:off x="7063740" y="3337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6주~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패턴을 인접 업무로 확장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97112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052560" y="192024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26980" y="2194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D6D"/>
          </a:solidFill>
          <a:ln/>
        </p:spPr>
      </p:sp>
      <p:sp>
        <p:nvSpPr>
          <p:cNvPr id="31" name="Text 29"/>
          <p:cNvSpPr/>
          <p:nvPr/>
        </p:nvSpPr>
        <p:spPr>
          <a:xfrm>
            <a:off x="101269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52560" y="2880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Govern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898380" y="333756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F5B93"/>
          </a:solidFill>
          <a:ln/>
        </p:spPr>
      </p:sp>
      <p:sp>
        <p:nvSpPr>
          <p:cNvPr id="34" name="Text 32"/>
          <p:cNvSpPr/>
          <p:nvPr/>
        </p:nvSpPr>
        <p:spPr>
          <a:xfrm>
            <a:off x="9898380" y="3337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235440" y="3794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Entra·Purview·Defender로 통제·관측 정착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98348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EEF4FB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30368"/>
            <a:ext cx="457200" cy="4572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417320" y="5120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3D6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Quick Win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워크숍 준비물: 데이터 소스 2개 · 보안 요구사항 · ROI 후보 업무 1개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3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2F5B9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요약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4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기억할 7가지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299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562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AI는 '실행하는' 에이전트 시대로 전환했다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081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081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90779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다섯 개의 벽은 하나의 완결 스택으로 넘는다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4133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133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5935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Azure — 데이터주권·보안경계·모델운영·거버넌스·비용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51846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184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50109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서비스가 데이터→에이전트→경험을 완성한다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20299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2029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18562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거버넌스는 전 계층을 관통하는 GA 기반이다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83464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73368" y="3081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3081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290779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GA 서비스만으로 대표 시나리오를 지금 시작할 수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388620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4E0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41330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A3D6D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4133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95160" y="395935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작게 시작해 검증된 패턴을 안전하게 확장한다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493776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1A3D6D"/>
          </a:solidFill>
          <a:ln/>
          <a:effectLst>
            <a:outerShdw sx="100000" sy="100000" kx="0" ky="0" algn="bl" rotWithShape="0" blurRad="76200" dist="25400" dir="5400000">
              <a:srgbClr val="1A2A44">
                <a:alpha val="14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5193792"/>
            <a:ext cx="402336" cy="40233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040880" y="501091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문장 — Azure는 신뢰할 수 있는 Enterprise AI Platform입니다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70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31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문장으로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Azure는 데이터·에이전트·거버넌스를 하나의 스택으로 잇는,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신뢰할 수 있는 Enterprise AI Platform입니다.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3063240"/>
            <a:ext cx="27432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3832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BE7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미팅에서 함께 답을 찾고 싶은 3가지 질문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977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A3D6D"/>
          </a:solidFill>
          <a:ln w="12700">
            <a:solidFill>
              <a:srgbClr val="2F5B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4251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B9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업무부터?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349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ROI가 크고 데이터가 준비된 한 업무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3977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A3D6D"/>
          </a:solidFill>
          <a:ln w="12700">
            <a:solidFill>
              <a:srgbClr val="2F5B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4251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B93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데이터·보안 요건은?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5349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리전·규제·민감정보 처리 기준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01000" y="3977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A3D6D"/>
          </a:solidFill>
          <a:ln w="12700">
            <a:solidFill>
              <a:srgbClr val="2F5B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4251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5B93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7532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성공을 어떻게 측정?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5349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파일럿의 KPI와 성공 기준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Why Build AI on Azure?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A5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Build AI on Azure?</dc:title>
  <dc:subject>PptxGenJS Presentation</dc:subject>
  <dc:creator>Kichul Kim</dc:creator>
  <cp:lastModifiedBy>Kichul Kim</cp:lastModifiedBy>
  <cp:revision>1</cp:revision>
  <dcterms:created xsi:type="dcterms:W3CDTF">2026-07-10T05:36:28Z</dcterms:created>
  <dcterms:modified xsi:type="dcterms:W3CDTF">2026-07-10T05:36:28Z</dcterms:modified>
</cp:coreProperties>
</file>